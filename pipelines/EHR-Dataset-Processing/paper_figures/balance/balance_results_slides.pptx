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oversample</c:v>
                </c:pt>
              </c:strCache>
            </c:strRef>
          </c:tx>
          <c:spPr>
            <a:solidFill>
              <a:srgbClr val="0D6B6B"/>
            </a:solidFill>
          </c:spPr>
          <c:cat>
            <c:strRef>
              <c:f>Sheet1!$A$2:$A$6</c:f>
              <c:strCache>
                <c:ptCount val="5"/>
                <c:pt idx="0">
                  <c:v>Recall</c:v>
                </c:pt>
                <c:pt idx="1">
                  <c:v>Balanced acc</c:v>
                </c:pt>
                <c:pt idx="2">
                  <c:v>Accuracy</c:v>
                </c:pt>
                <c:pt idx="3">
                  <c:v>AUROC</c:v>
                </c:pt>
                <c:pt idx="4">
                  <c:v>AUPRC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0.027760785416528794</c:v>
                </c:pt>
                <c:pt idx="1">
                  <c:v>0.0009947631871234704</c:v>
                </c:pt>
                <c:pt idx="2">
                  <c:v>-0.005572753736531091</c:v>
                </c:pt>
                <c:pt idx="3">
                  <c:v>-0.02098233549151158</c:v>
                </c:pt>
                <c:pt idx="4">
                  <c:v>-0.03224273426682498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undersample</c:v>
                </c:pt>
              </c:strCache>
            </c:strRef>
          </c:tx>
          <c:spPr>
            <a:solidFill>
              <a:srgbClr val="A4552B"/>
            </a:solidFill>
          </c:spPr>
          <c:cat>
            <c:strRef>
              <c:f>Sheet1!$A$2:$A$6</c:f>
              <c:strCache>
                <c:ptCount val="5"/>
                <c:pt idx="0">
                  <c:v>Recall</c:v>
                </c:pt>
                <c:pt idx="1">
                  <c:v>Balanced acc</c:v>
                </c:pt>
                <c:pt idx="2">
                  <c:v>Accuracy</c:v>
                </c:pt>
                <c:pt idx="3">
                  <c:v>AUROC</c:v>
                </c:pt>
                <c:pt idx="4">
                  <c:v>AUPRC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0.4442466336928472</c:v>
                </c:pt>
                <c:pt idx="1">
                  <c:v>0.0814400346180351</c:v>
                </c:pt>
                <c:pt idx="2">
                  <c:v>-0.1541177876259993</c:v>
                </c:pt>
                <c:pt idx="3">
                  <c:v>-0.0057537350229108705</c:v>
                </c:pt>
                <c:pt idx="4">
                  <c:v>-0.0287629844030211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smote</c:v>
                </c:pt>
              </c:strCache>
            </c:strRef>
          </c:tx>
          <c:spPr>
            <a:solidFill>
              <a:srgbClr val="4A6572"/>
            </a:solidFill>
          </c:spPr>
          <c:cat>
            <c:strRef>
              <c:f>Sheet1!$A$2:$A$6</c:f>
              <c:strCache>
                <c:ptCount val="5"/>
                <c:pt idx="0">
                  <c:v>Recall</c:v>
                </c:pt>
                <c:pt idx="1">
                  <c:v>Balanced acc</c:v>
                </c:pt>
                <c:pt idx="2">
                  <c:v>Accuracy</c:v>
                </c:pt>
                <c:pt idx="3">
                  <c:v>AUROC</c:v>
                </c:pt>
                <c:pt idx="4">
                  <c:v>AUPRC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0.04445837193144973</c:v>
                </c:pt>
                <c:pt idx="1">
                  <c:v>0.00614820542090926</c:v>
                </c:pt>
                <c:pt idx="2">
                  <c:v>-0.0051187217587764094</c:v>
                </c:pt>
                <c:pt idx="3">
                  <c:v>-0.0050827956661975695</c:v>
                </c:pt>
                <c:pt idx="4">
                  <c:v>-0.02215025041726635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DD8D9"/>
              </a:solidFill>
            </a:ln>
          </c:spPr>
        </c:majorGridlines>
        <c:numFmt formatCode="+0.00;-0.00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100">
          <a:solidFill>
            <a:srgbClr val="2C3C4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oversample</c:v>
                </c:pt>
              </c:strCache>
            </c:strRef>
          </c:tx>
          <c:spPr>
            <a:ln w="47625">
              <a:noFill/>
            </a:ln>
          </c:spPr>
          <c:marker>
            <c:spPr>
              <a:solidFill>
                <a:srgbClr val="0D6B6B"/>
              </a:solidFill>
              <a:ln>
                <a:solidFill>
                  <a:srgbClr val="0D6B6B"/>
                </a:solidFill>
              </a:ln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0.0499435175530065</c:v>
                </c:pt>
                <c:pt idx="1">
                  <c:v>0.0550921098366353</c:v>
                </c:pt>
                <c:pt idx="2">
                  <c:v>0.0471845672575599</c:v>
                </c:pt>
                <c:pt idx="3">
                  <c:v>0.0564172749391727</c:v>
                </c:pt>
                <c:pt idx="4">
                  <c:v>0.0480318039624608</c:v>
                </c:pt>
                <c:pt idx="5">
                  <c:v>0.0026503302050747</c:v>
                </c:pt>
                <c:pt idx="6">
                  <c:v>0.0027372262773722</c:v>
                </c:pt>
                <c:pt idx="7">
                  <c:v>0.0028023983315954</c:v>
                </c:pt>
                <c:pt idx="8">
                  <c:v>0.0025634341327771</c:v>
                </c:pt>
                <c:pt idx="9">
                  <c:v>0.0024548140424052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0.0552339045854562</c:v>
                </c:pt>
                <c:pt idx="1">
                  <c:v>0.0687094719777675</c:v>
                </c:pt>
                <c:pt idx="2">
                  <c:v>0.0534101435849929</c:v>
                </c:pt>
                <c:pt idx="3">
                  <c:v>0.0702726956924502</c:v>
                </c:pt>
                <c:pt idx="4">
                  <c:v>0.0542786012042612</c:v>
                </c:pt>
                <c:pt idx="5">
                  <c:v>-0.0168166479190101</c:v>
                </c:pt>
                <c:pt idx="6">
                  <c:v>0.0111923509561304</c:v>
                </c:pt>
                <c:pt idx="7">
                  <c:v>-0.0147919010123734</c:v>
                </c:pt>
                <c:pt idx="8">
                  <c:v>0.0116985376827896</c:v>
                </c:pt>
                <c:pt idx="9">
                  <c:v>-0.0155793025871766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Sheet1!$B$13</c:f>
              <c:strCache>
                <c:ptCount val="1"/>
                <c:pt idx="0">
                  <c:v>undersample</c:v>
                </c:pt>
              </c:strCache>
            </c:strRef>
          </c:tx>
          <c:spPr>
            <a:ln w="47625">
              <a:noFill/>
            </a:ln>
          </c:spPr>
          <c:marker>
            <c:spPr>
              <a:solidFill>
                <a:srgbClr val="A4552B"/>
              </a:solidFill>
              <a:ln>
                <a:solidFill>
                  <a:srgbClr val="A4552B"/>
                </a:solidFill>
              </a:ln>
            </c:spPr>
          </c:marker>
          <c:xVal>
            <c:numRef>
              <c:f>Sheet1!$A$14:$A$23</c:f>
              <c:numCache>
                <c:formatCode>General</c:formatCode>
                <c:ptCount val="10"/>
                <c:pt idx="0">
                  <c:v>0.177181091414668</c:v>
                </c:pt>
                <c:pt idx="1">
                  <c:v>0.2443952033368092</c:v>
                </c:pt>
                <c:pt idx="2">
                  <c:v>0.1739224887035106</c:v>
                </c:pt>
                <c:pt idx="3">
                  <c:v>0.2445255474452554</c:v>
                </c:pt>
                <c:pt idx="4">
                  <c:v>0.1762686826555439</c:v>
                </c:pt>
                <c:pt idx="5">
                  <c:v>0.4324817518248175</c:v>
                </c:pt>
                <c:pt idx="6">
                  <c:v>0.3460853319429962</c:v>
                </c:pt>
                <c:pt idx="7">
                  <c:v>0.4338069169273548</c:v>
                </c:pt>
                <c:pt idx="8">
                  <c:v>0.3452380952380952</c:v>
                </c:pt>
                <c:pt idx="9">
                  <c:v>0.4334593326381648</c:v>
                </c:pt>
              </c:numCache>
            </c:numRef>
          </c:xVal>
          <c:yVal>
            <c:numRef>
              <c:f>Sheet1!$B$14:$B$23</c:f>
              <c:numCache>
                <c:formatCode>General</c:formatCode>
                <c:ptCount val="10"/>
                <c:pt idx="0">
                  <c:v>0.1825497915701713</c:v>
                </c:pt>
                <c:pt idx="1">
                  <c:v>0.275055002315887</c:v>
                </c:pt>
                <c:pt idx="2">
                  <c:v>0.1816813339509032</c:v>
                </c:pt>
                <c:pt idx="3">
                  <c:v>0.2768063918480778</c:v>
                </c:pt>
                <c:pt idx="4">
                  <c:v>0.1819418712366836</c:v>
                </c:pt>
                <c:pt idx="5">
                  <c:v>0.6825084364454443</c:v>
                </c:pt>
                <c:pt idx="6">
                  <c:v>0.6424634420697413</c:v>
                </c:pt>
                <c:pt idx="7">
                  <c:v>0.689763779527559</c:v>
                </c:pt>
                <c:pt idx="8">
                  <c:v>0.640607424071991</c:v>
                </c:pt>
                <c:pt idx="9">
                  <c:v>0.6890888638920135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Sheet1!$B$25</c:f>
              <c:strCache>
                <c:ptCount val="1"/>
                <c:pt idx="0">
                  <c:v>smote</c:v>
                </c:pt>
              </c:strCache>
            </c:strRef>
          </c:tx>
          <c:spPr>
            <a:ln w="47625">
              <a:noFill/>
            </a:ln>
          </c:spPr>
          <c:marker>
            <c:spPr>
              <a:solidFill>
                <a:srgbClr val="4A6572"/>
              </a:solidFill>
              <a:ln>
                <a:solidFill>
                  <a:srgbClr val="4A6572"/>
                </a:solidFill>
              </a:ln>
            </c:spPr>
          </c:marker>
          <c:xVal>
            <c:numRef>
              <c:f>Sheet1!$A$26:$A$35</c:f>
              <c:numCache>
                <c:formatCode>General</c:formatCode>
                <c:ptCount val="10"/>
                <c:pt idx="0">
                  <c:v>0.0551790059089328</c:v>
                </c:pt>
                <c:pt idx="1">
                  <c:v>0.0899157108098714</c:v>
                </c:pt>
                <c:pt idx="2">
                  <c:v>0.0534410844629822</c:v>
                </c:pt>
                <c:pt idx="3">
                  <c:v>0.0891988182134167</c:v>
                </c:pt>
                <c:pt idx="4">
                  <c:v>0.0543969412582551</c:v>
                </c:pt>
                <c:pt idx="5">
                  <c:v>-0.0023461939520333</c:v>
                </c:pt>
                <c:pt idx="6">
                  <c:v>0.0121871741397288</c:v>
                </c:pt>
                <c:pt idx="7">
                  <c:v>-0.0020637817170663</c:v>
                </c:pt>
                <c:pt idx="8">
                  <c:v>0.0116223496697949</c:v>
                </c:pt>
                <c:pt idx="9">
                  <c:v>-0.0023896419881821</c:v>
                </c:pt>
              </c:numCache>
            </c:numRef>
          </c:xVal>
          <c:yVal>
            <c:numRef>
              <c:f>Sheet1!$B$26:$B$35</c:f>
              <c:numCache>
                <c:formatCode>General</c:formatCode>
                <c:ptCount val="10"/>
                <c:pt idx="0">
                  <c:v>0.0604591245947198</c:v>
                </c:pt>
                <c:pt idx="1">
                  <c:v>0.1097875173691524</c:v>
                </c:pt>
                <c:pt idx="2">
                  <c:v>0.0582300833719314</c:v>
                </c:pt>
                <c:pt idx="3">
                  <c:v>0.111567855488652</c:v>
                </c:pt>
                <c:pt idx="4">
                  <c:v>0.0584761463640574</c:v>
                </c:pt>
                <c:pt idx="5">
                  <c:v>-0.0224409448818897</c:v>
                </c:pt>
                <c:pt idx="6">
                  <c:v>0.0569741282339707</c:v>
                </c:pt>
                <c:pt idx="7">
                  <c:v>-0.0210911136107986</c:v>
                </c:pt>
                <c:pt idx="8">
                  <c:v>0.055230596175478</c:v>
                </c:pt>
                <c:pt idx="9">
                  <c:v>-0.0226096737907761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>
              <a:solidFill>
                <a:srgbClr val="CDD8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/>
                  <a:t>Δ recall  (x: Δ predicted positive rate)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2C3C4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oversample</c:v>
                </c:pt>
              </c:strCache>
            </c:strRef>
          </c:tx>
          <c:spPr>
            <a:solidFill>
              <a:srgbClr val="0D6B6B"/>
            </a:solidFill>
          </c:spPr>
          <c:cat>
            <c:strRef>
              <c:f>Sheet1!$A$2:$A$11</c:f>
              <c:strCache>
                <c:ptCount val="10"/>
                <c:pt idx="0">
                  <c:v>mort · mean</c:v>
                </c:pt>
                <c:pt idx="1">
                  <c:v>mort · median</c:v>
                </c:pt>
                <c:pt idx="2">
                  <c:v>mort · std dev</c:v>
                </c:pt>
                <c:pt idx="3">
                  <c:v>mort · mean deviation</c:v>
                </c:pt>
                <c:pt idx="4">
                  <c:v>mort · max deviation</c:v>
                </c:pt>
                <c:pt idx="5">
                  <c:v>icu · mean</c:v>
                </c:pt>
                <c:pt idx="6">
                  <c:v>icu · median</c:v>
                </c:pt>
                <c:pt idx="7">
                  <c:v>icu · std dev</c:v>
                </c:pt>
                <c:pt idx="8">
                  <c:v>icu · mean deviation</c:v>
                </c:pt>
                <c:pt idx="9">
                  <c:v>icu · max deviation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-0.0091797406028031</c:v>
                </c:pt>
                <c:pt idx="1">
                  <c:v>-0.008687192960095</c:v>
                </c:pt>
                <c:pt idx="2">
                  <c:v>-0.0849292261805333</c:v>
                </c:pt>
                <c:pt idx="3">
                  <c:v>-0.0833162798964361</c:v>
                </c:pt>
                <c:pt idx="4">
                  <c:v>-0.0882865123305246</c:v>
                </c:pt>
                <c:pt idx="5">
                  <c:v>-0.0052836798004792</c:v>
                </c:pt>
                <c:pt idx="6">
                  <c:v>-0.0054066417385758</c:v>
                </c:pt>
                <c:pt idx="7">
                  <c:v>-0.0126334874591205</c:v>
                </c:pt>
                <c:pt idx="8">
                  <c:v>-0.0120118928821607</c:v>
                </c:pt>
                <c:pt idx="9">
                  <c:v>-0.0126926888175215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undersample</c:v>
                </c:pt>
              </c:strCache>
            </c:strRef>
          </c:tx>
          <c:spPr>
            <a:solidFill>
              <a:srgbClr val="A4552B"/>
            </a:solidFill>
          </c:spPr>
          <c:cat>
            <c:strRef>
              <c:f>Sheet1!$A$2:$A$11</c:f>
              <c:strCache>
                <c:ptCount val="10"/>
                <c:pt idx="0">
                  <c:v>mort · mean</c:v>
                </c:pt>
                <c:pt idx="1">
                  <c:v>mort · median</c:v>
                </c:pt>
                <c:pt idx="2">
                  <c:v>mort · std dev</c:v>
                </c:pt>
                <c:pt idx="3">
                  <c:v>mort · mean deviation</c:v>
                </c:pt>
                <c:pt idx="4">
                  <c:v>mort · max deviation</c:v>
                </c:pt>
                <c:pt idx="5">
                  <c:v>icu · mean</c:v>
                </c:pt>
                <c:pt idx="6">
                  <c:v>icu · median</c:v>
                </c:pt>
                <c:pt idx="7">
                  <c:v>icu · std dev</c:v>
                </c:pt>
                <c:pt idx="8">
                  <c:v>icu · mean deviation</c:v>
                </c:pt>
                <c:pt idx="9">
                  <c:v>icu · max deviation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-0.0233485703984017</c:v>
                </c:pt>
                <c:pt idx="1">
                  <c:v>-0.0235215605929466</c:v>
                </c:pt>
                <c:pt idx="2">
                  <c:v>-0.0640495616988329</c:v>
                </c:pt>
                <c:pt idx="3">
                  <c:v>-0.0623950069123908</c:v>
                </c:pt>
                <c:pt idx="4">
                  <c:v>-0.0663231423288086</c:v>
                </c:pt>
                <c:pt idx="5">
                  <c:v>-0.0064045768358081</c:v>
                </c:pt>
                <c:pt idx="6">
                  <c:v>-0.0066946722030073</c:v>
                </c:pt>
                <c:pt idx="7">
                  <c:v>-0.0124678563062008</c:v>
                </c:pt>
                <c:pt idx="8">
                  <c:v>-0.0112826563106144</c:v>
                </c:pt>
                <c:pt idx="9">
                  <c:v>-0.0111422404431998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smote</c:v>
                </c:pt>
              </c:strCache>
            </c:strRef>
          </c:tx>
          <c:spPr>
            <a:solidFill>
              <a:srgbClr val="4A6572"/>
            </a:solidFill>
          </c:spPr>
          <c:cat>
            <c:strRef>
              <c:f>Sheet1!$A$2:$A$11</c:f>
              <c:strCache>
                <c:ptCount val="10"/>
                <c:pt idx="0">
                  <c:v>mort · mean</c:v>
                </c:pt>
                <c:pt idx="1">
                  <c:v>mort · median</c:v>
                </c:pt>
                <c:pt idx="2">
                  <c:v>mort · std dev</c:v>
                </c:pt>
                <c:pt idx="3">
                  <c:v>mort · mean deviation</c:v>
                </c:pt>
                <c:pt idx="4">
                  <c:v>mort · max deviation</c:v>
                </c:pt>
                <c:pt idx="5">
                  <c:v>icu · mean</c:v>
                </c:pt>
                <c:pt idx="6">
                  <c:v>icu · median</c:v>
                </c:pt>
                <c:pt idx="7">
                  <c:v>icu · std dev</c:v>
                </c:pt>
                <c:pt idx="8">
                  <c:v>icu · mean deviation</c:v>
                </c:pt>
                <c:pt idx="9">
                  <c:v>icu · max deviation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-0.0059269588312232</c:v>
                </c:pt>
                <c:pt idx="1">
                  <c:v>-0.0058193435468744</c:v>
                </c:pt>
                <c:pt idx="2">
                  <c:v>-0.0614315313453291</c:v>
                </c:pt>
                <c:pt idx="3">
                  <c:v>-0.0603527553697189</c:v>
                </c:pt>
                <c:pt idx="4">
                  <c:v>-0.0631979804931925</c:v>
                </c:pt>
                <c:pt idx="5">
                  <c:v>-0.0051222226032479</c:v>
                </c:pt>
                <c:pt idx="6">
                  <c:v>-0.005775908781711</c:v>
                </c:pt>
                <c:pt idx="7">
                  <c:v>-0.0046763906163644</c:v>
                </c:pt>
                <c:pt idx="8">
                  <c:v>-0.0044022956414498</c:v>
                </c:pt>
                <c:pt idx="9">
                  <c:v>-0.0047971169435523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CDD8D9"/>
              </a:solidFill>
            </a:ln>
          </c:spPr>
        </c:majorGridlines>
        <c:numFmt formatCode="+0.00;-0.00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000">
          <a:solidFill>
            <a:srgbClr val="2C3C4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2212848"/>
            <a:ext cx="1371600" cy="38100"/>
          </a:xfrm>
          <a:prstGeom prst="rect">
            <a:avLst/>
          </a:prstGeom>
          <a:solidFill>
            <a:srgbClr val="0D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87168"/>
            <a:ext cx="87782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600"/>
              </a:spcAft>
            </a:pPr>
            <a:r>
              <a:rPr sz="4800" b="1" i="0">
                <a:solidFill>
                  <a:srgbClr val="0E1618"/>
                </a:solidFill>
                <a:latin typeface="Georgia"/>
              </a:rPr>
              <a:t>Does class balancing help?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 i="0">
                <a:solidFill>
                  <a:srgbClr val="61767A"/>
                </a:solidFill>
                <a:latin typeface="Calibri"/>
              </a:rPr>
              <a:t>Oversampling, undersampling and mask-aware SMOTE against a random forest trained on the natural class distribution — and against simply moving the decision threshold.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13892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300" b="0" i="0">
                <a:solidFill>
                  <a:srgbClr val="61767A"/>
                </a:solidFill>
                <a:latin typeface="Consolas"/>
              </a:rPr>
              <a:t>MIMIC-III  ·  46,032 ICU stays  ·  7 vitals × 24 hours  ·  5-fold × 4 repeats  ·  30 comparisons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050" b="0" i="0">
                <a:solidFill>
                  <a:srgbClr val="61767A"/>
                </a:solidFill>
                <a:latin typeface="Consolas"/>
              </a:rPr>
              <a:t>WHERE WE LEFT OFF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0E1618"/>
                </a:solidFill>
                <a:latin typeface="Georgia"/>
              </a:rPr>
              <a:t>The threshold already moved the operating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8988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61767A"/>
                </a:solidFill>
                <a:latin typeface="Calibri"/>
              </a:rPr>
              <a:t>One forest, one set of scores, two places to cut them — mean aggregation, in-hospital mortality.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0874959" cy="12700"/>
          </a:xfrm>
          <a:prstGeom prst="rect">
            <a:avLst/>
          </a:prstGeom>
          <a:solidFill>
            <a:srgbClr val="CDD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920240"/>
          <a:ext cx="6903718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70960"/>
                <a:gridCol w="1362576"/>
                <a:gridCol w="2089283"/>
                <a:gridCol w="1180899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61767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E4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61767A"/>
                          </a:solidFill>
                          <a:latin typeface="Consolas"/>
                        </a:rPr>
                        <a:t>Cut at 0.5</a:t>
                      </a:r>
                    </a:p>
                  </a:txBody>
                  <a:tcPr marL="82296" marR="82296" marT="27432" marB="27432" anchor="ctr">
                    <a:solidFill>
                      <a:srgbClr val="E4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61767A"/>
                          </a:solidFill>
                          <a:latin typeface="Consolas"/>
                        </a:rPr>
                        <a:t>Cut at Youden's J (0.118)</a:t>
                      </a:r>
                    </a:p>
                  </a:txBody>
                  <a:tcPr marL="82296" marR="82296" marT="27432" marB="27432" anchor="ctr">
                    <a:solidFill>
                      <a:srgbClr val="E4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61767A"/>
                          </a:solidFill>
                          <a:latin typeface="Consolas"/>
                        </a:rPr>
                        <a:t>Change</a:t>
                      </a:r>
                    </a:p>
                  </a:txBody>
                  <a:tcPr marL="82296" marR="82296" marT="27432" marB="27432" anchor="ctr">
                    <a:solidFill>
                      <a:srgbClr val="E4EA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C3C40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C40"/>
                          </a:solidFill>
                          <a:latin typeface="Consolas"/>
                        </a:rPr>
                        <a:t>0.118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C40"/>
                          </a:solidFill>
                          <a:latin typeface="Consolas"/>
                        </a:rPr>
                        <a:t>0.731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3D7A52"/>
                          </a:solidFill>
                          <a:latin typeface="Consolas"/>
                        </a:rPr>
                        <a:t>+0.612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C3C40"/>
                          </a:solidFill>
                          <a:latin typeface="Calibri"/>
                        </a:rPr>
                        <a:t>Balanced accuracy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C40"/>
                          </a:solidFill>
                          <a:latin typeface="Consolas"/>
                        </a:rPr>
                        <a:t>0.558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C40"/>
                          </a:solidFill>
                          <a:latin typeface="Consolas"/>
                        </a:rPr>
                        <a:t>0.711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3D7A52"/>
                          </a:solidFill>
                          <a:latin typeface="Consolas"/>
                        </a:rPr>
                        <a:t>+0.153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C3C40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C40"/>
                          </a:solidFill>
                          <a:latin typeface="Consolas"/>
                        </a:rPr>
                        <a:t>0.913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C40"/>
                          </a:solidFill>
                          <a:latin typeface="Consolas"/>
                        </a:rPr>
                        <a:t>0.695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A4552B"/>
                          </a:solidFill>
                          <a:latin typeface="Consolas"/>
                        </a:rPr>
                        <a:t>-0.218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C3C40"/>
                          </a:solidFill>
                          <a:latin typeface="Calibri"/>
                        </a:rPr>
                        <a:t>Predicted positive rate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C40"/>
                          </a:solidFill>
                          <a:latin typeface="Consolas"/>
                        </a:rPr>
                        <a:t>0.013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C40"/>
                          </a:solidFill>
                          <a:latin typeface="Consolas"/>
                        </a:rPr>
                        <a:t>0.350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3D7A52"/>
                          </a:solidFill>
                          <a:latin typeface="Consolas"/>
                        </a:rPr>
                        <a:t>+0.337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C3C40"/>
                          </a:solidFill>
                          <a:latin typeface="Calibri"/>
                        </a:rPr>
                        <a:t>AUROC / AUPRC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C3C40"/>
                          </a:solidFill>
                          <a:latin typeface="Consolas"/>
                        </a:rPr>
                        <a:t>0.795 / 0.398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C3C40"/>
                          </a:solidFill>
                          <a:latin typeface="Consolas"/>
                        </a:rPr>
                        <a:t>0.795 / 0.398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61767A"/>
                          </a:solidFill>
                          <a:latin typeface="Calibri"/>
                        </a:rPr>
                        <a:t>unchanged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927848" y="1920240"/>
            <a:ext cx="3566160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65592" y="2121408"/>
            <a:ext cx="312724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1000"/>
              </a:spcAft>
            </a:pPr>
            <a:r>
              <a:rPr sz="1500" b="1" i="0">
                <a:solidFill>
                  <a:srgbClr val="0E1618"/>
                </a:solidFill>
                <a:latin typeface="Georgia"/>
              </a:rPr>
              <a:t>What this told us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300" b="0" i="0">
                <a:solidFill>
                  <a:srgbClr val="2C3C40"/>
                </a:solidFill>
                <a:latin typeface="Calibri"/>
              </a:rPr>
              <a:t>At 0.5 the forest calls only </a:t>
            </a:r>
            <a:r>
              <a:rPr sz="1300" b="1" i="0">
                <a:solidFill>
                  <a:srgbClr val="0E1618"/>
                </a:solidFill>
                <a:latin typeface="Consolas"/>
              </a:rPr>
              <a:t>1.3%</a:t>
            </a:r>
            <a:r>
              <a:rPr sz="1300" b="0" i="0">
                <a:solidFill>
                  <a:srgbClr val="2C3C40"/>
                </a:solidFill>
                <a:latin typeface="Calibri"/>
              </a:rPr>
              <a:t> of patients positive against a prevalence of </a:t>
            </a:r>
            <a:r>
              <a:rPr sz="1300" b="1" i="0">
                <a:solidFill>
                  <a:srgbClr val="0E1618"/>
                </a:solidFill>
                <a:latin typeface="Consolas"/>
              </a:rPr>
              <a:t>9.7%</a:t>
            </a:r>
            <a:r>
              <a:rPr sz="1300" b="0" i="0">
                <a:solidFill>
                  <a:srgbClr val="2C3C40"/>
                </a:solidFill>
                <a:latin typeface="Calibri"/>
              </a:rPr>
              <a:t>. It buys accuracy by barely predicting death at all.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300" b="0" i="0">
                <a:solidFill>
                  <a:srgbClr val="2C3C40"/>
                </a:solidFill>
                <a:latin typeface="Calibri"/>
              </a:rPr>
              <a:t>Moving the cut fixes recall, and costs accuracy in almost equal measure. But AUROC and AUPRC come from the scores, not the cut, so they do not move.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300" b="0" i="0">
                <a:solidFill>
                  <a:srgbClr val="2C3C40"/>
                </a:solidFill>
                <a:latin typeface="Calibri"/>
              </a:rPr>
              <a:t>The threshold changes </a:t>
            </a:r>
            <a:r>
              <a:rPr sz="1300" b="1" i="0">
                <a:solidFill>
                  <a:srgbClr val="0E1618"/>
                </a:solidFill>
                <a:latin typeface="Calibri"/>
              </a:rPr>
              <a:t>who gets called positive</a:t>
            </a:r>
            <a:r>
              <a:rPr sz="1300" b="0" i="0">
                <a:solidFill>
                  <a:srgbClr val="2C3C40"/>
                </a:solidFill>
                <a:latin typeface="Calibri"/>
              </a:rPr>
              <a:t>, never </a:t>
            </a:r>
            <a:r>
              <a:rPr sz="1300" b="1" i="0">
                <a:solidFill>
                  <a:srgbClr val="0E1618"/>
                </a:solidFill>
                <a:latin typeface="Calibri"/>
              </a:rPr>
              <a:t>how well the model ranks</a:t>
            </a:r>
            <a:r>
              <a:rPr sz="1300" b="0" i="0">
                <a:solidFill>
                  <a:srgbClr val="2C3C40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7150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700" b="0" i="0">
                <a:solidFill>
                  <a:srgbClr val="2C3C40"/>
                </a:solidFill>
                <a:latin typeface="Calibri"/>
              </a:rPr>
              <a:t>So the open question: </a:t>
            </a:r>
            <a:r>
              <a:rPr sz="1700" b="1" i="0">
                <a:solidFill>
                  <a:srgbClr val="0E1618"/>
                </a:solidFill>
                <a:latin typeface="Georgia"/>
              </a:rPr>
              <a:t>can fixing the imbalance in the training data do something a threshold cannot?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050" b="0" i="0">
                <a:solidFill>
                  <a:srgbClr val="61767A"/>
                </a:solidFill>
                <a:latin typeface="Consolas"/>
              </a:rPr>
              <a:t>STAGE H · DESIGN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0E1618"/>
                </a:solidFill>
                <a:latin typeface="Georgia"/>
              </a:rPr>
              <a:t>How the experiment isolates the resampler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8988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61767A"/>
                </a:solidFill>
                <a:latin typeface="Calibri"/>
              </a:rPr>
              <a:t>Balancing and thresholding are never allowed to move at the same 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0874959" cy="12700"/>
          </a:xfrm>
          <a:prstGeom prst="rect">
            <a:avLst/>
          </a:prstGeom>
          <a:solidFill>
            <a:srgbClr val="CDD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920240"/>
            <a:ext cx="5486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450" b="1" i="0">
                <a:solidFill>
                  <a:srgbClr val="0E1618"/>
                </a:solidFill>
                <a:latin typeface="Calibri"/>
              </a:rPr>
              <a:t>Threshold pinned at 0.5</a:t>
            </a: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250" b="0" i="0">
                <a:solidFill>
                  <a:srgbClr val="2C3C40"/>
                </a:solidFill>
                <a:latin typeface="Calibri"/>
              </a:rPr>
              <a:t>No inner-validation split and no Youden step in this path — so any change in the numbers is the resampler's doing, not the operating point's.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450" b="1" i="0">
                <a:solidFill>
                  <a:srgbClr val="0E1618"/>
                </a:solidFill>
                <a:latin typeface="Calibri"/>
              </a:rPr>
              <a:t>Resampling touches training rows only</a:t>
            </a: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250" b="0" i="0">
                <a:solidFill>
                  <a:srgbClr val="2C3C40"/>
                </a:solidFill>
                <a:latin typeface="Calibri"/>
              </a:rPr>
              <a:t>Each training fold is resampled to a 1:1 class ratio. Test features are read from the original matrix by position, so a synthetic record has no position and can never be scored.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450" b="1" i="0">
                <a:solidFill>
                  <a:srgbClr val="0E1618"/>
                </a:solidFill>
                <a:latin typeface="Calibri"/>
              </a:rPr>
              <a:t>One partition, inherited by every arm</a:t>
            </a: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250" b="0" i="0">
                <a:solidFill>
                  <a:srgbClr val="2C3C40"/>
                </a:solidFill>
                <a:latin typeface="Calibri"/>
              </a:rPr>
              <a:t>Folds are drawn once on the raw cohort and keyed on admission_id, so every strategy predicts the same patients in the same folds and McNemar is genuinely paired.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450" b="1" i="0">
                <a:solidFill>
                  <a:srgbClr val="0E1618"/>
                </a:solidFill>
                <a:latin typeface="Calibri"/>
              </a:rPr>
              <a:t>Out-of-fold predictions for every record</a:t>
            </a: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250" b="0" i="0">
                <a:solidFill>
                  <a:srgbClr val="2C3C40"/>
                </a:solidFill>
                <a:latin typeface="Calibri"/>
              </a:rPr>
              <a:t>5-fold stratified CV × 4 partitions over all 46,032 stays — every patient predicted by a model that never saw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64808" y="1965960"/>
            <a:ext cx="50749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39128" y="2176272"/>
            <a:ext cx="4526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1000"/>
              </a:spcAft>
            </a:pPr>
            <a:r>
              <a:rPr sz="1500" b="1" i="0">
                <a:solidFill>
                  <a:srgbClr val="0E1618"/>
                </a:solidFill>
                <a:latin typeface="Georgia"/>
              </a:rPr>
              <a:t>The two labels are not equally imbalanced</a:t>
            </a:r>
          </a:p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500" b="0" i="0">
                <a:solidFill>
                  <a:srgbClr val="2C3C40"/>
                </a:solidFill>
                <a:latin typeface="Calibri"/>
              </a:rPr>
              <a:t>In-hospital mortality </a:t>
            </a:r>
            <a:r>
              <a:rPr sz="1500" b="1" i="0">
                <a:solidFill>
                  <a:srgbClr val="A4552B"/>
                </a:solidFill>
                <a:latin typeface="Consolas"/>
              </a:rPr>
              <a:t>9.7%</a:t>
            </a:r>
            <a:r>
              <a:rPr sz="1500" b="0" i="0">
                <a:solidFill>
                  <a:srgbClr val="2C3C40"/>
                </a:solidFill>
                <a:latin typeface="Calibri"/>
              </a:rPr>
              <a:t>   ·   ICU admission </a:t>
            </a:r>
            <a:r>
              <a:rPr sz="1500" b="1" i="0">
                <a:solidFill>
                  <a:srgbClr val="0D6B6B"/>
                </a:solidFill>
                <a:latin typeface="Consolas"/>
              </a:rPr>
              <a:t>37.5%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61767A"/>
                </a:solidFill>
                <a:latin typeface="Calibri"/>
              </a:rPr>
              <a:t>Mortality is the case balancing is supposed to help; ICU is close enough to even that it acts as a control.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64808" y="4069080"/>
            <a:ext cx="5074920" cy="1737360"/>
          </a:xfrm>
          <a:prstGeom prst="rect">
            <a:avLst/>
          </a:prstGeom>
          <a:solidFill>
            <a:srgbClr val="E4EAEA"/>
          </a:solidFill>
          <a:ln w="9525">
            <a:solidFill>
              <a:srgbClr val="CDD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4224528"/>
            <a:ext cx="4562856" cy="1517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500" b="1" i="0">
                <a:solidFill>
                  <a:srgbClr val="0E1618"/>
                </a:solidFill>
                <a:latin typeface="Georgia"/>
              </a:rPr>
              <a:t>Reported per arm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350" b="1" i="0">
                <a:solidFill>
                  <a:srgbClr val="0E1618"/>
                </a:solidFill>
                <a:latin typeface="Calibri"/>
              </a:rPr>
              <a:t>Threshold-dependent: </a:t>
            </a:r>
            <a:r>
              <a:rPr sz="1350" b="0" i="0">
                <a:solidFill>
                  <a:srgbClr val="2C3C40"/>
                </a:solidFill>
                <a:latin typeface="Calibri"/>
              </a:rPr>
              <a:t>recall, balanced accuracy, macro F1, accuracy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00" b="1" i="0">
                <a:solidFill>
                  <a:srgbClr val="0E1618"/>
                </a:solidFill>
                <a:latin typeface="Calibri"/>
              </a:rPr>
              <a:t>Threshold-free: </a:t>
            </a:r>
            <a:r>
              <a:rPr sz="1300" b="0" i="0">
                <a:solidFill>
                  <a:srgbClr val="2C3C40"/>
                </a:solidFill>
                <a:latin typeface="Calibri"/>
              </a:rPr>
              <a:t>AUROC, AUPRC — from scores, so they answer whether the model discriminates better rather than relabels more.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050" b="0" i="0">
                <a:solidFill>
                  <a:srgbClr val="61767A"/>
                </a:solidFill>
                <a:latin typeface="Consolas"/>
              </a:rPr>
              <a:t>STAGE H · STRATEGIES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0E1618"/>
                </a:solidFill>
                <a:latin typeface="Georgia"/>
              </a:rPr>
              <a:t>Four ways to train, one way to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8988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61767A"/>
                </a:solidFill>
                <a:latin typeface="Calibri"/>
              </a:rPr>
              <a:t>Training-fold sizes below are for mean aggregation / mortality (9.7% positive).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0874959" cy="12700"/>
          </a:xfrm>
          <a:prstGeom prst="rect">
            <a:avLst/>
          </a:prstGeom>
          <a:solidFill>
            <a:srgbClr val="CDD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938528"/>
            <a:ext cx="2615184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938528"/>
            <a:ext cx="2615184" cy="44450"/>
          </a:xfrm>
          <a:prstGeom prst="rect">
            <a:avLst/>
          </a:prstGeom>
          <a:solidFill>
            <a:srgbClr val="0D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157984"/>
            <a:ext cx="2212848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00" b="1" i="0">
                <a:solidFill>
                  <a:srgbClr val="0D6B6B"/>
                </a:solidFill>
                <a:latin typeface="Consolas"/>
              </a:rPr>
              <a:t>none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50" b="1" i="0">
                <a:solidFill>
                  <a:srgbClr val="0E1618"/>
                </a:solidFill>
                <a:latin typeface="Georgia"/>
              </a:rPr>
              <a:t>Baseline</a:t>
            </a:r>
          </a:p>
          <a:p>
            <a:pPr algn="l">
              <a:lnSpc>
                <a:spcPct val="132000"/>
              </a:lnSpc>
              <a:spcAft>
                <a:spcPts val="1200"/>
              </a:spcAft>
            </a:pPr>
            <a:r>
              <a:rPr sz="1250" b="0" i="0">
                <a:solidFill>
                  <a:srgbClr val="2C3C40"/>
                </a:solidFill>
                <a:latin typeface="Calibri"/>
              </a:rPr>
              <a:t>Train on the natural distribution. The reference every other arm is measured against — refitted here on the same 80% as the arms, not reused.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100" b="0" i="0">
                <a:solidFill>
                  <a:srgbClr val="61767A"/>
                </a:solidFill>
                <a:latin typeface="Calibri"/>
              </a:rPr>
              <a:t>training rows </a:t>
            </a:r>
            <a:r>
              <a:rPr sz="1250" b="1" i="0">
                <a:solidFill>
                  <a:srgbClr val="0E1618"/>
                </a:solidFill>
                <a:latin typeface="Consolas"/>
              </a:rPr>
              <a:t>36,826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1">
                <a:solidFill>
                  <a:srgbClr val="61767A"/>
                </a:solidFill>
                <a:latin typeface="Calibri"/>
              </a:rPr>
              <a:t>all rows real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410712" y="1938528"/>
            <a:ext cx="2615184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10712" y="1938528"/>
            <a:ext cx="2615184" cy="44450"/>
          </a:xfrm>
          <a:prstGeom prst="rect">
            <a:avLst/>
          </a:prstGeom>
          <a:solidFill>
            <a:srgbClr val="0D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157984"/>
            <a:ext cx="2212848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00" b="1" i="0">
                <a:solidFill>
                  <a:srgbClr val="0D6B6B"/>
                </a:solidFill>
                <a:latin typeface="Consolas"/>
              </a:rPr>
              <a:t>oversample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50" b="1" i="0">
                <a:solidFill>
                  <a:srgbClr val="0E1618"/>
                </a:solidFill>
                <a:latin typeface="Georgia"/>
              </a:rPr>
              <a:t>Random oversampling</a:t>
            </a:r>
          </a:p>
          <a:p>
            <a:pPr algn="l">
              <a:lnSpc>
                <a:spcPct val="132000"/>
              </a:lnSpc>
              <a:spcAft>
                <a:spcPts val="1200"/>
              </a:spcAft>
            </a:pPr>
            <a:r>
              <a:rPr sz="1250" b="0" i="0">
                <a:solidFill>
                  <a:srgbClr val="2C3C40"/>
                </a:solidFill>
                <a:latin typeface="Calibri"/>
              </a:rPr>
              <a:t>Draw minority patients with replacement until the classes are even. No new information — each positive is simply seen several times, so the forest weights it more heavily.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100" b="0" i="0">
                <a:solidFill>
                  <a:srgbClr val="61767A"/>
                </a:solidFill>
                <a:latin typeface="Calibri"/>
              </a:rPr>
              <a:t>training rows </a:t>
            </a:r>
            <a:r>
              <a:rPr sz="1250" b="1" i="0">
                <a:solidFill>
                  <a:srgbClr val="0E1618"/>
                </a:solidFill>
                <a:latin typeface="Consolas"/>
              </a:rPr>
              <a:t>66,539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1">
                <a:solidFill>
                  <a:srgbClr val="61767A"/>
                </a:solidFill>
                <a:latin typeface="Calibri"/>
              </a:rPr>
              <a:t>all rows real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1938528"/>
            <a:ext cx="2615184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1938528"/>
            <a:ext cx="2615184" cy="44450"/>
          </a:xfrm>
          <a:prstGeom prst="rect">
            <a:avLst/>
          </a:prstGeom>
          <a:solidFill>
            <a:srgbClr val="A4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2157984"/>
            <a:ext cx="2212848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00" b="1" i="0">
                <a:solidFill>
                  <a:srgbClr val="A4552B"/>
                </a:solidFill>
                <a:latin typeface="Consolas"/>
              </a:rPr>
              <a:t>undersample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50" b="1" i="0">
                <a:solidFill>
                  <a:srgbClr val="0E1618"/>
                </a:solidFill>
                <a:latin typeface="Georgia"/>
              </a:rPr>
              <a:t>Random undersampling</a:t>
            </a:r>
          </a:p>
          <a:p>
            <a:pPr algn="l">
              <a:lnSpc>
                <a:spcPct val="132000"/>
              </a:lnSpc>
              <a:spcAft>
                <a:spcPts val="1200"/>
              </a:spcAft>
            </a:pPr>
            <a:r>
              <a:rPr sz="1250" b="0" i="0">
                <a:solidFill>
                  <a:srgbClr val="2C3C40"/>
                </a:solidFill>
                <a:latin typeface="Calibri"/>
              </a:rPr>
              <a:t>Discard majority patients at random until the classes are even. Cheap and fast, but it throws away most of the negatives, and with them most of the training set.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100" b="0" i="0">
                <a:solidFill>
                  <a:srgbClr val="61767A"/>
                </a:solidFill>
                <a:latin typeface="Calibri"/>
              </a:rPr>
              <a:t>training rows </a:t>
            </a:r>
            <a:r>
              <a:rPr sz="1250" b="1" i="0">
                <a:solidFill>
                  <a:srgbClr val="0E1618"/>
                </a:solidFill>
                <a:latin typeface="Consolas"/>
              </a:rPr>
              <a:t>7,112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1">
                <a:solidFill>
                  <a:srgbClr val="61767A"/>
                </a:solidFill>
                <a:latin typeface="Calibri"/>
              </a:rPr>
              <a:t>all rows real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1938528"/>
            <a:ext cx="2615184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15400" y="1938528"/>
            <a:ext cx="2615184" cy="44450"/>
          </a:xfrm>
          <a:prstGeom prst="rect">
            <a:avLst/>
          </a:prstGeom>
          <a:solidFill>
            <a:srgbClr val="4A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6568" y="2157984"/>
            <a:ext cx="2212848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00" b="1" i="0">
                <a:solidFill>
                  <a:srgbClr val="4A6572"/>
                </a:solidFill>
                <a:latin typeface="Consolas"/>
              </a:rPr>
              <a:t>smote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50" b="1" i="0">
                <a:solidFill>
                  <a:srgbClr val="0E1618"/>
                </a:solidFill>
                <a:latin typeface="Georgia"/>
              </a:rPr>
              <a:t>Mask-aware SMOTE</a:t>
            </a:r>
          </a:p>
          <a:p>
            <a:pPr algn="l">
              <a:lnSpc>
                <a:spcPct val="132000"/>
              </a:lnSpc>
              <a:spcAft>
                <a:spcPts val="1200"/>
              </a:spcAft>
            </a:pPr>
            <a:r>
              <a:rPr sz="1250" b="0" i="0">
                <a:solidFill>
                  <a:srgbClr val="2C3C40"/>
                </a:solidFill>
                <a:latin typeface="Calibri"/>
              </a:rPr>
              <a:t>Synthesise new minority patients by interpolating between real ones — but adapted to missingness, which plain SMOTE would corrupt. See next slide.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100" b="0" i="0">
                <a:solidFill>
                  <a:srgbClr val="61767A"/>
                </a:solidFill>
                <a:latin typeface="Calibri"/>
              </a:rPr>
              <a:t>training rows </a:t>
            </a:r>
            <a:r>
              <a:rPr sz="1250" b="1" i="0">
                <a:solidFill>
                  <a:srgbClr val="0E1618"/>
                </a:solidFill>
                <a:latin typeface="Consolas"/>
              </a:rPr>
              <a:t>66,539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61767A"/>
                </a:solidFill>
                <a:latin typeface="Calibri"/>
              </a:rPr>
              <a:t>synthetic </a:t>
            </a:r>
            <a:r>
              <a:rPr sz="1250" b="1" i="0">
                <a:solidFill>
                  <a:srgbClr val="0E1618"/>
                </a:solidFill>
                <a:latin typeface="Consolas"/>
              </a:rPr>
              <a:t>29,714</a:t>
            </a:r>
            <a:r>
              <a:rPr sz="1100" b="0" i="0">
                <a:solidFill>
                  <a:srgbClr val="61767A"/>
                </a:solidFill>
                <a:latin typeface="Calibri"/>
              </a:rPr>
              <a:t> / fold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577840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2C3C40"/>
                </a:solidFill>
                <a:latin typeface="Calibri"/>
              </a:rPr>
              <a:t>Oversampling and SMOTE produce identical training-set sizes (2 × majority), which is deliberate: the difference between them isolates one question — </a:t>
            </a:r>
            <a:r>
              <a:rPr sz="1400" b="1" i="0">
                <a:solidFill>
                  <a:srgbClr val="0E1618"/>
                </a:solidFill>
                <a:latin typeface="Calibri"/>
              </a:rPr>
              <a:t>duplicate a real patient, or synthesise a new one?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050" b="0" i="0">
                <a:solidFill>
                  <a:srgbClr val="61767A"/>
                </a:solidFill>
                <a:latin typeface="Consolas"/>
              </a:rPr>
              <a:t>STAGE H · STRATEGIES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0E1618"/>
                </a:solidFill>
                <a:latin typeface="Georgia"/>
              </a:rPr>
              <a:t>Why SMOTE had to be rebuilt for this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8988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61767A"/>
                </a:solidFill>
                <a:latin typeface="Calibri"/>
              </a:rPr>
              <a:t>Textbook SMOTE would have interpolated real vitals against "never measured".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0874959" cy="12700"/>
          </a:xfrm>
          <a:prstGeom prst="rect">
            <a:avLst/>
          </a:prstGeom>
          <a:solidFill>
            <a:srgbClr val="CDD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965960"/>
            <a:ext cx="56235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600" b="1" i="0">
                <a:solidFill>
                  <a:srgbClr val="0E1618"/>
                </a:solidFill>
                <a:latin typeface="Georgia"/>
              </a:rPr>
              <a:t>The problem</a:t>
            </a:r>
          </a:p>
          <a:p>
            <a:pPr algn="l">
              <a:lnSpc>
                <a:spcPct val="134000"/>
              </a:lnSpc>
              <a:spcAft>
                <a:spcPts val="1200"/>
              </a:spcAft>
            </a:pPr>
            <a:r>
              <a:rPr sz="1400" b="0" i="0">
                <a:solidFill>
                  <a:srgbClr val="2C3C40"/>
                </a:solidFill>
                <a:latin typeface="Calibri"/>
              </a:rPr>
              <a:t>RecordEHR.to_tensor() zero-fills anything that was not measured, so 0 carries two meanings at once across </a:t>
            </a:r>
            <a:r>
              <a:rPr sz="1400" b="1" i="0">
                <a:solidFill>
                  <a:srgbClr val="0E1618"/>
                </a:solidFill>
                <a:latin typeface="Consolas"/>
              </a:rPr>
              <a:t>39%</a:t>
            </a:r>
            <a:r>
              <a:rPr sz="1400" b="0" i="0">
                <a:solidFill>
                  <a:srgbClr val="2C3C40"/>
                </a:solidFill>
                <a:latin typeface="Calibri"/>
              </a:rPr>
              <a:t> of the 24 × 7 feature matrix. Missingness is also class-correlated — positives are </a:t>
            </a:r>
            <a:r>
              <a:rPr sz="1400" b="1" i="0">
                <a:solidFill>
                  <a:srgbClr val="0E1618"/>
                </a:solidFill>
                <a:latin typeface="Consolas"/>
              </a:rPr>
              <a:t>68.3%</a:t>
            </a:r>
            <a:r>
              <a:rPr sz="1400" b="0" i="0">
                <a:solidFill>
                  <a:srgbClr val="2C3C40"/>
                </a:solidFill>
                <a:latin typeface="Calibri"/>
              </a:rPr>
              <a:t> observed against </a:t>
            </a:r>
            <a:r>
              <a:rPr sz="1400" b="1" i="0">
                <a:solidFill>
                  <a:srgbClr val="0E1618"/>
                </a:solidFill>
                <a:latin typeface="Consolas"/>
              </a:rPr>
              <a:t>60.1%</a:t>
            </a:r>
            <a:r>
              <a:rPr sz="1400" b="0" i="0">
                <a:solidFill>
                  <a:srgbClr val="2C3C40"/>
                </a:solidFill>
                <a:latin typeface="Calibri"/>
              </a:rPr>
              <a:t> for negatives — so it carries real signal.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400" b="0" i="0">
                <a:solidFill>
                  <a:srgbClr val="2C3C40"/>
                </a:solidFill>
                <a:latin typeface="Calibri"/>
              </a:rPr>
              <a:t>Run unmodified, SMOTE would do two wrong things: interpolate a real heart rate against a structural zero, and build its nearest-neighbour graph mostly out of which cells happen to be missing rather than out of physiology.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693408" y="1965960"/>
            <a:ext cx="4846320" cy="3218688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93408" y="1965960"/>
            <a:ext cx="4846320" cy="44450"/>
          </a:xfrm>
          <a:prstGeom prst="rect">
            <a:avLst/>
          </a:prstGeom>
          <a:solidFill>
            <a:srgbClr val="4A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2194560"/>
            <a:ext cx="433425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1100"/>
              </a:spcAft>
            </a:pPr>
            <a:r>
              <a:rPr sz="1600" b="1" i="0">
                <a:solidFill>
                  <a:srgbClr val="0E1618"/>
                </a:solidFill>
                <a:latin typeface="Georgia"/>
              </a:rPr>
              <a:t>The fix — three changes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250" b="1" i="0">
                <a:solidFill>
                  <a:srgbClr val="4A6572"/>
                </a:solidFill>
                <a:latin typeface="Consolas"/>
              </a:rPr>
              <a:t>1  </a:t>
            </a:r>
            <a:r>
              <a:rPr sz="1250" b="1" i="0">
                <a:solidFill>
                  <a:srgbClr val="0E1618"/>
                </a:solidFill>
                <a:latin typeface="Calibri"/>
              </a:rPr>
              <a:t>Neighbours over co-observed cells only</a:t>
            </a:r>
          </a:p>
          <a:p>
            <a:pPr algn="l">
              <a:lnSpc>
                <a:spcPct val="126000"/>
              </a:lnSpc>
              <a:spcAft>
                <a:spcPts val="800"/>
              </a:spcAft>
            </a:pPr>
            <a:r>
              <a:rPr sz="1150" b="0" i="0">
                <a:solidFill>
                  <a:srgbClr val="2C3C40"/>
                </a:solidFill>
                <a:latin typeface="Calibri"/>
              </a:rPr>
              <a:t>Distances use nan_euclidean, so two patients are close when the vitals they both have are close — not when they lack the same ones.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250" b="1" i="0">
                <a:solidFill>
                  <a:srgbClr val="4A6572"/>
                </a:solidFill>
                <a:latin typeface="Consolas"/>
              </a:rPr>
              <a:t>2  </a:t>
            </a:r>
            <a:r>
              <a:rPr sz="1250" b="1" i="0">
                <a:solidFill>
                  <a:srgbClr val="0E1618"/>
                </a:solidFill>
                <a:latin typeface="Calibri"/>
              </a:rPr>
              <a:t>Synthetic rows inherit the parent's mask</a:t>
            </a:r>
          </a:p>
          <a:p>
            <a:pPr algn="l">
              <a:lnSpc>
                <a:spcPct val="126000"/>
              </a:lnSpc>
              <a:spcAft>
                <a:spcPts val="800"/>
              </a:spcAft>
            </a:pPr>
            <a:r>
              <a:rPr sz="1150" b="0" i="0">
                <a:solidFill>
                  <a:srgbClr val="2C3C40"/>
                </a:solidFill>
                <a:latin typeface="Calibri"/>
              </a:rPr>
              <a:t>A generated patient is missing exactly what its base parent was missing, so the missingness distribution is preserved, not invented.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250" b="1" i="0">
                <a:solidFill>
                  <a:srgbClr val="4A6572"/>
                </a:solidFill>
                <a:latin typeface="Consolas"/>
              </a:rPr>
              <a:t>3  </a:t>
            </a:r>
            <a:r>
              <a:rPr sz="1250" b="1" i="0">
                <a:solidFill>
                  <a:srgbClr val="0E1618"/>
                </a:solidFill>
                <a:latin typeface="Calibri"/>
              </a:rPr>
              <a:t>Interpolate only where both parents measured</a:t>
            </a:r>
          </a:p>
          <a:p>
            <a:pPr algn="l">
              <a:lnSpc>
                <a:spcPct val="126000"/>
              </a:lnSpc>
              <a:spcAft>
                <a:spcPts val="800"/>
              </a:spcAft>
            </a:pPr>
            <a:r>
              <a:rPr sz="1150" b="0" i="0">
                <a:solidFill>
                  <a:srgbClr val="2C3C40"/>
                </a:solidFill>
                <a:latin typeface="Calibri"/>
              </a:rPr>
              <a:t>A cell either parent never observed stays unobserved, instead of being filled with a blend of a real value and a zero.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532120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 i="0">
                <a:solidFill>
                  <a:srgbClr val="0E1618"/>
                </a:solidFill>
                <a:latin typeface="Calibri"/>
              </a:rPr>
              <a:t>Verified, not assumed: </a:t>
            </a:r>
            <a:r>
              <a:rPr sz="1400" b="0" i="0">
                <a:solidFill>
                  <a:srgbClr val="2C3C40"/>
                </a:solidFill>
                <a:latin typeface="Calibri"/>
              </a:rPr>
              <a:t>the stage I verifier replayed all 20 folds of mean/mortality and found 0 collisions between its synthetic rows and any test fold; refitting each strategy on shuffled labels gave AUC 0.4953 / 0.4967 / 0.5003 — chance, as it must be.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050" b="0" i="0">
                <a:solidFill>
                  <a:srgbClr val="61767A"/>
                </a:solidFill>
                <a:latin typeface="Consolas"/>
              </a:rPr>
              <a:t>RESULT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0E1618"/>
                </a:solidFill>
                <a:latin typeface="Georgia"/>
              </a:rPr>
              <a:t>No — and the reason is specific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43584"/>
            <a:ext cx="10874959" cy="12700"/>
          </a:xfrm>
          <a:prstGeom prst="rect">
            <a:avLst/>
          </a:prstGeom>
          <a:solidFill>
            <a:srgbClr val="CDD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88136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600" b="1" i="0">
                <a:solidFill>
                  <a:srgbClr val="0E1618"/>
                </a:solidFill>
                <a:latin typeface="Georgia"/>
              </a:rPr>
              <a:t>All three strategies move the operating point without improving discrimination.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C3C40"/>
                </a:solidFill>
                <a:latin typeface="Calibri"/>
              </a:rPr>
              <a:t>Every strategy raises recall, and the effect is large. But the threshold-free metrics do not follow: </a:t>
            </a:r>
            <a:r>
              <a:rPr sz="1600" b="1" i="0">
                <a:solidFill>
                  <a:srgbClr val="0E1618"/>
                </a:solidFill>
                <a:latin typeface="Calibri"/>
              </a:rPr>
              <a:t>AUPRC fell in 30 of 30 comparisons</a:t>
            </a:r>
            <a:r>
              <a:rPr sz="1600" b="0" i="0">
                <a:solidFill>
                  <a:srgbClr val="2C3C40"/>
                </a:solidFill>
                <a:latin typeface="Calibri"/>
              </a:rPr>
              <a:t> and AUROC in 24 of 30. A model that ranked patients better would show it there.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675887"/>
            <a:ext cx="2554147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3822191"/>
            <a:ext cx="218838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 i="0">
                <a:solidFill>
                  <a:srgbClr val="A4552B"/>
                </a:solidFill>
                <a:latin typeface="Consolas"/>
              </a:rPr>
              <a:t>30/30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61767A"/>
                </a:solidFill>
                <a:latin typeface="Calibri"/>
              </a:rPr>
              <a:t>comparisons with lower AUPRC</a:t>
            </a:r>
          </a:p>
        </p:txBody>
      </p:sp>
      <p:sp>
        <p:nvSpPr>
          <p:cNvPr id="7" name="Rectangle 6"/>
          <p:cNvSpPr/>
          <p:nvPr/>
        </p:nvSpPr>
        <p:spPr>
          <a:xfrm>
            <a:off x="3431971" y="3675887"/>
            <a:ext cx="2554147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4851" y="3822191"/>
            <a:ext cx="218838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 i="0">
                <a:solidFill>
                  <a:srgbClr val="A4552B"/>
                </a:solidFill>
                <a:latin typeface="Consolas"/>
              </a:rPr>
              <a:t>-0.0044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61767A"/>
                </a:solidFill>
                <a:latin typeface="Calibri"/>
              </a:rPr>
              <a:t>best AUPRC change achieved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5574" y="3675887"/>
            <a:ext cx="2554147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8454" y="3822191"/>
            <a:ext cx="218838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 i="0">
                <a:solidFill>
                  <a:srgbClr val="0E1618"/>
                </a:solidFill>
                <a:latin typeface="Consolas"/>
              </a:rPr>
              <a:t>0.979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61767A"/>
                </a:solidFill>
                <a:latin typeface="Calibri"/>
              </a:rPr>
              <a:t>corr(Δ recall, Δ positive rate)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79177" y="3675887"/>
            <a:ext cx="2554147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62057" y="3822191"/>
            <a:ext cx="218838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 i="0">
                <a:solidFill>
                  <a:srgbClr val="3D7A52"/>
                </a:solidFill>
                <a:latin typeface="Consolas"/>
              </a:rPr>
              <a:t>+0.0333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61767A"/>
                </a:solidFill>
                <a:latin typeface="Calibri"/>
              </a:rPr>
              <a:t>best macro F1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074920"/>
            <a:ext cx="108749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50" b="0" i="0">
                <a:solidFill>
                  <a:srgbClr val="2C3C40"/>
                </a:solidFill>
                <a:latin typeface="Calibri"/>
              </a:rPr>
              <a:t>Read the second number carefully: </a:t>
            </a:r>
            <a:r>
              <a:rPr sz="1450" b="1" i="0">
                <a:solidFill>
                  <a:srgbClr val="0E1618"/>
                </a:solidFill>
                <a:latin typeface="Calibri"/>
              </a:rPr>
              <a:t>the best AUPRC outcome in the whole sweep is still a loss of 0.0044.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 i="0">
                <a:solidFill>
                  <a:srgbClr val="2C3C40"/>
                </a:solidFill>
                <a:latin typeface="Calibri"/>
              </a:rPr>
              <a:t>The one genuine gain is macro F1 under SMOTE (mean / mortality, +0.0333) — and it comes with an AUPRC change of -0.0059, so even the best case is a re-balanced operating point rather than a better classifier.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050" b="0" i="0">
                <a:solidFill>
                  <a:srgbClr val="61767A"/>
                </a:solidFill>
                <a:latin typeface="Consolas"/>
              </a:rPr>
              <a:t>RESULT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0E1618"/>
                </a:solidFill>
                <a:latin typeface="Georgia"/>
              </a:rPr>
              <a:t>The two kinds of metric split cleanly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8988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61767A"/>
                </a:solidFill>
                <a:latin typeface="Calibri"/>
              </a:rPr>
              <a:t>Mean change against the unbalanced baseline, averaged over all 10 label × aggregation cells.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0874959" cy="12700"/>
          </a:xfrm>
          <a:prstGeom prst="rect">
            <a:avLst/>
          </a:prstGeom>
          <a:solidFill>
            <a:srgbClr val="CDD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58368" y="1938528"/>
          <a:ext cx="685800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882128" y="1938528"/>
            <a:ext cx="361188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9872" y="2139696"/>
            <a:ext cx="3136392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700"/>
              </a:spcAft>
            </a:pPr>
            <a:r>
              <a:rPr sz="1550" b="1" i="0">
                <a:solidFill>
                  <a:srgbClr val="0E1618"/>
                </a:solidFill>
                <a:latin typeface="Georgia"/>
              </a:rPr>
              <a:t>The first three bars swing.</a:t>
            </a: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250" b="0" i="0">
                <a:solidFill>
                  <a:srgbClr val="2C3C40"/>
                </a:solidFill>
                <a:latin typeface="Calibri"/>
              </a:rPr>
              <a:t>Recall up, accuracy down, balanced accuracy up — all read off the 0.5 cut, all moving together.</a:t>
            </a:r>
          </a:p>
          <a:p>
            <a:pPr algn="l">
              <a:lnSpc>
                <a:spcPct val="124000"/>
              </a:lnSpc>
              <a:spcAft>
                <a:spcPts val="700"/>
              </a:spcAft>
            </a:pPr>
            <a:r>
              <a:rPr sz="1550" b="1" i="0">
                <a:solidFill>
                  <a:srgbClr val="0E1618"/>
                </a:solidFill>
                <a:latin typeface="Georgia"/>
              </a:rPr>
              <a:t>The last two do not.</a:t>
            </a: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250" b="0" i="0">
                <a:solidFill>
                  <a:srgbClr val="2C3C40"/>
                </a:solidFill>
                <a:latin typeface="Calibri"/>
              </a:rPr>
              <a:t>AUROC and AUPRC never see the cut. They lean negative and stay there — the whole result in one picture.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2C3C40"/>
                </a:solidFill>
                <a:latin typeface="Calibri"/>
              </a:rPr>
              <a:t>Undersampling shows it most starkly: mean recall </a:t>
            </a:r>
            <a:r>
              <a:rPr sz="1250" b="1" i="0">
                <a:solidFill>
                  <a:srgbClr val="3D7A52"/>
                </a:solidFill>
                <a:latin typeface="Consolas"/>
              </a:rPr>
              <a:t>+0.444</a:t>
            </a:r>
            <a:r>
              <a:rPr sz="1250" b="0" i="0">
                <a:solidFill>
                  <a:srgbClr val="2C3C40"/>
                </a:solidFill>
                <a:latin typeface="Calibri"/>
              </a:rPr>
              <a:t> against mean accuracy </a:t>
            </a:r>
            <a:r>
              <a:rPr sz="1250" b="1" i="0">
                <a:solidFill>
                  <a:srgbClr val="A4552B"/>
                </a:solidFill>
                <a:latin typeface="Consolas"/>
              </a:rPr>
              <a:t>-0.154</a:t>
            </a:r>
            <a:r>
              <a:rPr sz="1250" b="0" i="0">
                <a:solidFill>
                  <a:srgbClr val="2C3C4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050" b="0" i="0">
                <a:solidFill>
                  <a:srgbClr val="61767A"/>
                </a:solidFill>
                <a:latin typeface="Consolas"/>
              </a:rPr>
              <a:t>MECHANISM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0E1618"/>
                </a:solidFill>
                <a:latin typeface="Georgia"/>
              </a:rPr>
              <a:t>The recall gain is a relabelling, not a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8988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61767A"/>
                </a:solidFill>
                <a:latin typeface="Calibri"/>
              </a:rPr>
              <a:t>Each point is one aggregation × label × strategy.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0874959" cy="12700"/>
          </a:xfrm>
          <a:prstGeom prst="rect">
            <a:avLst/>
          </a:prstGeom>
          <a:solidFill>
            <a:srgbClr val="CDD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58368" y="1938528"/>
          <a:ext cx="594360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967728" y="1938528"/>
            <a:ext cx="452628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2103120"/>
            <a:ext cx="4014215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2500" b="1" i="0">
                <a:solidFill>
                  <a:srgbClr val="0E1618"/>
                </a:solidFill>
                <a:latin typeface="Consolas"/>
              </a:rPr>
              <a:t>r = 0.979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00" b="0" i="0">
                <a:solidFill>
                  <a:srgbClr val="2C3C40"/>
                </a:solidFill>
                <a:latin typeface="Calibri"/>
              </a:rPr>
              <a:t>Nearly all of the recall gain is explained by predicting positive more often — exactly what moving a threshold does, at the cost of retraining.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67728" y="3611880"/>
            <a:ext cx="4526280" cy="1938528"/>
          </a:xfrm>
          <a:prstGeom prst="rect">
            <a:avLst/>
          </a:prstGeom>
          <a:solidFill>
            <a:srgbClr val="E4EAEA"/>
          </a:solidFill>
          <a:ln w="9525">
            <a:solidFill>
              <a:srgbClr val="CDD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42048" y="3840480"/>
            <a:ext cx="3977639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500" b="1" i="0">
                <a:solidFill>
                  <a:srgbClr val="0E1618"/>
                </a:solidFill>
                <a:latin typeface="Georgia"/>
              </a:rPr>
              <a:t>Two mechanisms, one operating point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242048" y="4224528"/>
          <a:ext cx="3977638" cy="8229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79220"/>
                <a:gridCol w="1039610"/>
                <a:gridCol w="85880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61767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E4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61767A"/>
                          </a:solidFill>
                          <a:latin typeface="Consolas"/>
                        </a:rPr>
                        <a:t>positive rate</a:t>
                      </a:r>
                    </a:p>
                  </a:txBody>
                  <a:tcPr marL="82296" marR="82296" marT="27432" marB="27432" anchor="ctr">
                    <a:solidFill>
                      <a:srgbClr val="E4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61767A"/>
                          </a:solidFill>
                          <a:latin typeface="Consolas"/>
                        </a:rPr>
                        <a:t>recall</a:t>
                      </a:r>
                    </a:p>
                  </a:txBody>
                  <a:tcPr marL="82296" marR="82296" marT="27432" marB="27432" anchor="ctr">
                    <a:solidFill>
                      <a:srgbClr val="E4EAE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C3C40"/>
                          </a:solidFill>
                          <a:latin typeface="Calibri"/>
                        </a:rPr>
                        <a:t>Youden threshold (stage F)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C3C40"/>
                          </a:solidFill>
                          <a:latin typeface="Consolas"/>
                        </a:rPr>
                        <a:t>0.350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C3C40"/>
                          </a:solidFill>
                          <a:latin typeface="Consolas"/>
                        </a:rPr>
                        <a:t>0.731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C3C40"/>
                          </a:solidFill>
                          <a:latin typeface="Calibri"/>
                        </a:rPr>
                        <a:t>Undersampling at 0.5 (stage H)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C3C40"/>
                          </a:solidFill>
                          <a:latin typeface="Consolas"/>
                        </a:rPr>
                        <a:t>0.359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C3C40"/>
                          </a:solidFill>
                          <a:latin typeface="Consolas"/>
                        </a:rPr>
                        <a:t>0.758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050" b="0" i="0">
                <a:solidFill>
                  <a:srgbClr val="61767A"/>
                </a:solidFill>
                <a:latin typeface="Consolas"/>
              </a:rPr>
              <a:t>RESULT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0E1618"/>
                </a:solidFill>
                <a:latin typeface="Georgia"/>
              </a:rPr>
              <a:t>Every comparison loses AUPRC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8988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61767A"/>
                </a:solidFill>
                <a:latin typeface="Calibri"/>
              </a:rPr>
              <a:t>Δ AUPRC against the unbalanced baseline, mortality above, ICU below — negative is worse.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0874959" cy="12700"/>
          </a:xfrm>
          <a:prstGeom prst="rect">
            <a:avLst/>
          </a:prstGeom>
          <a:solidFill>
            <a:srgbClr val="CDD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58368" y="1938528"/>
          <a:ext cx="722376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47888" y="201168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600" b="1" i="0">
                <a:solidFill>
                  <a:srgbClr val="0E1618"/>
                </a:solidFill>
                <a:latin typeface="Georgia"/>
              </a:rPr>
              <a:t>The deviation aggregations fail hardest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350" b="0" i="0">
                <a:solidFill>
                  <a:srgbClr val="2C3C40"/>
                </a:solidFill>
                <a:latin typeface="Calibri"/>
              </a:rPr>
              <a:t>Under mortality, mean AUPRC change is </a:t>
            </a:r>
            <a:r>
              <a:rPr sz="1350" b="1" i="0">
                <a:solidFill>
                  <a:srgbClr val="A4552B"/>
                </a:solidFill>
                <a:latin typeface="Consolas"/>
              </a:rPr>
              <a:t>-0.0705</a:t>
            </a:r>
            <a:r>
              <a:rPr sz="1350" b="0" i="0">
                <a:solidFill>
                  <a:srgbClr val="2C3C40"/>
                </a:solidFill>
                <a:latin typeface="Calibri"/>
              </a:rPr>
              <a:t> for std/mean/max deviation against </a:t>
            </a:r>
            <a:r>
              <a:rPr sz="1350" b="1" i="0">
                <a:solidFill>
                  <a:srgbClr val="A4552B"/>
                </a:solidFill>
                <a:latin typeface="Consolas"/>
              </a:rPr>
              <a:t>-0.0127</a:t>
            </a:r>
            <a:r>
              <a:rPr sz="1350" b="0" i="0">
                <a:solidFill>
                  <a:srgbClr val="2C3C40"/>
                </a:solidFill>
                <a:latin typeface="Calibri"/>
              </a:rPr>
              <a:t> for mean and median.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350" b="0" i="0">
                <a:solidFill>
                  <a:srgbClr val="2C3C40"/>
                </a:solidFill>
                <a:latin typeface="Calibri"/>
              </a:rPr>
              <a:t>Those arms start from a weak baseline — the deviation features carry much less mortality signal — and resampling amplifies the noise rather than the signal. On them, oversampling and SMOTE even reduce recall.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2C3C40"/>
                </a:solidFill>
                <a:latin typeface="Calibri"/>
              </a:rPr>
              <a:t>Worst single result: </a:t>
            </a:r>
            <a:r>
              <a:rPr sz="1350" b="1" i="0">
                <a:solidFill>
                  <a:srgbClr val="0E1618"/>
                </a:solidFill>
                <a:latin typeface="Calibri"/>
              </a:rPr>
              <a:t>oversample on maximum deviation / mortality, -0.0883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050" b="0" i="0">
                <a:solidFill>
                  <a:srgbClr val="61767A"/>
                </a:solidFill>
                <a:latin typeface="Consolas"/>
              </a:rPr>
              <a:t>DETAIL · MORTALITY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0E1618"/>
                </a:solidFill>
                <a:latin typeface="Georgia"/>
              </a:rPr>
              <a:t>Mortality, mean aggregation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8988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61767A"/>
                </a:solidFill>
                <a:latin typeface="Calibri"/>
              </a:rPr>
              <a:t>Prevalence 9.7%. The baseline row is the reference; changes are against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0874959" cy="12700"/>
          </a:xfrm>
          <a:prstGeom prst="rect">
            <a:avLst/>
          </a:prstGeom>
          <a:solidFill>
            <a:srgbClr val="CDD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938528"/>
          <a:ext cx="10874953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29829"/>
                <a:gridCol w="1334102"/>
                <a:gridCol w="1334102"/>
                <a:gridCol w="1334102"/>
                <a:gridCol w="1334102"/>
                <a:gridCol w="1334102"/>
                <a:gridCol w="1334102"/>
                <a:gridCol w="1172393"/>
                <a:gridCol w="768119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61767A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 marL="82296" marR="82296" marT="27432" marB="27432" anchor="ctr">
                    <a:solidFill>
                      <a:srgbClr val="E4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61767A"/>
                          </a:solidFill>
                          <a:latin typeface="Consolas"/>
                        </a:rPr>
                        <a:t>Recall</a:t>
                      </a:r>
                    </a:p>
                  </a:txBody>
                  <a:tcPr marL="82296" marR="82296" marT="27432" marB="27432" anchor="ctr">
                    <a:solidFill>
                      <a:srgbClr val="E4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61767A"/>
                          </a:solidFill>
                          <a:latin typeface="Consolas"/>
                        </a:rPr>
                        <a:t>Bal. acc</a:t>
                      </a:r>
                    </a:p>
                  </a:txBody>
                  <a:tcPr marL="82296" marR="82296" marT="27432" marB="27432" anchor="ctr">
                    <a:solidFill>
                      <a:srgbClr val="E4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61767A"/>
                          </a:solidFill>
                          <a:latin typeface="Consolas"/>
                        </a:rPr>
                        <a:t>Macro F1</a:t>
                      </a:r>
                    </a:p>
                  </a:txBody>
                  <a:tcPr marL="82296" marR="82296" marT="27432" marB="27432" anchor="ctr">
                    <a:solidFill>
                      <a:srgbClr val="E4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61767A"/>
                          </a:solidFill>
                          <a:latin typeface="Consolas"/>
                        </a:rPr>
                        <a:t>Accuracy</a:t>
                      </a:r>
                    </a:p>
                  </a:txBody>
                  <a:tcPr marL="82296" marR="82296" marT="27432" marB="27432" anchor="ctr">
                    <a:solidFill>
                      <a:srgbClr val="E4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61767A"/>
                          </a:solidFill>
                          <a:latin typeface="Consolas"/>
                        </a:rPr>
                        <a:t>AUROC</a:t>
                      </a:r>
                    </a:p>
                  </a:txBody>
                  <a:tcPr marL="82296" marR="82296" marT="27432" marB="27432" anchor="ctr">
                    <a:solidFill>
                      <a:srgbClr val="E4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61767A"/>
                          </a:solidFill>
                          <a:latin typeface="Consolas"/>
                        </a:rPr>
                        <a:t>AUPRC</a:t>
                      </a:r>
                    </a:p>
                  </a:txBody>
                  <a:tcPr marL="82296" marR="82296" marT="27432" marB="27432" anchor="ctr">
                    <a:solidFill>
                      <a:srgbClr val="E4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61767A"/>
                          </a:solidFill>
                          <a:latin typeface="Consolas"/>
                        </a:rPr>
                        <a:t>Pos. rate</a:t>
                      </a:r>
                    </a:p>
                  </a:txBody>
                  <a:tcPr marL="82296" marR="82296" marT="27432" marB="27432" anchor="ctr">
                    <a:solidFill>
                      <a:srgbClr val="E4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61767A"/>
                          </a:solidFill>
                          <a:latin typeface="Consolas"/>
                        </a:rPr>
                        <a:t>McNemar p</a:t>
                      </a:r>
                    </a:p>
                  </a:txBody>
                  <a:tcPr marL="82296" marR="82296" marT="27432" marB="27432" anchor="ctr">
                    <a:solidFill>
                      <a:srgbClr val="E4EA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E1618"/>
                          </a:solidFill>
                          <a:latin typeface="Consolas"/>
                        </a:rPr>
                        <a:t>none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E1618"/>
                          </a:solidFill>
                          <a:latin typeface="Consolas"/>
                        </a:rPr>
                        <a:t>0.1157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E1618"/>
                          </a:solidFill>
                          <a:latin typeface="Consolas"/>
                        </a:rPr>
                        <a:t>0.5568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E1618"/>
                          </a:solidFill>
                          <a:latin typeface="Consolas"/>
                        </a:rPr>
                        <a:t>0.5789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E1618"/>
                          </a:solidFill>
                          <a:latin typeface="Consolas"/>
                        </a:rPr>
                        <a:t>0.9127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E1618"/>
                          </a:solidFill>
                          <a:latin typeface="Consolas"/>
                        </a:rPr>
                        <a:t>0.7927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E1618"/>
                          </a:solidFill>
                          <a:latin typeface="Consolas"/>
                        </a:rPr>
                        <a:t>0.3928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E1618"/>
                          </a:solidFill>
                          <a:latin typeface="Consolas"/>
                        </a:rPr>
                        <a:t>0.0128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C40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C40"/>
                          </a:solidFill>
                          <a:latin typeface="Consolas"/>
                        </a:rPr>
                        <a:t>oversample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D7A52"/>
                          </a:solidFill>
                          <a:latin typeface="Consolas"/>
                        </a:rPr>
                        <a:t>0.1269  (+0.0112)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D7A52"/>
                          </a:solidFill>
                          <a:latin typeface="Consolas"/>
                        </a:rPr>
                        <a:t>0.5614  (+0.0045)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D7A52"/>
                          </a:solidFill>
                          <a:latin typeface="Consolas"/>
                        </a:rPr>
                        <a:t>0.5855  (+0.0066)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A4552B"/>
                          </a:solidFill>
                          <a:latin typeface="Consolas"/>
                        </a:rPr>
                        <a:t>0.9119  (-0.0008)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D7A52"/>
                          </a:solidFill>
                          <a:latin typeface="Consolas"/>
                        </a:rPr>
                        <a:t>0.8018  (+0.0091)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A4552B"/>
                          </a:solidFill>
                          <a:latin typeface="Consolas"/>
                        </a:rPr>
                        <a:t>0.3836  (-0.0092)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D7A52"/>
                          </a:solidFill>
                          <a:latin typeface="Consolas"/>
                        </a:rPr>
                        <a:t>0.0155  (+0.0027)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C40"/>
                          </a:solidFill>
                          <a:latin typeface="Consolas"/>
                        </a:rPr>
                        <a:t>0.1707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C40"/>
                          </a:solidFill>
                          <a:latin typeface="Consolas"/>
                        </a:rPr>
                        <a:t>undersample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D7A52"/>
                          </a:solidFill>
                          <a:latin typeface="Consolas"/>
                        </a:rPr>
                        <a:t>0.7582  (+0.6425)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D7A52"/>
                          </a:solidFill>
                          <a:latin typeface="Consolas"/>
                        </a:rPr>
                        <a:t>0.7194  (+0.1625)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A4552B"/>
                          </a:solidFill>
                          <a:latin typeface="Consolas"/>
                        </a:rPr>
                        <a:t>0.5585  (-0.0203)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A4552B"/>
                          </a:solidFill>
                          <a:latin typeface="Consolas"/>
                        </a:rPr>
                        <a:t>0.6880  (-0.2247)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D7A52"/>
                          </a:solidFill>
                          <a:latin typeface="Consolas"/>
                        </a:rPr>
                        <a:t>0.7986  (+0.0060)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A4552B"/>
                          </a:solidFill>
                          <a:latin typeface="Consolas"/>
                        </a:rPr>
                        <a:t>0.3695  (-0.0233)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D7A52"/>
                          </a:solidFill>
                          <a:latin typeface="Consolas"/>
                        </a:rPr>
                        <a:t>0.3589  (+0.3461)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C40"/>
                          </a:solidFill>
                          <a:latin typeface="Consolas"/>
                        </a:rPr>
                        <a:t>&lt;1e-4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C40"/>
                          </a:solidFill>
                          <a:latin typeface="Consolas"/>
                        </a:rPr>
                        <a:t>smote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D7A52"/>
                          </a:solidFill>
                          <a:latin typeface="Consolas"/>
                        </a:rPr>
                        <a:t>0.1727  (+0.0570)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D7A52"/>
                          </a:solidFill>
                          <a:latin typeface="Consolas"/>
                        </a:rPr>
                        <a:t>0.5812  (+0.0243)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D7A52"/>
                          </a:solidFill>
                          <a:latin typeface="Consolas"/>
                        </a:rPr>
                        <a:t>0.6122  (+0.0333)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A4552B"/>
                          </a:solidFill>
                          <a:latin typeface="Consolas"/>
                        </a:rPr>
                        <a:t>0.9107  (-0.0020)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D7A52"/>
                          </a:solidFill>
                          <a:latin typeface="Consolas"/>
                        </a:rPr>
                        <a:t>0.8036  (+0.0109)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A4552B"/>
                          </a:solidFill>
                          <a:latin typeface="Consolas"/>
                        </a:rPr>
                        <a:t>0.3869  (-0.0059)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D7A52"/>
                          </a:solidFill>
                          <a:latin typeface="Consolas"/>
                        </a:rPr>
                        <a:t>0.0250  (+0.0122)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C40"/>
                          </a:solidFill>
                          <a:latin typeface="Consolas"/>
                        </a:rPr>
                        <a:t>0.0040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16052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500" b="0" i="0">
                <a:solidFill>
                  <a:srgbClr val="2C3C40"/>
                </a:solidFill>
                <a:latin typeface="Calibri"/>
              </a:rPr>
              <a:t>Read across the AUPRC column: every arm is below the baseline's </a:t>
            </a:r>
            <a:r>
              <a:rPr sz="1500" b="1" i="0">
                <a:solidFill>
                  <a:srgbClr val="0E1618"/>
                </a:solidFill>
                <a:latin typeface="Consolas"/>
              </a:rPr>
              <a:t>0.3928</a:t>
            </a:r>
            <a:r>
              <a:rPr sz="1500" b="0" i="0">
                <a:solidFill>
                  <a:srgbClr val="2C3C40"/>
                </a:solidFill>
                <a:latin typeface="Calibri"/>
              </a:rPr>
              <a:t>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500" b="1" i="0">
                <a:solidFill>
                  <a:srgbClr val="0E1618"/>
                </a:solidFill>
                <a:latin typeface="Calibri"/>
              </a:rPr>
              <a:t>Undersampling</a:t>
            </a:r>
            <a:r>
              <a:rPr sz="1500" b="0" i="0">
                <a:solidFill>
                  <a:srgbClr val="2C3C40"/>
                </a:solidFill>
                <a:latin typeface="Calibri"/>
              </a:rPr>
              <a:t> takes recall from 0.116 to 0.758 — and accuracy from 0.913 to 0.688, because it now calls 35.9% of patients positive instead of 1.3%.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0E1618"/>
                </a:solidFill>
                <a:latin typeface="Calibri"/>
              </a:rPr>
              <a:t>SMOTE</a:t>
            </a:r>
            <a:r>
              <a:rPr sz="1500" b="0" i="0">
                <a:solidFill>
                  <a:srgbClr val="2C3C40"/>
                </a:solidFill>
                <a:latin typeface="Calibri"/>
              </a:rPr>
              <a:t> is the least-bad arm and the only one to improve macro F1 meaningfully (+0.0333), but its AUPRC still falls (-0.0059).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050" b="0" i="0">
                <a:solidFill>
                  <a:srgbClr val="61767A"/>
                </a:solidFill>
                <a:latin typeface="Consolas"/>
              </a:rPr>
              <a:t>DETAIL · ICU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0E1618"/>
                </a:solidFill>
                <a:latin typeface="Georgia"/>
              </a:rPr>
              <a:t>ICU admission behaves like a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8988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61767A"/>
                </a:solidFill>
                <a:latin typeface="Calibri"/>
              </a:rPr>
              <a:t>Prevalence 37.5% — far less imbalanced, and correspondingly less affected.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0874959" cy="12700"/>
          </a:xfrm>
          <a:prstGeom prst="rect">
            <a:avLst/>
          </a:prstGeom>
          <a:solidFill>
            <a:srgbClr val="CDD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938528"/>
          <a:ext cx="7680959" cy="11521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7284"/>
                <a:gridCol w="1174735"/>
                <a:gridCol w="1174735"/>
                <a:gridCol w="1174735"/>
                <a:gridCol w="1174735"/>
                <a:gridCol w="1174735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61767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E4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61767A"/>
                          </a:solidFill>
                          <a:latin typeface="Consolas"/>
                        </a:rPr>
                        <a:t>Δ Recall</a:t>
                      </a:r>
                    </a:p>
                  </a:txBody>
                  <a:tcPr marL="82296" marR="82296" marT="27432" marB="27432" anchor="ctr">
                    <a:solidFill>
                      <a:srgbClr val="E4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61767A"/>
                          </a:solidFill>
                          <a:latin typeface="Consolas"/>
                        </a:rPr>
                        <a:t>Δ Bal. acc</a:t>
                      </a:r>
                    </a:p>
                  </a:txBody>
                  <a:tcPr marL="82296" marR="82296" marT="27432" marB="27432" anchor="ctr">
                    <a:solidFill>
                      <a:srgbClr val="E4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61767A"/>
                          </a:solidFill>
                          <a:latin typeface="Consolas"/>
                        </a:rPr>
                        <a:t>Δ Macro F1</a:t>
                      </a:r>
                    </a:p>
                  </a:txBody>
                  <a:tcPr marL="82296" marR="82296" marT="27432" marB="27432" anchor="ctr">
                    <a:solidFill>
                      <a:srgbClr val="E4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61767A"/>
                          </a:solidFill>
                          <a:latin typeface="Consolas"/>
                        </a:rPr>
                        <a:t>Δ AUROC</a:t>
                      </a:r>
                    </a:p>
                  </a:txBody>
                  <a:tcPr marL="82296" marR="82296" marT="27432" marB="27432" anchor="ctr">
                    <a:solidFill>
                      <a:srgbClr val="E4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61767A"/>
                          </a:solidFill>
                          <a:latin typeface="Consolas"/>
                        </a:rPr>
                        <a:t>Δ AUPRC</a:t>
                      </a:r>
                    </a:p>
                  </a:txBody>
                  <a:tcPr marL="82296" marR="82296" marT="27432" marB="27432" anchor="ctr">
                    <a:solidFill>
                      <a:srgbClr val="E4EA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E1618"/>
                          </a:solidFill>
                          <a:latin typeface="Calibri"/>
                        </a:rPr>
                        <a:t>mortality (mean of 15)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3D7A52"/>
                          </a:solidFill>
                          <a:latin typeface="Consolas"/>
                        </a:rPr>
                        <a:t>+0.2244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3D7A52"/>
                          </a:solidFill>
                          <a:latin typeface="Consolas"/>
                        </a:rPr>
                        <a:t>+0.0490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A4552B"/>
                          </a:solidFill>
                          <a:latin typeface="Consolas"/>
                        </a:rPr>
                        <a:t>-0.0075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A4552B"/>
                          </a:solidFill>
                          <a:latin typeface="Consolas"/>
                        </a:rPr>
                        <a:t>-0.0174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A4552B"/>
                          </a:solidFill>
                          <a:latin typeface="Consolas"/>
                        </a:rPr>
                        <a:t>-0.0474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E1618"/>
                          </a:solidFill>
                          <a:latin typeface="Calibri"/>
                        </a:rPr>
                        <a:t>icu (mean of 15)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3D7A52"/>
                          </a:solidFill>
                          <a:latin typeface="Consolas"/>
                        </a:rPr>
                        <a:t>+0.1199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3D7A52"/>
                          </a:solidFill>
                          <a:latin typeface="Consolas"/>
                        </a:rPr>
                        <a:t>+0.0100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3D7A52"/>
                          </a:solidFill>
                          <a:latin typeface="Consolas"/>
                        </a:rPr>
                        <a:t>+0.0028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A4552B"/>
                          </a:solidFill>
                          <a:latin typeface="Consolas"/>
                        </a:rPr>
                        <a:t>-0.0039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A4552B"/>
                          </a:solidFill>
                          <a:latin typeface="Consolas"/>
                        </a:rPr>
                        <a:t>-0.0081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3383280"/>
            <a:ext cx="76809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1000"/>
              </a:spcAft>
            </a:pPr>
            <a:r>
              <a:rPr sz="1600" b="1" i="0">
                <a:solidFill>
                  <a:srgbClr val="0E1618"/>
                </a:solidFill>
                <a:latin typeface="Georgia"/>
              </a:rPr>
              <a:t>This is the sanity check on the whole experiment.</a:t>
            </a:r>
          </a:p>
          <a:p>
            <a:pPr algn="l">
              <a:lnSpc>
                <a:spcPct val="132000"/>
              </a:lnSpc>
              <a:spcAft>
                <a:spcPts val="1200"/>
              </a:spcAft>
            </a:pPr>
            <a:r>
              <a:rPr sz="1450" b="0" i="0">
                <a:solidFill>
                  <a:srgbClr val="2C3C40"/>
                </a:solidFill>
                <a:latin typeface="Calibri"/>
              </a:rPr>
              <a:t>If balancing were adding information, the label with less imbalance to correct should benefit less — and that is exactly the pattern. ICU's mean AUPRC change is </a:t>
            </a:r>
            <a:r>
              <a:rPr sz="1450" b="1" i="0">
                <a:solidFill>
                  <a:srgbClr val="A4552B"/>
                </a:solidFill>
                <a:latin typeface="Consolas"/>
              </a:rPr>
              <a:t>-0.0081</a:t>
            </a:r>
            <a:r>
              <a:rPr sz="1450" b="0" i="0">
                <a:solidFill>
                  <a:srgbClr val="2C3C40"/>
                </a:solidFill>
                <a:latin typeface="Calibri"/>
              </a:rPr>
              <a:t> against mortality's </a:t>
            </a:r>
            <a:r>
              <a:rPr sz="1450" b="1" i="0">
                <a:solidFill>
                  <a:srgbClr val="A4552B"/>
                </a:solidFill>
                <a:latin typeface="Consolas"/>
              </a:rPr>
              <a:t>-0.0474</a:t>
            </a:r>
            <a:r>
              <a:rPr sz="1450" b="0" i="0">
                <a:solidFill>
                  <a:srgbClr val="2C3C40"/>
                </a:solidFill>
                <a:latin typeface="Calibri"/>
              </a:rPr>
              <a:t>, roughly six times smaller.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50" b="0" i="0">
                <a:solidFill>
                  <a:srgbClr val="2C3C40"/>
                </a:solidFill>
                <a:latin typeface="Calibri"/>
              </a:rPr>
              <a:t>The reading is consistent throughout: what balancing changes scales with how much the operating point had to move, not with how much signal was there to find.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750808" y="1938528"/>
            <a:ext cx="2788920" cy="3566160"/>
          </a:xfrm>
          <a:prstGeom prst="rect">
            <a:avLst/>
          </a:prstGeom>
          <a:solidFill>
            <a:srgbClr val="E4EAEA"/>
          </a:solidFill>
          <a:ln w="9525">
            <a:solidFill>
              <a:srgbClr val="CDD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70264" y="2139696"/>
            <a:ext cx="23774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1000"/>
              </a:spcAft>
            </a:pPr>
            <a:r>
              <a:rPr sz="1500" b="1" i="0">
                <a:solidFill>
                  <a:srgbClr val="0E1618"/>
                </a:solidFill>
                <a:latin typeface="Georgia"/>
              </a:rPr>
              <a:t>Statistically significant, practically not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2400" b="1" i="0">
                <a:solidFill>
                  <a:srgbClr val="0E1618"/>
                </a:solidFill>
                <a:latin typeface="Consolas"/>
              </a:rPr>
              <a:t>28 of 30</a:t>
            </a: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250" b="0" i="0">
                <a:solidFill>
                  <a:srgbClr val="61767A"/>
                </a:solidFill>
                <a:latin typeface="Calibri"/>
              </a:rPr>
              <a:t>paired McNemar tests reject at p &lt; 0.05.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50" b="0" i="0">
                <a:solidFill>
                  <a:srgbClr val="2C3C40"/>
                </a:solidFill>
                <a:latin typeface="Calibri"/>
              </a:rPr>
              <a:t>The arms really do predict differently — easy to establish at this sample size. But that confirms the predictions changed, not that they improved. AUPRC answers that, and says no.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050" b="0" i="0">
                <a:solidFill>
                  <a:srgbClr val="61767A"/>
                </a:solidFill>
                <a:latin typeface="Consolas"/>
              </a:rPr>
              <a:t>VALIDITY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0E1618"/>
                </a:solidFill>
                <a:latin typeface="Georgia"/>
              </a:rPr>
              <a:t>The baseline was refit so the comparison is fair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8988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61767A"/>
                </a:solidFill>
                <a:latin typeface="Calibri"/>
              </a:rPr>
              <a:t>A correction made after the first run of this experiment.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0874959" cy="12700"/>
          </a:xfrm>
          <a:prstGeom prst="rect">
            <a:avLst/>
          </a:prstGeom>
          <a:solidFill>
            <a:srgbClr val="CDD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965960"/>
            <a:ext cx="60350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1200"/>
              </a:spcAft>
            </a:pPr>
            <a:r>
              <a:rPr sz="1450" b="0" i="0">
                <a:solidFill>
                  <a:srgbClr val="2C3C40"/>
                </a:solidFill>
                <a:latin typeface="Calibri"/>
              </a:rPr>
              <a:t>The first version of these results reused the unbalanced baseline from the earlier cross-validated sweep. That sweep carved an inner-validation slice out of each training fold to pick its threshold, so its forests were fitted on </a:t>
            </a:r>
            <a:r>
              <a:rPr sz="1450" b="1" i="0">
                <a:solidFill>
                  <a:srgbClr val="0E1618"/>
                </a:solidFill>
                <a:latin typeface="Consolas"/>
              </a:rPr>
              <a:t>70%</a:t>
            </a:r>
            <a:r>
              <a:rPr sz="1450" b="0" i="0">
                <a:solidFill>
                  <a:srgbClr val="2C3C40"/>
                </a:solidFill>
                <a:latin typeface="Calibri"/>
              </a:rPr>
              <a:t> of the cohort while the balanced arms trained on the full </a:t>
            </a:r>
            <a:r>
              <a:rPr sz="1450" b="1" i="0">
                <a:solidFill>
                  <a:srgbClr val="0E1618"/>
                </a:solidFill>
                <a:latin typeface="Consolas"/>
              </a:rPr>
              <a:t>80%</a:t>
            </a:r>
            <a:r>
              <a:rPr sz="1450" b="0" i="0">
                <a:solidFill>
                  <a:srgbClr val="2C3C40"/>
                </a:solidFill>
                <a:latin typeface="Calibri"/>
              </a:rPr>
              <a:t>.</a:t>
            </a:r>
          </a:p>
          <a:p>
            <a:pPr algn="l">
              <a:lnSpc>
                <a:spcPct val="134000"/>
              </a:lnSpc>
              <a:spcAft>
                <a:spcPts val="1200"/>
              </a:spcAft>
            </a:pPr>
            <a:r>
              <a:rPr sz="1450" b="0" i="0">
                <a:solidFill>
                  <a:srgbClr val="2C3C40"/>
                </a:solidFill>
                <a:latin typeface="Calibri"/>
              </a:rPr>
              <a:t>That handicap ran </a:t>
            </a:r>
            <a:r>
              <a:rPr sz="1450" b="1" i="1">
                <a:solidFill>
                  <a:srgbClr val="0E1618"/>
                </a:solidFill>
                <a:latin typeface="Calibri"/>
              </a:rPr>
              <a:t>toward</a:t>
            </a:r>
            <a:r>
              <a:rPr sz="1450" b="0" i="0">
                <a:solidFill>
                  <a:srgbClr val="2C3C40"/>
                </a:solidFill>
                <a:latin typeface="Calibri"/>
              </a:rPr>
              <a:t> balancing — it made the arms look better than they were — so it was corrected rather than left as a caveat. The baseline is now refit under the arms' own protocol: same 80%, same folds, no validation split, threshold fixed at 0.5.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450" b="0" i="0">
                <a:solidFill>
                  <a:srgbClr val="2C3C40"/>
                </a:solidFill>
                <a:latin typeface="Calibri"/>
              </a:rPr>
              <a:t>Because the partition and forest seeds are fixed, the three balanced arms reproduced to within 5.4e-06 on the rerun. Only the baseline row moved — which is the check that the rerun was sound.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04888" y="1965960"/>
            <a:ext cx="443484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97496" y="2212848"/>
            <a:ext cx="38404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1200"/>
              </a:spcAft>
            </a:pPr>
            <a:r>
              <a:rPr sz="1600" b="1" i="0">
                <a:solidFill>
                  <a:srgbClr val="0E1618"/>
                </a:solidFill>
                <a:latin typeface="Georgia"/>
              </a:rPr>
              <a:t>What the correction changed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97496" y="2743200"/>
          <a:ext cx="3840480" cy="1554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1143000"/>
                <a:gridCol w="11430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61767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E4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61767A"/>
                          </a:solidFill>
                          <a:latin typeface="Consolas"/>
                        </a:rPr>
                        <a:t>reused 70%</a:t>
                      </a:r>
                    </a:p>
                  </a:txBody>
                  <a:tcPr marL="82296" marR="82296" marT="27432" marB="27432" anchor="ctr">
                    <a:solidFill>
                      <a:srgbClr val="E4E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61767A"/>
                          </a:solidFill>
                          <a:latin typeface="Consolas"/>
                        </a:rPr>
                        <a:t>refit 80%</a:t>
                      </a:r>
                    </a:p>
                  </a:txBody>
                  <a:tcPr marL="82296" marR="82296" marT="27432" marB="27432" anchor="ctr">
                    <a:solidFill>
                      <a:srgbClr val="E4EAE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C40"/>
                          </a:solidFill>
                          <a:latin typeface="Calibri"/>
                        </a:rPr>
                        <a:t>AUPRC negative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C40"/>
                          </a:solidFill>
                          <a:latin typeface="Consolas"/>
                        </a:rPr>
                        <a:t>30/30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C40"/>
                          </a:solidFill>
                          <a:latin typeface="Consolas"/>
                        </a:rPr>
                        <a:t>30/30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C40"/>
                          </a:solidFill>
                          <a:latin typeface="Calibri"/>
                        </a:rPr>
                        <a:t>mean Δ AUPRC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C40"/>
                          </a:solidFill>
                          <a:latin typeface="Consolas"/>
                        </a:rPr>
                        <a:t>-0.0261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C40"/>
                          </a:solidFill>
                          <a:latin typeface="Consolas"/>
                        </a:rPr>
                        <a:t>-0.0277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C40"/>
                          </a:solidFill>
                          <a:latin typeface="Calibri"/>
                        </a:rPr>
                        <a:t>best Δ AUPRC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C40"/>
                          </a:solidFill>
                          <a:latin typeface="Consolas"/>
                        </a:rPr>
                        <a:t>-0.0031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C40"/>
                          </a:solidFill>
                          <a:latin typeface="Consolas"/>
                        </a:rPr>
                        <a:t>-0.0044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C40"/>
                          </a:solidFill>
                          <a:latin typeface="Calibri"/>
                        </a:rPr>
                        <a:t>mean Δ macro F1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C40"/>
                          </a:solidFill>
                          <a:latin typeface="Consolas"/>
                        </a:rPr>
                        <a:t>-0.0013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C40"/>
                          </a:solidFill>
                          <a:latin typeface="Consolas"/>
                        </a:rPr>
                        <a:t>-0.0023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97496" y="4434840"/>
            <a:ext cx="3840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2C3C40"/>
                </a:solidFill>
                <a:latin typeface="Calibri"/>
              </a:rPr>
              <a:t>Every delta moved slightly further against balancing. Nothing changed category — the conclusion is the same one, now without the handicap that was inflating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050" b="0" i="0">
                <a:solidFill>
                  <a:srgbClr val="61767A"/>
                </a:solidFill>
                <a:latin typeface="Consolas"/>
              </a:rPr>
              <a:t>CONCLUSION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0E1618"/>
                </a:solidFill>
                <a:latin typeface="Georgia"/>
              </a:rPr>
              <a:t>What we take from this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43584"/>
            <a:ext cx="10874959" cy="12700"/>
          </a:xfrm>
          <a:prstGeom prst="rect">
            <a:avLst/>
          </a:prstGeom>
          <a:solidFill>
            <a:srgbClr val="CDD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700" b="1" i="0">
                <a:solidFill>
                  <a:srgbClr val="0D6B6B"/>
                </a:solidFill>
                <a:latin typeface="Consolas"/>
              </a:rPr>
              <a:t>1   </a:t>
            </a:r>
            <a:r>
              <a:rPr sz="1700" b="1" i="0">
                <a:solidFill>
                  <a:srgbClr val="0E1618"/>
                </a:solidFill>
                <a:latin typeface="Georgia"/>
              </a:rPr>
              <a:t>Balancing is not a substitute for a threshold.</a:t>
            </a:r>
          </a:p>
          <a:p>
            <a:pPr algn="l">
              <a:lnSpc>
                <a:spcPct val="130000"/>
              </a:lnSpc>
              <a:spcAft>
                <a:spcPts val="1700"/>
              </a:spcAft>
            </a:pPr>
            <a:r>
              <a:rPr sz="1450" b="0" i="0">
                <a:solidFill>
                  <a:srgbClr val="2C3C40"/>
                </a:solidFill>
                <a:latin typeface="Calibri"/>
              </a:rPr>
              <a:t>     It reaches the same operating point by a more expensive route. Undersampling at 0.5 lands almost exactly where Youden's J landed — same positive rate, same recall — but the threshold gets there without retraining anything.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700" b="1" i="0">
                <a:solidFill>
                  <a:srgbClr val="0D6B6B"/>
                </a:solidFill>
                <a:latin typeface="Consolas"/>
              </a:rPr>
              <a:t>2   </a:t>
            </a:r>
            <a:r>
              <a:rPr sz="1700" b="1" i="0">
                <a:solidFill>
                  <a:srgbClr val="0E1618"/>
                </a:solidFill>
                <a:latin typeface="Georgia"/>
              </a:rPr>
              <a:t>Nothing here improved discrimination.</a:t>
            </a:r>
          </a:p>
          <a:p>
            <a:pPr algn="l">
              <a:lnSpc>
                <a:spcPct val="130000"/>
              </a:lnSpc>
              <a:spcAft>
                <a:spcPts val="1700"/>
              </a:spcAft>
            </a:pPr>
            <a:r>
              <a:rPr sz="1450" b="0" i="0">
                <a:solidFill>
                  <a:srgbClr val="2C3C40"/>
                </a:solidFill>
                <a:latin typeface="Calibri"/>
              </a:rPr>
              <a:t>     AUPRC fell in 30 of 30 comparisons and AUROC in 24. If the goal is a model that ranks patients better, resampling the training folds did not deliver it.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700" b="1" i="0">
                <a:solidFill>
                  <a:srgbClr val="0D6B6B"/>
                </a:solidFill>
                <a:latin typeface="Consolas"/>
              </a:rPr>
              <a:t>3   </a:t>
            </a:r>
            <a:r>
              <a:rPr sz="1700" b="1" i="0">
                <a:solidFill>
                  <a:srgbClr val="0E1618"/>
                </a:solidFill>
                <a:latin typeface="Georgia"/>
              </a:rPr>
              <a:t>Choose the operating point explicitly instead.</a:t>
            </a:r>
          </a:p>
          <a:p>
            <a:pPr algn="l">
              <a:lnSpc>
                <a:spcPct val="130000"/>
              </a:lnSpc>
              <a:spcAft>
                <a:spcPts val="1700"/>
              </a:spcAft>
            </a:pPr>
            <a:r>
              <a:rPr sz="1450" b="0" i="0">
                <a:solidFill>
                  <a:srgbClr val="2C3C40"/>
                </a:solidFill>
                <a:latin typeface="Calibri"/>
              </a:rPr>
              <a:t>     Since the ranking is what it is, the honest lever is the threshold — chosen on validation data for a stated clinical cost ratio, and reported as such.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700" b="1" i="0">
                <a:solidFill>
                  <a:srgbClr val="0D6B6B"/>
                </a:solidFill>
                <a:latin typeface="Consolas"/>
              </a:rPr>
              <a:t>4   </a:t>
            </a:r>
            <a:r>
              <a:rPr sz="1700" b="1" i="0">
                <a:solidFill>
                  <a:srgbClr val="0E1618"/>
                </a:solidFill>
                <a:latin typeface="Georgia"/>
              </a:rPr>
              <a:t>Report threshold-free metrics alongside any balanced result.</a:t>
            </a:r>
          </a:p>
          <a:p>
            <a:pPr algn="l">
              <a:lnSpc>
                <a:spcPct val="130000"/>
              </a:lnSpc>
              <a:spcAft>
                <a:spcPts val="1700"/>
              </a:spcAft>
            </a:pPr>
            <a:r>
              <a:rPr sz="1450" b="0" i="0">
                <a:solidFill>
                  <a:srgbClr val="2C3C40"/>
                </a:solidFill>
                <a:latin typeface="Calibri"/>
              </a:rPr>
              <a:t>     Recall and balanced accuracy alone would have made all three strategies look like successes. AUPRC is what separates a better classifier from a relabelled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5852160"/>
            <a:ext cx="10874959" cy="12700"/>
          </a:xfrm>
          <a:prstGeom prst="rect">
            <a:avLst/>
          </a:prstGeom>
          <a:solidFill>
            <a:srgbClr val="CDD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03504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61767A"/>
                </a:solidFill>
                <a:latin typeface="Consolas"/>
              </a:rPr>
              <a:t>Full tables and figures: paper_figures/balance/ — balance_comparison.csv, balance_deltas.csv, balance_report.html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