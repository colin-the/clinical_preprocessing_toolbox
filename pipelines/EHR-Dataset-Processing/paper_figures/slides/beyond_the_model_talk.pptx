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ICU stays retained</c:v>
                </c:pt>
              </c:strCache>
            </c:strRef>
          </c:tx>
          <c:dPt>
            <c:idx val="0"/>
            <c:spPr>
              <a:solidFill>
                <a:srgbClr val="0D6B6B"/>
              </a:solidFill>
            </c:spPr>
          </c:dPt>
          <c:dPt>
            <c:idx val="1"/>
            <c:spPr>
              <a:solidFill>
                <a:srgbClr val="A4552B"/>
              </a:solidFill>
            </c:spPr>
          </c:dPt>
          <c:dPt>
            <c:idx val="2"/>
            <c:spPr>
              <a:solidFill>
                <a:srgbClr val="A4552B"/>
              </a:solidFill>
            </c:spPr>
          </c:dPt>
          <c:dPt>
            <c:idx val="3"/>
            <c:spPr>
              <a:solidFill>
                <a:srgbClr val="A4552B"/>
              </a:solidFill>
            </c:spPr>
          </c:dPt>
          <c:cat>
            <c:strRef>
              <c:f>Sheet1!$A$2:$A$5</c:f>
              <c:strCache>
                <c:ptCount val="4"/>
                <c:pt idx="0">
                  <c:v>all 10 value- and feature-level arms</c:v>
                </c:pt>
                <c:pt idx="1">
                  <c:v>long missing segment</c:v>
                </c:pt>
                <c:pt idx="2">
                  <c:v>long gap</c:v>
                </c:pt>
                <c:pt idx="3">
                  <c:v>high invalid data</c:v>
                </c:pt>
              </c:strCache>
            </c:strRef>
          </c:cat>
          <c:val>
            <c:numRef>
              <c:f>Sheet1!$B$2:$B$5</c:f>
              <c:numCache>
                <c:formatCode>#,##0</c:formatCode>
                <c:ptCount val="4"/>
                <c:pt idx="0">
                  <c:v>46032</c:v>
                </c:pt>
                <c:pt idx="1">
                  <c:v>31029</c:v>
                </c:pt>
                <c:pt idx="2">
                  <c:v>20323</c:v>
                </c:pt>
                <c:pt idx="3">
                  <c:v>1369</c:v>
                </c:pt>
              </c:numCache>
            </c:numRef>
          </c:val>
        </c:ser>
        <c:dLbls>
          <c:numFmt formatCode="#,##0" sourceLinked="0"/>
          <c:txPr>
            <a:bodyPr/>
            <a:lstStyle/>
            <a:p>
              <a:pPr>
                <a:defRPr sz="1200" b="1"/>
              </a:pPr>
            </a:p>
          </c:txPr>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solidFill>
            <a:srgbClr val="2C3C4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readings removed</c:v>
                </c:pt>
              </c:strCache>
            </c:strRef>
          </c:tx>
          <c:spPr>
            <a:solidFill>
              <a:srgbClr val="0D6B6B"/>
            </a:solidFill>
          </c:spPr>
          <c:cat>
            <c:strRef>
              <c:f>Sheet1!$A$2:$A$8</c:f>
              <c:strCache>
                <c:ptCount val="7"/>
                <c:pt idx="0">
                  <c:v>heart rate</c:v>
                </c:pt>
                <c:pt idx="1">
                  <c:v>systolic BP</c:v>
                </c:pt>
                <c:pt idx="2">
                  <c:v>diastolic BP</c:v>
                </c:pt>
                <c:pt idx="3">
                  <c:v>mean BP</c:v>
                </c:pt>
                <c:pt idx="4">
                  <c:v>respiration rate</c:v>
                </c:pt>
                <c:pt idx="5">
                  <c:v>temperature</c:v>
                </c:pt>
                <c:pt idx="6">
                  <c:v>oxygen saturation</c:v>
                </c:pt>
              </c:strCache>
            </c:strRef>
          </c:cat>
          <c:val>
            <c:numRef>
              <c:f>Sheet1!$B$2:$B$8</c:f>
              <c:numCache>
                <c:formatCode>#,##0</c:formatCode>
                <c:ptCount val="7"/>
                <c:pt idx="0">
                  <c:v>790</c:v>
                </c:pt>
                <c:pt idx="1">
                  <c:v>4767</c:v>
                </c:pt>
                <c:pt idx="2">
                  <c:v>2547</c:v>
                </c:pt>
                <c:pt idx="3">
                  <c:v>2982</c:v>
                </c:pt>
                <c:pt idx="4">
                  <c:v>8612</c:v>
                </c:pt>
                <c:pt idx="5">
                  <c:v>1385</c:v>
                </c:pt>
                <c:pt idx="6">
                  <c:v>847</c:v>
                </c:pt>
              </c:numCache>
            </c:numRef>
          </c:val>
        </c:ser>
        <c:gapWidth val="55"/>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solidFill>
            <a:srgbClr val="2C3C4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Prolonged ICU stay</c:v>
                </c:pt>
              </c:strCache>
            </c:strRef>
          </c:tx>
          <c:spPr>
            <a:solidFill>
              <a:srgbClr val="0D6B6B"/>
            </a:solidFill>
          </c:spPr>
          <c:cat>
            <c:strRef>
              <c:f>Sheet1!$A$2:$A$5</c:f>
              <c:strCache>
                <c:ptCount val="4"/>
                <c:pt idx="0">
                  <c:v>all 10 value- and feature-level arms</c:v>
                </c:pt>
                <c:pt idx="1">
                  <c:v>long missing segment</c:v>
                </c:pt>
                <c:pt idx="2">
                  <c:v>long gap</c:v>
                </c:pt>
                <c:pt idx="3">
                  <c:v>high invalid data</c:v>
                </c:pt>
              </c:strCache>
            </c:strRef>
          </c:cat>
          <c:val>
            <c:numRef>
              <c:f>Sheet1!$B$2:$B$5</c:f>
              <c:numCache>
                <c:formatCode>0.0%</c:formatCode>
                <c:ptCount val="4"/>
                <c:pt idx="0">
                  <c:v>0.3752172401807438</c:v>
                </c:pt>
                <c:pt idx="1">
                  <c:v>0.38757291565954427</c:v>
                </c:pt>
                <c:pt idx="2">
                  <c:v>0.5023372533582641</c:v>
                </c:pt>
                <c:pt idx="3">
                  <c:v>0.6055514974433893</c:v>
                </c:pt>
              </c:numCache>
            </c:numRef>
          </c:val>
        </c:ser>
        <c:ser>
          <c:idx val="1"/>
          <c:order val="1"/>
          <c:tx>
            <c:strRef>
              <c:f>Sheet1!$C$1</c:f>
              <c:strCache>
                <c:ptCount val="1"/>
                <c:pt idx="0">
                  <c:v>In-hospital mortality</c:v>
                </c:pt>
              </c:strCache>
            </c:strRef>
          </c:tx>
          <c:spPr>
            <a:solidFill>
              <a:srgbClr val="A4552B"/>
            </a:solidFill>
          </c:spPr>
          <c:cat>
            <c:strRef>
              <c:f>Sheet1!$A$2:$A$5</c:f>
              <c:strCache>
                <c:ptCount val="4"/>
                <c:pt idx="0">
                  <c:v>all 10 value- and feature-level arms</c:v>
                </c:pt>
                <c:pt idx="1">
                  <c:v>long missing segment</c:v>
                </c:pt>
                <c:pt idx="2">
                  <c:v>long gap</c:v>
                </c:pt>
                <c:pt idx="3">
                  <c:v>high invalid data</c:v>
                </c:pt>
              </c:strCache>
            </c:strRef>
          </c:cat>
          <c:val>
            <c:numRef>
              <c:f>Sheet1!$C$2:$C$5</c:f>
              <c:numCache>
                <c:formatCode>0.0%</c:formatCode>
                <c:ptCount val="4"/>
                <c:pt idx="0">
                  <c:v>0.0965632603406326</c:v>
                </c:pt>
                <c:pt idx="1">
                  <c:v>0.10171130233007832</c:v>
                </c:pt>
                <c:pt idx="2">
                  <c:v>0.10898981449589136</c:v>
                </c:pt>
                <c:pt idx="3">
                  <c:v>0.19430241051862673</c:v>
                </c:pt>
              </c:numCache>
            </c:numRef>
          </c:val>
        </c:ser>
        <c:gapWidth val="6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numFmt formatCode="0%" sourceLinked="0"/>
        <c:majorTickMark val="out"/>
        <c:minorTickMark val="none"/>
        <c:tickLblPos val="nextTo"/>
        <c:crossAx val="-2068027336"/>
        <c:crosses val="autoZero"/>
      </c:valAx>
    </c:plotArea>
    <c:legend>
      <c:legendPos val="t"/>
      <c:overlay val="0"/>
    </c:legend>
    <c:dispBlanksAs val="gap"/>
  </c:chart>
  <c:txPr>
    <a:bodyPr/>
    <a:lstStyle/>
    <a:p>
      <a:pPr>
        <a:defRPr sz="1100">
          <a:solidFill>
            <a:srgbClr val="2C3C4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Talk is about preprocessing, not models. Nobody needs to have read the paper.</a:t>
            </a:r>
          </a:p>
          <a:p>
            <a:pPr>
              <a:spcAft>
                <a:spcPts val="700"/>
              </a:spcAft>
            </a:pPr>
            <a:r>
              <a:rPr sz="1300">
                <a:latin typeface="Calibri"/>
              </a:rPr>
              <a:t>— One sentence of framing: every clinical ML paper opens with a filtering pipeline, and almost none of them report what the pipeline removed.</a:t>
            </a:r>
          </a:p>
          <a:p>
            <a:pPr>
              <a:spcAft>
                <a:spcPts val="700"/>
              </a:spcAft>
            </a:pPr>
            <a:r>
              <a:rPr sz="1300">
                <a:latin typeface="Calibri"/>
              </a:rPr>
              <a:t>— Two co-first authors; work is a Guelph / St. Joe's Hamilton collaboration.</a:t>
            </a:r>
          </a:p>
          <a:p>
            <a:pPr>
              <a:spcAft>
                <a:spcPts val="700"/>
              </a:spcAft>
            </a:pPr>
            <a:r>
              <a:rPr sz="1300">
                <a:latin typeface="Calibri"/>
              </a:rPr>
              <a:t>— Set expectation: I will show you the paper's result in about six minutes, then spend the rest on the part we could not fit in eight pages.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Core argument in one line: a filter that selects on values cannot be distribution-neutral. That is arithmetic, not an empirical claim.</a:t>
            </a:r>
          </a:p>
          <a:p>
            <a:pPr>
              <a:spcAft>
                <a:spcPts val="700"/>
              </a:spcAft>
            </a:pPr>
            <a:r>
              <a:rPr sz="1300">
                <a:latin typeface="Calibri"/>
              </a:rPr>
              <a:t>— Left panel: the failure mode is a benchmark that gets easier. If you are allowed unlimited preprocessing you can drive accuracy anywhere you like.</a:t>
            </a:r>
          </a:p>
          <a:p>
            <a:pPr>
              <a:spcAft>
                <a:spcPts val="700"/>
              </a:spcAft>
            </a:pPr>
            <a:r>
              <a:rPr sz="1300">
                <a:latin typeface="Calibri"/>
              </a:rPr>
              <a:t>— Middle panel: preview of a result — same 168 features, same patients, two labels, and filters that move the two in opposite directions.</a:t>
            </a:r>
          </a:p>
          <a:p>
            <a:pPr>
              <a:spcAft>
                <a:spcPts val="700"/>
              </a:spcAft>
            </a:pPr>
            <a:r>
              <a:rPr sz="1300">
                <a:latin typeface="Calibri"/>
              </a:rPr>
              <a:t>— Right panel: standardised pipelines (MIMIC-Extract, the benchmark suites) fix preprocessing so studies are comparable — which is a different goal from knowing what the preprocessing did.</a:t>
            </a:r>
          </a:p>
          <a:p>
            <a:pPr>
              <a:spcAft>
                <a:spcPts val="700"/>
              </a:spcAft>
            </a:pPr>
            <a:r>
              <a:rPr sz="1300">
                <a:latin typeface="Calibri"/>
              </a:rPr>
              <a:t>— Land the framing question. Everything after this is evidence for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Cohort: every admission with vitals in the first 24 hours; 46,032 stays.</a:t>
            </a:r>
          </a:p>
          <a:p>
            <a:pPr>
              <a:spcAft>
                <a:spcPts val="700"/>
              </a:spcAft>
            </a:pPr>
            <a:r>
              <a:rPr sz="1300">
                <a:latin typeface="Calibri"/>
              </a:rPr>
              <a:t>— Feature vector is deliberately dumb — flatten the 24×7 grid to 168 numbers. A forest does not care about hour ordering, and the point of the study is the preprocessing, not the architecture.</a:t>
            </a:r>
          </a:p>
          <a:p>
            <a:pPr>
              <a:spcAft>
                <a:spcPts val="700"/>
              </a:spcAft>
            </a:pPr>
            <a:r>
              <a:rPr sz="1300">
                <a:latin typeface="Calibri"/>
              </a:rPr>
              <a:t>— Two tasks chosen because they have very different base rates: ~37% vs ~10%. Mention that mortality being at 10% is why the threshold matters.</a:t>
            </a:r>
          </a:p>
          <a:p>
            <a:pPr>
              <a:spcAft>
                <a:spcPts val="700"/>
              </a:spcAft>
            </a:pPr>
            <a:r>
              <a:rPr sz="1300">
                <a:latin typeface="Calibri"/>
              </a:rPr>
              <a:t>— The design detail that makes everything downstream legitimate: the cross-validation partition is drawn ONCE on the unfiltered cohort and keyed on admission id. Every filtered arm inherits the fold each patient was in. Arms are therefore paired by construction — that is what licenses McNemar.</a:t>
            </a:r>
          </a:p>
          <a:p>
            <a:pPr>
              <a:spcAft>
                <a:spcPts val="700"/>
              </a:spcAft>
            </a:pPr>
            <a:r>
              <a:rPr sz="1300">
                <a:latin typeface="Calibri"/>
              </a:rPr>
              <a:t>— Youden's J on an inner split, never on test. Mention in one sentence: it picks the operating point that maximises sensitivity + specificity − 1, and in our experiments it did about as well as SMOTE or oversampling.</a:t>
            </a:r>
          </a:p>
          <a:p>
            <a:pPr>
              <a:spcAft>
                <a:spcPts val="700"/>
              </a:spcAft>
            </a:pPr>
            <a:r>
              <a:rPr sz="1300">
                <a:latin typeface="Calibri"/>
              </a:rPr>
              <a:t>— Each filter is applied to the raw data independently — they are not stacked.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Do not read the table out. Point at the Level column — that is the only column that matters for the rest of the talk.</a:t>
            </a:r>
          </a:p>
          <a:p>
            <a:pPr>
              <a:spcAft>
                <a:spcPts val="700"/>
              </a:spcAft>
            </a:pPr>
            <a:r>
              <a:rPr sz="1300">
                <a:latin typeface="Calibri"/>
              </a:rPr>
              <a:t>— Seven per-vital range filters: physiologically implausible readings only. The bounds are deliberately loose, not tight. Heart rate up to 600 because ventricular fibrillation genuinely reaches ~500 bpm and we want to keep it. We are removing sensor artifacts, not unusual patients.</a:t>
            </a:r>
          </a:p>
          <a:p>
            <a:pPr>
              <a:spcAft>
                <a:spcPts val="700"/>
              </a:spcAft>
            </a:pPr>
            <a:r>
              <a:rPr sz="1300">
                <a:latin typeface="Calibri"/>
              </a:rPr>
              <a:t>— All vitals = union of the seven; it is the composite arm.</a:t>
            </a:r>
          </a:p>
          <a:p>
            <a:pPr>
              <a:spcAft>
                <a:spcPts val="700"/>
              </a:spcAft>
            </a:pPr>
            <a:r>
              <a:rPr sz="1300">
                <a:latin typeface="Calibri"/>
              </a:rPr>
              <a:t>— Fill missing data is its own category — it edits cells, never patients.</a:t>
            </a:r>
          </a:p>
          <a:p>
            <a:pPr>
              <a:spcAft>
                <a:spcPts val="700"/>
              </a:spcAft>
            </a:pPr>
            <a:r>
              <a:rPr sz="1300">
                <a:latin typeface="Calibri"/>
              </a:rPr>
              <a:t>— The three record-level filters are the ones inherited straight from generic ML practice: if a row looks incomplete, drop the row.</a:t>
            </a:r>
          </a:p>
          <a:p>
            <a:pPr>
              <a:spcAft>
                <a:spcPts val="700"/>
              </a:spcAft>
            </a:pPr>
            <a:r>
              <a:rPr sz="1300">
                <a:latin typeface="Calibri"/>
              </a:rPr>
              <a:t>— Flag the asymmetry: the value filters have physiological justification. The record filters have only a data-tidiness justification.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Start here so nobody thinks the paper is anti-filtering. It is not. The raw data contains values that are physically impossible.</a:t>
            </a:r>
          </a:p>
          <a:p>
            <a:pPr>
              <a:spcAft>
                <a:spcPts val="700"/>
              </a:spcAft>
            </a:pPr>
            <a:r>
              <a:rPr sz="1300">
                <a:latin typeface="Calibri"/>
              </a:rPr>
              <a:t>— Table III walks the heart-rate column: raw readings, then after the range filter, then the same two after mean-aggregating to one number per patient-hour.</a:t>
            </a:r>
          </a:p>
          <a:p>
            <a:pPr>
              <a:spcAft>
                <a:spcPts val="700"/>
              </a:spcAft>
            </a:pPr>
            <a:r>
              <a:rPr sz="1300">
                <a:latin typeface="Calibri"/>
              </a:rPr>
              <a:t>— The number to say out loud: 507 readings removed out of 1,158,296 — four hundredths of one percent — and the standard deviation collapses from 9,291 to 24. That is a value-level filter doing exactly what it should.</a:t>
            </a:r>
          </a:p>
          <a:p>
            <a:pPr>
              <a:spcAft>
                <a:spcPts val="700"/>
              </a:spcAft>
            </a:pPr>
            <a:r>
              <a:rPr sz="1300">
                <a:latin typeface="Calibri"/>
              </a:rPr>
              <a:t>— Heatmap: mean number of measurements per vital per hour. Heart rate is monitored continuously; temperature is spot-checked. Roughly 4x difference.</a:t>
            </a:r>
          </a:p>
          <a:p>
            <a:pPr>
              <a:spcAft>
                <a:spcPts val="700"/>
              </a:spcAft>
            </a:pPr>
            <a:r>
              <a:rPr sz="1300">
                <a:latin typeface="Calibri"/>
              </a:rPr>
              <a:t>— Consequence to state: a fixed rule applied to all seven vitals lands unevenly. And the sparser the vital, the more each removed reading costs — if a lab is drawn twice a stay, dropping one is dropping half the signal.</a:t>
            </a:r>
          </a:p>
          <a:p>
            <a:pPr>
              <a:spcAft>
                <a:spcPts val="700"/>
              </a:spcAft>
            </a:pPr>
            <a:r>
              <a:rPr sz="1300">
                <a:latin typeface="Calibri"/>
              </a:rPr>
              <a:t>— Bridge: so filtering is necessary and it is not neutral. How do we tell the two apart?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This is the paper's first diagnostic: compute a per-vital centroid for each outcome class, before and after the filter, and plot the difference.</a:t>
            </a:r>
          </a:p>
          <a:p>
            <a:pPr>
              <a:spcAft>
                <a:spcPts val="700"/>
              </a:spcAft>
            </a:pPr>
            <a:r>
              <a:rPr sz="1300">
                <a:latin typeface="Calibri"/>
              </a:rPr>
              <a:t>— Explain the one-sidedness in a sentence: implausible values cluster at one end of a distribution, so trimming them is not a symmetric operation.</a:t>
            </a:r>
          </a:p>
          <a:p>
            <a:pPr>
              <a:spcAft>
                <a:spcPts val="700"/>
              </a:spcAft>
            </a:pPr>
            <a:r>
              <a:rPr sz="1300">
                <a:latin typeface="Calibri"/>
              </a:rPr>
              <a:t>— Heart rate and SpO2 dominate — consistent with Table III on the last slide.</a:t>
            </a:r>
          </a:p>
          <a:p>
            <a:pPr>
              <a:spcAft>
                <a:spcPts val="700"/>
              </a:spcAft>
            </a:pPr>
            <a:r>
              <a:rPr sz="1300">
                <a:latin typeface="Calibri"/>
              </a:rPr>
              <a:t>— The key reading skill: look ACROSS the four bars within one vital, not at the height of any single bar. Common movement is fine. Divergent movement means the filter is doing something class-dependent.</a:t>
            </a:r>
          </a:p>
          <a:p>
            <a:pPr>
              <a:spcAft>
                <a:spcPts val="700"/>
              </a:spcAft>
            </a:pPr>
            <a:r>
              <a:rPr sz="1300">
                <a:latin typeface="Calibri"/>
              </a:rPr>
              <a:t>— For all-vitals specifically, the movement is largely common — which is the signature of legitimate artifact removal. Contrast is coming.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Same model, same folds, same patients wherever the arm allows it. The only thing that changes between bars is which filter was applied.</a:t>
            </a:r>
          </a:p>
          <a:p>
            <a:pPr>
              <a:spcAft>
                <a:spcPts val="700"/>
              </a:spcAft>
            </a:pPr>
            <a:r>
              <a:rPr sz="1300">
                <a:latin typeface="Calibri"/>
              </a:rPr>
              <a:t>— Point out that bars go both ways. Filtering is not monotonically good or bad.</a:t>
            </a:r>
          </a:p>
          <a:p>
            <a:pPr>
              <a:spcAft>
                <a:spcPts val="700"/>
              </a:spcAft>
            </a:pPr>
            <a:r>
              <a:rPr sz="1300">
                <a:latin typeface="Calibri"/>
              </a:rPr>
              <a:t>— Best and worst arm for mortality accuracy: fill missing data at +0.0406, long missing segment at -0.0359.</a:t>
            </a:r>
          </a:p>
          <a:p>
            <a:pPr>
              <a:spcAft>
                <a:spcPts val="700"/>
              </a:spcAft>
            </a:pPr>
            <a:r>
              <a:rPr sz="1300">
                <a:latin typeface="Calibri"/>
              </a:rPr>
              <a:t>— The uncomfortable comparison to make out loud: that spread is the same order as the improvements papers claim from new architectures. If two groups pick different filters, the model comparison between them is partly a preprocessing comparison.</a:t>
            </a:r>
          </a:p>
          <a:p>
            <a:pPr>
              <a:spcAft>
                <a:spcPts val="700"/>
              </a:spcAft>
            </a:pPr>
            <a:r>
              <a:rPr sz="1300">
                <a:latin typeface="Calibri"/>
              </a:rPr>
              <a:t>— Do NOT yet explain why the record-level bars behave the way they do — that is slides 9 through 12. Just flag that they are the big 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Two tasks, one feature space, one preprocessing pipeline. They still disagree about which filters help.</a:t>
            </a:r>
          </a:p>
          <a:p>
            <a:pPr>
              <a:spcAft>
                <a:spcPts val="700"/>
              </a:spcAft>
            </a:pPr>
            <a:r>
              <a:rPr sz="1300">
                <a:latin typeface="Calibri"/>
              </a:rPr>
              <a:t>— 5 of the nine non-record arms flip sign between the two tasks. Read one or two off the table.</a:t>
            </a:r>
          </a:p>
          <a:p>
            <a:pPr>
              <a:spcAft>
                <a:spcPts val="700"/>
              </a:spcAft>
            </a:pPr>
            <a:r>
              <a:rPr sz="1300">
                <a:latin typeface="Calibri"/>
              </a:rPr>
              <a:t>— Mechanism: the filters do not know the label. They remove artifacts wherever the artifacts are. Whether that helps depends on whether the artifacts were accidentally carrying class information.</a:t>
            </a:r>
          </a:p>
          <a:p>
            <a:pPr>
              <a:spcAft>
                <a:spcPts val="700"/>
              </a:spcAft>
            </a:pPr>
            <a:r>
              <a:rPr sz="1300">
                <a:latin typeface="Calibri"/>
              </a:rPr>
              <a:t>— Clinical point worth making explicitly: even where the all-vitals filter costs a little accuracy on the ICU task, you still want it. A deployed model must never key a decision on a physiologically impossible value. Benchmark accuracy is not the only objective.</a:t>
            </a:r>
          </a:p>
          <a:p>
            <a:pPr>
              <a:spcAft>
                <a:spcPts val="700"/>
              </a:spcAft>
            </a:pPr>
            <a:r>
              <a:rPr sz="1300">
                <a:latin typeface="Calibri"/>
              </a:rPr>
              <a:t>— This is the last of the paper's published results. Transition line: all of this is measured on datasets of very different sizes — and the paper never had room to say how different.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This is the slide the talk exists for. Pause on it.</a:t>
            </a:r>
          </a:p>
          <a:p>
            <a:pPr>
              <a:spcAft>
                <a:spcPts val="700"/>
              </a:spcAft>
            </a:pPr>
            <a:r>
              <a:rPr sz="1300">
                <a:latin typeface="Calibri"/>
              </a:rPr>
              <a:t>— Left number first: the seven per-vital filters, the all-vitals composite and the imputation arm remove zero patients between them. Not 'few'. Zero.</a:t>
            </a:r>
          </a:p>
          <a:p>
            <a:pPr>
              <a:spcAft>
                <a:spcPts val="700"/>
              </a:spcAft>
            </a:pPr>
            <a:r>
              <a:rPr sz="1300">
                <a:latin typeface="Calibri"/>
              </a:rPr>
              <a:t>— Then the three record-level filters: 15,003 / 25,709 / 44,663 stays deleted out of 46,032.</a:t>
            </a:r>
          </a:p>
          <a:p>
            <a:pPr>
              <a:spcAft>
                <a:spcPts val="700"/>
              </a:spcAft>
            </a:pPr>
            <a:r>
              <a:rPr sz="1300">
                <a:latin typeface="Calibri"/>
              </a:rPr>
              <a:t>— High invalid data keeps 1,369 patients — under 3% of the cohort.</a:t>
            </a:r>
          </a:p>
          <a:p>
            <a:pPr>
              <a:spcAft>
                <a:spcPts val="700"/>
              </a:spcAft>
            </a:pPr>
            <a:r>
              <a:rPr sz="1300">
                <a:latin typeface="Calibri"/>
              </a:rPr>
              <a:t>— Make the threshold point carefully, because it is counter-intuitive: the rule is 'drop a record if more than 10% of its 168 cells are blank or zero'. On paper that sounds permissive. In ICU data, where temperature is spot-checked and any given vital is silent for hours at a time, almost every real record fails it.</a:t>
            </a:r>
          </a:p>
          <a:p>
            <a:pPr>
              <a:spcAft>
                <a:spcPts val="700"/>
              </a:spcAft>
            </a:pPr>
            <a:r>
              <a:rPr sz="1300">
                <a:latin typeface="Calibri"/>
              </a:rPr>
              <a:t>— Nobody writing that filter intends to delete 97% of their data. The threshold looks conservative and the outcome is not — which is exactly why it has to be measured rather than reasoned about.</a:t>
            </a:r>
          </a:p>
          <a:p>
            <a:pPr>
              <a:spcAft>
                <a:spcPts val="700"/>
              </a:spcAft>
            </a:pPr>
            <a:r>
              <a:rPr sz="1300">
                <a:latin typeface="Calibri"/>
              </a:rPr>
              <a:t>— Bridge: so what were the value-level filters doing all this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Total readings across the seven vitals: 6,685,415. Removed: 21,930.</a:t>
            </a:r>
          </a:p>
          <a:p>
            <a:pPr>
              <a:spcAft>
                <a:spcPts val="700"/>
              </a:spcAft>
            </a:pPr>
            <a:r>
              <a:rPr sz="1300">
                <a:latin typeface="Calibri"/>
              </a:rPr>
              <a:t>— Respiration rate and systolic BP dominate — those are the channels where implausible values are actually charted.</a:t>
            </a:r>
          </a:p>
          <a:p>
            <a:pPr>
              <a:spcAft>
                <a:spcPts val="700"/>
              </a:spcAft>
            </a:pPr>
            <a:r>
              <a:rPr sz="1300">
                <a:latin typeface="Calibri"/>
              </a:rPr>
              <a:t>— The seven per-vital counts sum exactly to the all-vitals total; the build asserts that, so the accounting is complete.</a:t>
            </a:r>
          </a:p>
          <a:p>
            <a:pPr>
              <a:spcAft>
                <a:spcPts val="700"/>
              </a:spcAft>
            </a:pPr>
            <a:r>
              <a:rPr sz="1300">
                <a:latin typeface="Calibri"/>
              </a:rPr>
              <a:t>— The comparison to land: three hundredths of one percent of readings versus up to 97% of patients. These are not the same kind of operation, and a methods section that lists them in one sentence hides that.</a:t>
            </a:r>
          </a:p>
          <a:p>
            <a:pPr>
              <a:spcAft>
                <a:spcPts val="700"/>
              </a:spcAft>
            </a:pPr>
            <a:r>
              <a:rPr sz="1300">
                <a:latin typeface="Calibri"/>
              </a:rPr>
              <a:t>— If asked about the per-vital differences: it tracks how the vital is measured and charted, not how noisy the physiology 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This is the mechanism slide. Take it slowly.</a:t>
            </a:r>
          </a:p>
          <a:p>
            <a:pPr>
              <a:spcAft>
                <a:spcPts val="700"/>
              </a:spcAft>
            </a:pPr>
            <a:r>
              <a:rPr sz="1300">
                <a:latin typeface="Calibri"/>
              </a:rPr>
              <a:t>— The record filters select on data density: a record survives if it was monitored densely and continuously.</a:t>
            </a:r>
          </a:p>
          <a:p>
            <a:pPr>
              <a:spcAft>
                <a:spcPts val="700"/>
              </a:spcAft>
            </a:pPr>
            <a:r>
              <a:rPr sz="1300">
                <a:latin typeface="Calibri"/>
              </a:rPr>
              <a:t>— In an ICU, monitoring density is not random. It tracks acuity, and gaps track transfers, imaging, theatre — things that happen to sicker patients.</a:t>
            </a:r>
          </a:p>
          <a:p>
            <a:pPr>
              <a:spcAft>
                <a:spcPts val="700"/>
              </a:spcAft>
            </a:pPr>
            <a:r>
              <a:rPr sz="1300">
                <a:latin typeface="Calibri"/>
              </a:rPr>
              <a:t>— So filtering for complete records is, in effect, filtering on the outcome. Missingness here is informative — MNAR in the standard terminology — and complete-case analysis on MNAR data is selection bias.</a:t>
            </a:r>
          </a:p>
          <a:p>
            <a:pPr>
              <a:spcAft>
                <a:spcPts val="700"/>
              </a:spcAft>
            </a:pPr>
            <a:r>
              <a:rPr sz="1300">
                <a:latin typeface="Calibri"/>
              </a:rPr>
              <a:t>— Numbers: ICU prevalence 37.5% → 60.6%. Mortality 9.7% → 19.4%.</a:t>
            </a:r>
          </a:p>
          <a:p>
            <a:pPr>
              <a:spcAft>
                <a:spcPts val="700"/>
              </a:spcAft>
            </a:pPr>
            <a:r>
              <a:rPr sz="1300">
                <a:latin typeface="Calibri"/>
              </a:rPr>
              <a:t>— The ICU one is the striking one: the positive class goes from minority to majority. Any metric with a base rate in it is now measuring a different thing.</a:t>
            </a:r>
          </a:p>
          <a:p>
            <a:pPr>
              <a:spcAft>
                <a:spcPts val="700"/>
              </a:spcAft>
            </a:pPr>
            <a:r>
              <a:rPr sz="1300">
                <a:latin typeface="Calibri"/>
              </a:rPr>
              <a:t>— Note the direction is the opposite of naive intuition — you might expect dropping incomplete records to remove the sickest patients. It enriches for them, because sick patients get watched more closely.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This is the caveat slide, and it is the strongest evidence in the talk for the whole argument.</a:t>
            </a:r>
          </a:p>
          <a:p>
            <a:pPr>
              <a:spcAft>
                <a:spcPts val="700"/>
              </a:spcAft>
            </a:pPr>
            <a:r>
              <a:rPr sz="1300">
                <a:latin typeface="Calibri"/>
              </a:rPr>
              <a:t>— Two columns. The first is what our Figure 5 plots: each arm against the baseline's score on all 46,032 patients. The second scores the baseline on exactly the patients that arm kept, so the record set is identical.</a:t>
            </a:r>
          </a:p>
          <a:p>
            <a:pPr>
              <a:spcAft>
                <a:spcPts val="700"/>
              </a:spcAft>
            </a:pPr>
            <a:r>
              <a:rPr sz="1300">
                <a:latin typeface="Calibri"/>
              </a:rPr>
              <a:t>— For the value-level arms the two agree to four decimals — as they must, because the cohorts are the same. That is the control.</a:t>
            </a:r>
          </a:p>
          <a:p>
            <a:pPr>
              <a:spcAft>
                <a:spcPts val="700"/>
              </a:spcAft>
            </a:pPr>
            <a:r>
              <a:rPr sz="1300">
                <a:latin typeface="Calibri"/>
              </a:rPr>
              <a:t>— For the three record-level arms the sign flips. Read as plotted, they look like the filters that damage mortality prediction most. Measured on their own survivors, all three improve it.</a:t>
            </a:r>
          </a:p>
          <a:p>
            <a:pPr>
              <a:spcAft>
                <a:spcPts val="700"/>
              </a:spcAft>
            </a:pPr>
            <a:r>
              <a:rPr sz="1300">
                <a:latin typeface="Calibri"/>
              </a:rPr>
              <a:t>— High invalid data: +0.198 on the patients it kept. The baseline manages 0.511 on those same 1,369 patients against 0.687 across the cohort — they are a genuinely harder subgroup, consistent with the prevalence doubling.</a:t>
            </a:r>
          </a:p>
          <a:p>
            <a:pPr>
              <a:spcAft>
                <a:spcPts val="700"/>
              </a:spcAft>
            </a:pPr>
            <a:r>
              <a:rPr sz="1300">
                <a:latin typeface="Calibri"/>
              </a:rPr>
              <a:t>— So the plotted +0.0009 is two large effects cancelling. Nothing about it is a statement about the filter.</a:t>
            </a:r>
          </a:p>
          <a:p>
            <a:pPr>
              <a:spcAft>
                <a:spcPts val="700"/>
              </a:spcAft>
            </a:pPr>
            <a:r>
              <a:rPr sz="1300">
                <a:latin typeface="Calibri"/>
              </a:rPr>
              <a:t>— Precision point if pressed: the two columns come from different prediction rules — the plotted one uses per-fold thresholds, the paired one a consensus vector — so compare delta with delta, not delta with absolute. The like-for-like comparison inside each column is what carries the argument.</a:t>
            </a:r>
          </a:p>
          <a:p>
            <a:pPr>
              <a:spcAft>
                <a:spcPts val="700"/>
              </a:spcAft>
            </a:pPr>
            <a:r>
              <a:rPr sz="1300">
                <a:latin typeface="Calibri"/>
              </a:rPr>
              <a:t>— Right-hand panel is the practical ask. None of it is expensive.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This is the paper's second diagnostic, and the stats bit I said I would explain. Keep it to about forty seconds.</a:t>
            </a:r>
          </a:p>
          <a:p>
            <a:pPr>
              <a:spcAft>
                <a:spcPts val="700"/>
              </a:spcAft>
            </a:pPr>
            <a:r>
              <a:rPr sz="1300">
                <a:latin typeface="Calibri"/>
              </a:rPr>
              <a:t>— McNemar is paired and non-parametric. It ignores every record the two models agree on and asks whether the disagreements are symmetric.</a:t>
            </a:r>
          </a:p>
          <a:p>
            <a:pPr>
              <a:spcAft>
                <a:spcPts val="700"/>
              </a:spcAft>
            </a:pPr>
            <a:r>
              <a:rPr sz="1300">
                <a:latin typeface="Calibri"/>
              </a:rPr>
              <a:t>— Say why paired matters: the two models see the same patients in the same folds, so an unpaired accuracy comparison would throw away that structure.</a:t>
            </a:r>
          </a:p>
          <a:p>
            <a:pPr>
              <a:spcAft>
                <a:spcPts val="700"/>
              </a:spcAft>
            </a:pPr>
            <a:r>
              <a:rPr sz="1300">
                <a:latin typeface="Calibri"/>
              </a:rPr>
              <a:t>— The two thresholds are ours, chosen in advance: 0.05 as the usual bar, and 1e-4 as 'this is no longer the same problem'.</a:t>
            </a:r>
          </a:p>
          <a:p>
            <a:pPr>
              <a:spcAft>
                <a:spcPts val="700"/>
              </a:spcAft>
            </a:pPr>
            <a:r>
              <a:rPr sz="1300">
                <a:latin typeface="Calibri"/>
              </a:rPr>
              <a:t>— Technical note if anyone asks: every arm is re-scored at the BASELINE's decision threshold. Each arm picks its own Youden threshold, and if you let that move too you end up measuring the operating point rather than the filter. Holding it fixed isolates the filter.</a:t>
            </a:r>
          </a:p>
          <a:p>
            <a:pPr>
              <a:spcAft>
                <a:spcPts val="700"/>
              </a:spcAft>
            </a:pPr>
            <a:r>
              <a:rPr sz="1300">
                <a:latin typeface="Calibri"/>
              </a:rPr>
              <a:t>— Point out what is NOT significant here: with the threshold held fixed, none of the seven per-vital filters changes the prediction pattern. The tall bars are the imputation arm and the record-level arms.</a:t>
            </a:r>
          </a:p>
          <a:p>
            <a:pPr>
              <a:spcAft>
                <a:spcPts val="700"/>
              </a:spcAft>
            </a:pPr>
            <a:r>
              <a:rPr sz="1300">
                <a:latin typeface="Calibri"/>
              </a:rPr>
              <a:t>— Then set up the next slide: there is a reason the record-level bars behave the way they do, and it is not the one you would guess.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Second centrepiece. The question I get asked about this paper is why the record-level McNemar results are so extreme.</a:t>
            </a:r>
          </a:p>
          <a:p>
            <a:pPr>
              <a:spcAft>
                <a:spcPts val="700"/>
              </a:spcAft>
            </a:pPr>
            <a:r>
              <a:rPr sz="1300">
                <a:latin typeface="Calibri"/>
              </a:rPr>
              <a:t>— First, the control that makes the rest readable: with every arm scored at the same threshold, not one of the seven per-vital filters produces a significant change on either task. Filters that edit a third of one percent of readings do not change what the model does. Good — that is what a well-behaved filter should look like.</a:t>
            </a:r>
          </a:p>
          <a:p>
            <a:pPr>
              <a:spcAft>
                <a:spcPts val="700"/>
              </a:spcAft>
            </a:pPr>
            <a:r>
              <a:rPr sz="1300">
                <a:latin typeface="Calibri"/>
              </a:rPr>
              <a:t>— What is left significant is the imputation arm, on the full cohort, and the record-level arms on mortality.</a:t>
            </a:r>
          </a:p>
          <a:p>
            <a:pPr>
              <a:spcAft>
                <a:spcPts val="700"/>
              </a:spcAft>
            </a:pPr>
            <a:r>
              <a:rPr sz="1300">
                <a:latin typeface="Calibri"/>
              </a:rPr>
              <a:t>— Now the mechanism. The test is computed on the intersection of the two arms. For a record-level filter that intersection IS the survivor set.</a:t>
            </a:r>
          </a:p>
          <a:p>
            <a:pPr>
              <a:spcAft>
                <a:spcPts val="700"/>
              </a:spcAft>
            </a:pPr>
            <a:r>
              <a:rPr sz="1300">
                <a:latin typeface="Calibri"/>
              </a:rPr>
              <a:t>— So the filter's largest single act — deleting 44,663 patients — contributes exactly nothing to the p-value. The test cannot see a patient who is not there. It is scored entirely on the records the filter approved of.</a:t>
            </a:r>
          </a:p>
          <a:p>
            <a:pPr>
              <a:spcAft>
                <a:spcPts val="700"/>
              </a:spcAft>
            </a:pPr>
            <a:r>
              <a:rPr sz="1300">
                <a:latin typeface="Calibri"/>
              </a:rPr>
              <a:t>— Read the two p columns side by side. On prolonged ICU stay all three record-level arms come back non-significant — including the one that deleted 97% of the cohort and moved the class balance from 38% to 61%.</a:t>
            </a:r>
          </a:p>
          <a:p>
            <a:pPr>
              <a:spcAft>
                <a:spcPts val="700"/>
              </a:spcAft>
            </a:pPr>
            <a:r>
              <a:rPr sz="1300">
                <a:latin typeface="Calibri"/>
              </a:rPr>
              <a:t>— That is the sentence to land: a filter can delete almost all of your data, transform the base rate, and still test as 'no significant change in prediction pattern'. The silence is lost power, not a clean bill of health.</a:t>
            </a:r>
          </a:p>
          <a:p>
            <a:pPr>
              <a:spcAft>
                <a:spcPts val="700"/>
              </a:spcAft>
            </a:pPr>
            <a:r>
              <a:rPr sz="1300">
                <a:latin typeface="Calibri"/>
              </a:rPr>
              <a:t>— And the ordering on mortality makes the same point positively — long-missing-segment deletes a third as many patients as high-invalid-data and gets a p-value seventeen orders of magnitude smaller, because it kept 31,000 pairs instead of 1,369.</a:t>
            </a:r>
          </a:p>
          <a:p>
            <a:pPr>
              <a:spcAft>
                <a:spcPts val="700"/>
              </a:spcAft>
            </a:pPr>
            <a:r>
              <a:rPr sz="1300">
                <a:latin typeface="Calibri"/>
              </a:rPr>
              <a:t>— General lesson for an ML audience: a paired significance test on filtered data answers a question about the survivors. It is structurally silent about selection — and selection is usually the larger effect.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Pull the talk together. Two worked examples, three columns each.</a:t>
            </a:r>
          </a:p>
          <a:p>
            <a:pPr>
              <a:spcAft>
                <a:spcPts val="700"/>
              </a:spcAft>
            </a:pPr>
            <a:r>
              <a:rPr sz="1300">
                <a:latin typeface="Calibri"/>
              </a:rPr>
              <a:t>— All vitals: centroids move, but the four outcome groups move together; McNemar not significant on the full cohort (p = 0.676) — the model's predictions do not change; zero records lost. That is a filter removing sensor artifacts. Keep it — and keep it even where it costs accuracy, because a clinical model must not key on impossible values.</a:t>
            </a:r>
          </a:p>
          <a:p>
            <a:pPr>
              <a:spcAft>
                <a:spcPts val="700"/>
              </a:spcAft>
            </a:pPr>
            <a:r>
              <a:rPr sz="1300">
                <a:latin typeface="Calibri"/>
              </a:rPr>
              <a:t>— High invalid data: centroids move in opposite directions for the mortality classes; p computed on 1,369 patients; 97% of the cohort gone and the base rate transformed. That is a filter changing the problem.</a:t>
            </a:r>
          </a:p>
          <a:p>
            <a:pPr>
              <a:spcAft>
                <a:spcPts val="700"/>
              </a:spcAft>
            </a:pPr>
            <a:r>
              <a:rPr sz="1300">
                <a:latin typeface="Calibri"/>
              </a:rPr>
              <a:t>— The honest summary of our own contribution: the centroid and McNemar diagnostics are useful, and neither would have told us what the record count told us in one line.</a:t>
            </a:r>
          </a:p>
          <a:p>
            <a:pPr>
              <a:spcAft>
                <a:spcPts val="700"/>
              </a:spcAft>
            </a:pPr>
            <a:r>
              <a:rPr sz="1300">
                <a:latin typeface="Calibri"/>
              </a:rPr>
              <a:t>— Say the punchline plainly: the cheapest diagnostic in this talk is counting your rows before and after, and it is the one nobody reports.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Left panel is the ML-methods argument, and it is the one this audience should care about: cross-study comparisons silently include a preprocessing comparison.</a:t>
            </a:r>
          </a:p>
          <a:p>
            <a:pPr>
              <a:spcAft>
                <a:spcPts val="700"/>
              </a:spcAft>
            </a:pPr>
            <a:r>
              <a:rPr sz="1300">
                <a:latin typeface="Calibri"/>
              </a:rPr>
              <a:t>— Right panel is the clinical argument. MNAR — missing not at random — is the technical term; in an ICU, whether a measurement exists is a clinical decision, so absence carries signal.</a:t>
            </a:r>
          </a:p>
          <a:p>
            <a:pPr>
              <a:spcAft>
                <a:spcPts val="700"/>
              </a:spcAft>
            </a:pPr>
            <a:r>
              <a:rPr sz="1300">
                <a:latin typeface="Calibri"/>
              </a:rPr>
              <a:t>— That is why complete-case filtering is selection bias here rather than housekeeping, and it is what our prevalence numbers demonstrated directly.</a:t>
            </a:r>
          </a:p>
          <a:p>
            <a:pPr>
              <a:spcAft>
                <a:spcPts val="700"/>
              </a:spcAft>
            </a:pPr>
            <a:r>
              <a:rPr sz="1300">
                <a:latin typeface="Calibri"/>
              </a:rPr>
              <a:t>— Limitation to state honestly: hourly flattening smooths away sub-hourly volatility and the informative-missingness pattern itself. Preserving sampling dynamics is future work.</a:t>
            </a:r>
          </a:p>
          <a:p>
            <a:pPr>
              <a:spcAft>
                <a:spcPts val="700"/>
              </a:spcAft>
            </a:pPr>
            <a:r>
              <a:rPr sz="1300">
                <a:latin typeface="Calibri"/>
              </a:rPr>
              <a:t>— Also honest: one database family, seven vitals, two tasks, one classifier.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700"/>
              </a:spcAft>
            </a:pPr>
            <a:r>
              <a:rPr sz="1300">
                <a:latin typeface="Calibri"/>
              </a:rPr>
              <a:t>— Keep this to thirty seconds; leave time for questions.</a:t>
            </a:r>
          </a:p>
          <a:p>
            <a:pPr>
              <a:spcAft>
                <a:spcPts val="700"/>
              </a:spcAft>
            </a:pPr>
            <a:r>
              <a:rPr sz="1300">
                <a:latin typeface="Calibri"/>
              </a:rPr>
              <a:t>— One: filtering is a modelling choice.</a:t>
            </a:r>
          </a:p>
          <a:p>
            <a:pPr>
              <a:spcAft>
                <a:spcPts val="700"/>
              </a:spcAft>
            </a:pPr>
            <a:r>
              <a:rPr sz="1300">
                <a:latin typeface="Calibri"/>
              </a:rPr>
              <a:t>— Two: the level a filter operates at predicts its damage far better than how conservative its threshold looks. The 10%-invalid rule sounded generous and removed 97% of the cohort.</a:t>
            </a:r>
          </a:p>
          <a:p>
            <a:pPr>
              <a:spcAft>
                <a:spcPts val="700"/>
              </a:spcAft>
            </a:pPr>
            <a:r>
              <a:rPr sz="1300">
                <a:latin typeface="Calibri"/>
              </a:rPr>
              <a:t>— Three, and the ask: count what you removed, and print it next to your metric.</a:t>
            </a:r>
          </a:p>
          <a:p>
            <a:pPr>
              <a:spcAft>
                <a:spcPts val="700"/>
              </a:spcAft>
            </a:pPr>
            <a:r>
              <a:rPr sz="1300">
                <a:latin typeface="Calibri"/>
              </a:rPr>
              <a:t>— Likely questions to have answers ready for: why a random forest (robustness to irrelevant features on a mixed-density 168-dim vector, and the study is about preprocessing not architecture); why not just loosen the record-level thresholds (you can, and it helps, but any record-level rule selects on monitoring density and so on acuity); does this hold on MIMIC-IV and eICU (the pipeline supports both, the numbers here are MIMIC-III).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Rectangle 1"/>
          <p:cNvSpPr/>
          <p:nvPr/>
        </p:nvSpPr>
        <p:spPr>
          <a:xfrm>
            <a:off x="658368" y="2103120"/>
            <a:ext cx="1371600" cy="38100"/>
          </a:xfrm>
          <a:prstGeom prst="rect">
            <a:avLst/>
          </a:prstGeom>
          <a:solidFill>
            <a:srgbClr val="0D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377440"/>
            <a:ext cx="9509760" cy="2377440"/>
          </a:xfrm>
          <a:prstGeom prst="rect">
            <a:avLst/>
          </a:prstGeom>
          <a:noFill/>
        </p:spPr>
        <p:txBody>
          <a:bodyPr wrap="square" anchor="t" lIns="0" rIns="0" tIns="0" bIns="0">
            <a:spAutoFit/>
          </a:bodyPr>
          <a:lstStyle/>
          <a:p>
            <a:pPr algn="l">
              <a:lnSpc>
                <a:spcPct val="102000"/>
              </a:lnSpc>
              <a:spcAft>
                <a:spcPts val="600"/>
              </a:spcAft>
            </a:pPr>
            <a:r>
              <a:rPr sz="4600" b="1" i="0">
                <a:solidFill>
                  <a:srgbClr val="0E1618"/>
                </a:solidFill>
                <a:latin typeface="Georgia"/>
              </a:rPr>
              <a:t>Beyond the Model</a:t>
            </a:r>
          </a:p>
          <a:p>
            <a:pPr algn="l">
              <a:lnSpc>
                <a:spcPct val="110000"/>
              </a:lnSpc>
              <a:spcAft>
                <a:spcPts val="2000"/>
              </a:spcAft>
            </a:pPr>
            <a:r>
              <a:rPr sz="2600" b="0" i="0">
                <a:solidFill>
                  <a:srgbClr val="2C3C40"/>
                </a:solidFill>
                <a:latin typeface="Georgia"/>
              </a:rPr>
              <a:t>The critical role of data filtering in clinical machine learning</a:t>
            </a:r>
          </a:p>
          <a:p>
            <a:pPr algn="l">
              <a:lnSpc>
                <a:spcPct val="130000"/>
              </a:lnSpc>
              <a:spcAft>
                <a:spcPts val="500"/>
              </a:spcAft>
            </a:pPr>
            <a:r>
              <a:rPr sz="1500" b="0" i="0">
                <a:solidFill>
                  <a:srgbClr val="2C3C40"/>
                </a:solidFill>
                <a:latin typeface="Calibri"/>
              </a:rPr>
              <a:t>Noah Subedar*, Colin Campbell*, Wenjing Zhang, Dan Perri, Sarah Culgin, Andrew Hamilton-Wright</a:t>
            </a:r>
          </a:p>
          <a:p>
            <a:pPr algn="l">
              <a:lnSpc>
                <a:spcPct val="124000"/>
              </a:lnSpc>
              <a:spcAft>
                <a:spcPts val="0"/>
              </a:spcAft>
            </a:pPr>
            <a:r>
              <a:rPr sz="1250" b="0" i="0">
                <a:solidFill>
                  <a:srgbClr val="61767A"/>
                </a:solidFill>
                <a:latin typeface="Calibri"/>
              </a:rPr>
              <a:t>University of Guelph  ·  St. Joseph's Healthcare Hamilton  ·  McMaster University      * equal contribution</a:t>
            </a:r>
          </a:p>
        </p:txBody>
      </p:sp>
      <p:sp>
        <p:nvSpPr>
          <p:cNvPr id="4" name="TextBox 3"/>
          <p:cNvSpPr txBox="1"/>
          <p:nvPr/>
        </p:nvSpPr>
        <p:spPr>
          <a:xfrm>
            <a:off x="658368" y="5532120"/>
            <a:ext cx="10874959" cy="457200"/>
          </a:xfrm>
          <a:prstGeom prst="rect">
            <a:avLst/>
          </a:prstGeom>
          <a:noFill/>
        </p:spPr>
        <p:txBody>
          <a:bodyPr wrap="square" anchor="t" lIns="0" rIns="0" tIns="0" bIns="0">
            <a:spAutoFit/>
          </a:bodyPr>
          <a:lstStyle/>
          <a:p>
            <a:pPr algn="l">
              <a:lnSpc>
                <a:spcPct val="124000"/>
              </a:lnSpc>
              <a:spcAft>
                <a:spcPts val="0"/>
              </a:spcAft>
            </a:pPr>
            <a:r>
              <a:rPr sz="1300" b="0" i="0">
                <a:solidFill>
                  <a:srgbClr val="61767A"/>
                </a:solidFill>
                <a:latin typeface="Consolas"/>
              </a:rPr>
              <a:t>MIMIC-III  ·  46,032 ICU stays  ·  7 vitals × 24 hours  ·  11 filters  ·  2 tasks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THE CLAIM</a:t>
            </a:r>
          </a:p>
          <a:p>
            <a:pPr algn="l">
              <a:lnSpc>
                <a:spcPct val="102000"/>
              </a:lnSpc>
              <a:spcAft>
                <a:spcPts val="0"/>
              </a:spcAft>
            </a:pPr>
            <a:r>
              <a:rPr sz="3000" b="1" i="0">
                <a:solidFill>
                  <a:srgbClr val="0E1618"/>
                </a:solidFill>
                <a:latin typeface="Georgia"/>
              </a:rPr>
              <a:t>Filtering is a modelling choice, not data cleaning</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Anything that discards or edits observations based on their values changes the distribution — by definition.</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2103120"/>
            <a:ext cx="3478682" cy="205740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103120"/>
            <a:ext cx="3478682" cy="38100"/>
          </a:xfrm>
          <a:prstGeom prst="rect">
            <a:avLst/>
          </a:prstGeom>
          <a:solidFill>
            <a:srgbClr val="0D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2331720"/>
            <a:ext cx="3039770" cy="1737360"/>
          </a:xfrm>
          <a:prstGeom prst="rect">
            <a:avLst/>
          </a:prstGeom>
          <a:noFill/>
        </p:spPr>
        <p:txBody>
          <a:bodyPr wrap="square" anchor="t" lIns="0" rIns="0" tIns="0" bIns="0">
            <a:spAutoFit/>
          </a:bodyPr>
          <a:lstStyle/>
          <a:p>
            <a:pPr algn="l">
              <a:lnSpc>
                <a:spcPct val="108000"/>
              </a:lnSpc>
              <a:spcAft>
                <a:spcPts val="900"/>
              </a:spcAft>
            </a:pPr>
            <a:r>
              <a:rPr sz="1700" b="1" i="0">
                <a:solidFill>
                  <a:srgbClr val="0E1618"/>
                </a:solidFill>
                <a:latin typeface="Georgia"/>
              </a:rPr>
              <a:t>It changes the task</a:t>
            </a:r>
          </a:p>
          <a:p>
            <a:pPr algn="l">
              <a:lnSpc>
                <a:spcPct val="130000"/>
              </a:lnSpc>
              <a:spcAft>
                <a:spcPts val="0"/>
              </a:spcAft>
            </a:pPr>
            <a:r>
              <a:rPr sz="1350" b="0" i="0">
                <a:solidFill>
                  <a:srgbClr val="2C3C40"/>
                </a:solidFill>
                <a:latin typeface="Calibri"/>
              </a:rPr>
              <a:t>Removing hard cases, flattening variance, or separating class distributions makes a benchmark easier without making a model better.</a:t>
            </a:r>
          </a:p>
        </p:txBody>
      </p:sp>
      <p:sp>
        <p:nvSpPr>
          <p:cNvPr id="8" name="Rectangle 7"/>
          <p:cNvSpPr/>
          <p:nvPr/>
        </p:nvSpPr>
        <p:spPr>
          <a:xfrm>
            <a:off x="4393082" y="2103120"/>
            <a:ext cx="3478682" cy="205740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93082" y="2103120"/>
            <a:ext cx="3478682" cy="38100"/>
          </a:xfrm>
          <a:prstGeom prst="rect">
            <a:avLst/>
          </a:prstGeom>
          <a:solidFill>
            <a:srgbClr val="4A65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2538" y="2331720"/>
            <a:ext cx="3039770" cy="1737360"/>
          </a:xfrm>
          <a:prstGeom prst="rect">
            <a:avLst/>
          </a:prstGeom>
          <a:noFill/>
        </p:spPr>
        <p:txBody>
          <a:bodyPr wrap="square" anchor="t" lIns="0" rIns="0" tIns="0" bIns="0">
            <a:spAutoFit/>
          </a:bodyPr>
          <a:lstStyle/>
          <a:p>
            <a:pPr algn="l">
              <a:lnSpc>
                <a:spcPct val="108000"/>
              </a:lnSpc>
              <a:spcAft>
                <a:spcPts val="900"/>
              </a:spcAft>
            </a:pPr>
            <a:r>
              <a:rPr sz="1700" b="1" i="0">
                <a:solidFill>
                  <a:srgbClr val="0E1618"/>
                </a:solidFill>
                <a:latin typeface="Georgia"/>
              </a:rPr>
              <a:t>It is not task-neutral</a:t>
            </a:r>
          </a:p>
          <a:p>
            <a:pPr algn="l">
              <a:lnSpc>
                <a:spcPct val="130000"/>
              </a:lnSpc>
              <a:spcAft>
                <a:spcPts val="0"/>
              </a:spcAft>
            </a:pPr>
            <a:r>
              <a:rPr sz="1350" b="0" i="0">
                <a:solidFill>
                  <a:srgbClr val="2C3C40"/>
                </a:solidFill>
                <a:latin typeface="Calibri"/>
              </a:rPr>
              <a:t>The same filter can improve mortality prediction and degrade prolonged-stay prediction on the very same feature matrix.</a:t>
            </a:r>
          </a:p>
        </p:txBody>
      </p:sp>
      <p:sp>
        <p:nvSpPr>
          <p:cNvPr id="11" name="Rectangle 10"/>
          <p:cNvSpPr/>
          <p:nvPr/>
        </p:nvSpPr>
        <p:spPr>
          <a:xfrm>
            <a:off x="8127796" y="2103120"/>
            <a:ext cx="3478682" cy="205740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27796" y="2103120"/>
            <a:ext cx="3478682" cy="38100"/>
          </a:xfrm>
          <a:prstGeom prst="rect">
            <a:avLst/>
          </a:prstGeom>
          <a:solidFill>
            <a:srgbClr val="A45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7252" y="2331720"/>
            <a:ext cx="3039770" cy="1737360"/>
          </a:xfrm>
          <a:prstGeom prst="rect">
            <a:avLst/>
          </a:prstGeom>
          <a:noFill/>
        </p:spPr>
        <p:txBody>
          <a:bodyPr wrap="square" anchor="t" lIns="0" rIns="0" tIns="0" bIns="0">
            <a:spAutoFit/>
          </a:bodyPr>
          <a:lstStyle/>
          <a:p>
            <a:pPr algn="l">
              <a:lnSpc>
                <a:spcPct val="108000"/>
              </a:lnSpc>
              <a:spcAft>
                <a:spcPts val="900"/>
              </a:spcAft>
            </a:pPr>
            <a:r>
              <a:rPr sz="1700" b="1" i="0">
                <a:solidFill>
                  <a:srgbClr val="0E1618"/>
                </a:solidFill>
                <a:latin typeface="Georgia"/>
              </a:rPr>
              <a:t>It is rarely reported</a:t>
            </a:r>
          </a:p>
          <a:p>
            <a:pPr algn="l">
              <a:lnSpc>
                <a:spcPct val="130000"/>
              </a:lnSpc>
              <a:spcAft>
                <a:spcPts val="0"/>
              </a:spcAft>
            </a:pPr>
            <a:r>
              <a:rPr sz="1350" b="0" i="0">
                <a:solidFill>
                  <a:srgbClr val="2C3C40"/>
                </a:solidFill>
                <a:latin typeface="Calibri"/>
              </a:rPr>
              <a:t>Pipelines standardise preprocessing for comparability, but do not characterise how those choices changed the difficulty of the problem.</a:t>
            </a:r>
          </a:p>
        </p:txBody>
      </p:sp>
      <p:sp>
        <p:nvSpPr>
          <p:cNvPr id="14" name="TextBox 13"/>
          <p:cNvSpPr txBox="1"/>
          <p:nvPr/>
        </p:nvSpPr>
        <p:spPr>
          <a:xfrm>
            <a:off x="658368" y="4892040"/>
            <a:ext cx="10874959" cy="1005840"/>
          </a:xfrm>
          <a:prstGeom prst="rect">
            <a:avLst/>
          </a:prstGeom>
          <a:noFill/>
        </p:spPr>
        <p:txBody>
          <a:bodyPr wrap="square" anchor="t" lIns="0" rIns="0" tIns="0" bIns="0">
            <a:spAutoFit/>
          </a:bodyPr>
          <a:lstStyle/>
          <a:p>
            <a:pPr algn="l">
              <a:lnSpc>
                <a:spcPct val="132000"/>
              </a:lnSpc>
              <a:spcAft>
                <a:spcPts val="0"/>
              </a:spcAft>
            </a:pPr>
            <a:r>
              <a:rPr sz="1600" b="0" i="0">
                <a:solidFill>
                  <a:srgbClr val="2C3C40"/>
                </a:solidFill>
                <a:latin typeface="Calibri"/>
              </a:rPr>
              <a:t>So the question is not </a:t>
            </a:r>
            <a:r>
              <a:rPr sz="1600" b="0" i="1">
                <a:solidFill>
                  <a:srgbClr val="0E1618"/>
                </a:solidFill>
                <a:latin typeface="Calibri"/>
              </a:rPr>
              <a:t>“did filtering help?”</a:t>
            </a:r>
            <a:r>
              <a:rPr sz="1600" b="0" i="0">
                <a:solidFill>
                  <a:srgbClr val="2C3C40"/>
                </a:solidFill>
                <a:latin typeface="Calibri"/>
              </a:rPr>
              <a:t> but </a:t>
            </a:r>
            <a:r>
              <a:rPr sz="1600" b="1" i="1">
                <a:solidFill>
                  <a:srgbClr val="0E1618"/>
                </a:solidFill>
                <a:latin typeface="Calibri"/>
              </a:rPr>
              <a:t>“is it still the same problem?”</a:t>
            </a:r>
            <a:r>
              <a:rPr sz="1600" b="0" i="0">
                <a:solidFill>
                  <a:srgbClr val="2C3C40"/>
                </a:solidFill>
                <a:latin typeface="Calibri"/>
              </a:rPr>
              <a:t>  This talk gives you three ways to check, and argues the third one — simply counting what you removed — is the one people skip.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SETUP</a:t>
            </a:r>
          </a:p>
          <a:p>
            <a:pPr algn="l">
              <a:lnSpc>
                <a:spcPct val="102000"/>
              </a:lnSpc>
              <a:spcAft>
                <a:spcPts val="0"/>
              </a:spcAft>
            </a:pPr>
            <a:r>
              <a:rPr sz="3000" b="1" i="0">
                <a:solidFill>
                  <a:srgbClr val="0E1618"/>
                </a:solidFill>
                <a:latin typeface="Georgia"/>
              </a:rPr>
              <a:t>One cohort, one model, eleven filters</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Each filter is applied independently to the unfiltered data, so every arm is a clean single-filter comparison against the same baseline.</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975104"/>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121408"/>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0E1618"/>
                </a:solidFill>
                <a:latin typeface="Consolas"/>
              </a:rPr>
              <a:t>46,032</a:t>
            </a:r>
          </a:p>
          <a:p>
            <a:pPr algn="l">
              <a:lnSpc>
                <a:spcPct val="114000"/>
              </a:lnSpc>
              <a:spcAft>
                <a:spcPts val="0"/>
              </a:spcAft>
            </a:pPr>
            <a:r>
              <a:rPr sz="1150" b="0" i="0">
                <a:solidFill>
                  <a:srgbClr val="61767A"/>
                </a:solidFill>
                <a:latin typeface="Calibri"/>
              </a:rPr>
              <a:t>MIMIC-III ICU stays, first 24 hours</a:t>
            </a:r>
          </a:p>
        </p:txBody>
      </p:sp>
      <p:sp>
        <p:nvSpPr>
          <p:cNvPr id="7" name="Rectangle 6"/>
          <p:cNvSpPr/>
          <p:nvPr/>
        </p:nvSpPr>
        <p:spPr>
          <a:xfrm>
            <a:off x="3431971" y="1975104"/>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4851" y="2121408"/>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0E1618"/>
                </a:solidFill>
                <a:latin typeface="Consolas"/>
              </a:rPr>
              <a:t>7 × 24</a:t>
            </a:r>
          </a:p>
          <a:p>
            <a:pPr algn="l">
              <a:lnSpc>
                <a:spcPct val="114000"/>
              </a:lnSpc>
              <a:spcAft>
                <a:spcPts val="0"/>
              </a:spcAft>
            </a:pPr>
            <a:r>
              <a:rPr sz="1150" b="0" i="0">
                <a:solidFill>
                  <a:srgbClr val="61767A"/>
                </a:solidFill>
                <a:latin typeface="Calibri"/>
              </a:rPr>
              <a:t>vitals × hours → a 168-dim feature vector</a:t>
            </a:r>
          </a:p>
        </p:txBody>
      </p:sp>
      <p:sp>
        <p:nvSpPr>
          <p:cNvPr id="9" name="Rectangle 8"/>
          <p:cNvSpPr/>
          <p:nvPr/>
        </p:nvSpPr>
        <p:spPr>
          <a:xfrm>
            <a:off x="6205574" y="1975104"/>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8454" y="2121408"/>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0E1618"/>
                </a:solidFill>
                <a:latin typeface="Consolas"/>
              </a:rPr>
              <a:t>2</a:t>
            </a:r>
          </a:p>
          <a:p>
            <a:pPr algn="l">
              <a:lnSpc>
                <a:spcPct val="114000"/>
              </a:lnSpc>
              <a:spcAft>
                <a:spcPts val="0"/>
              </a:spcAft>
            </a:pPr>
            <a:r>
              <a:rPr sz="1150" b="0" i="0">
                <a:solidFill>
                  <a:srgbClr val="61767A"/>
                </a:solidFill>
                <a:latin typeface="Calibri"/>
              </a:rPr>
              <a:t>binary tasks: prolonged ICU stay, in-hospital mortality</a:t>
            </a:r>
          </a:p>
        </p:txBody>
      </p:sp>
      <p:sp>
        <p:nvSpPr>
          <p:cNvPr id="11" name="Rectangle 10"/>
          <p:cNvSpPr/>
          <p:nvPr/>
        </p:nvSpPr>
        <p:spPr>
          <a:xfrm>
            <a:off x="8979177" y="1975104"/>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62057" y="2121408"/>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0E1618"/>
                </a:solidFill>
                <a:latin typeface="Consolas"/>
              </a:rPr>
              <a:t>13</a:t>
            </a:r>
          </a:p>
          <a:p>
            <a:pPr algn="l">
              <a:lnSpc>
                <a:spcPct val="114000"/>
              </a:lnSpc>
              <a:spcAft>
                <a:spcPts val="0"/>
              </a:spcAft>
            </a:pPr>
            <a:r>
              <a:rPr sz="1150" b="0" i="0">
                <a:solidFill>
                  <a:srgbClr val="61767A"/>
                </a:solidFill>
                <a:latin typeface="Calibri"/>
              </a:rPr>
              <a:t>arms: raw, 7 vitals, all-vitals, and 4 post-aggregation filters</a:t>
            </a:r>
          </a:p>
        </p:txBody>
      </p:sp>
      <p:graphicFrame>
        <p:nvGraphicFramePr>
          <p:cNvPr id="13" name="Table 12"/>
          <p:cNvGraphicFramePr>
            <a:graphicFrameLocks noGrp="1"/>
          </p:cNvGraphicFramePr>
          <p:nvPr/>
        </p:nvGraphicFramePr>
        <p:xfrm>
          <a:off x="658368" y="3291840"/>
          <a:ext cx="6720840" cy="1828800"/>
        </p:xfrm>
        <a:graphic>
          <a:graphicData uri="http://schemas.openxmlformats.org/drawingml/2006/table">
            <a:tbl>
              <a:tblPr firstRow="1">
                <a:tableStyleId>{5C22544A-7EE6-4342-B048-85BDC9FD1C3A}</a:tableStyleId>
              </a:tblPr>
              <a:tblGrid>
                <a:gridCol w="2240280"/>
                <a:gridCol w="2240280"/>
                <a:gridCol w="2240280"/>
              </a:tblGrid>
              <a:tr h="365760">
                <a:tc>
                  <a:txBody>
                    <a:bodyPr wrap="square"/>
                    <a:lstStyle/>
                    <a:p>
                      <a:pPr algn="l"/>
                      <a:r>
                        <a:rPr sz="1300" b="1">
                          <a:solidFill>
                            <a:srgbClr val="61767A"/>
                          </a:solidFill>
                          <a:latin typeface="Calibri"/>
                        </a:rPr>
                        <a:t/>
                      </a:r>
                    </a:p>
                  </a:txBody>
                  <a:tcPr marL="82296" marR="82296" marT="27432" marB="27432" anchor="ctr">
                    <a:solidFill>
                      <a:srgbClr val="E4EAEA"/>
                    </a:solidFill>
                  </a:tcPr>
                </a:tc>
                <a:tc>
                  <a:txBody>
                    <a:bodyPr wrap="square"/>
                    <a:lstStyle/>
                    <a:p>
                      <a:pPr algn="r"/>
                      <a:r>
                        <a:rPr sz="1300" b="1">
                          <a:solidFill>
                            <a:srgbClr val="61767A"/>
                          </a:solidFill>
                          <a:latin typeface="Consolas"/>
                        </a:rPr>
                        <a:t>Prolonged ICU stay</a:t>
                      </a:r>
                    </a:p>
                  </a:txBody>
                  <a:tcPr marL="82296" marR="82296" marT="27432" marB="27432" anchor="ctr">
                    <a:solidFill>
                      <a:srgbClr val="E4EAEA"/>
                    </a:solidFill>
                  </a:tcPr>
                </a:tc>
                <a:tc>
                  <a:txBody>
                    <a:bodyPr wrap="square"/>
                    <a:lstStyle/>
                    <a:p>
                      <a:pPr algn="r"/>
                      <a:r>
                        <a:rPr sz="1300" b="1">
                          <a:solidFill>
                            <a:srgbClr val="61767A"/>
                          </a:solidFill>
                          <a:latin typeface="Consolas"/>
                        </a:rPr>
                        <a:t>In-hospital mortality</a:t>
                      </a:r>
                    </a:p>
                  </a:txBody>
                  <a:tcPr marL="82296" marR="82296" marT="27432" marB="27432" anchor="ctr">
                    <a:solidFill>
                      <a:srgbClr val="E4EAEA"/>
                    </a:solidFill>
                  </a:tcPr>
                </a:tc>
              </a:tr>
              <a:tr h="365760">
                <a:tc>
                  <a:txBody>
                    <a:bodyPr wrap="square"/>
                    <a:lstStyle/>
                    <a:p>
                      <a:pPr algn="l"/>
                      <a:r>
                        <a:rPr sz="1300" b="0">
                          <a:solidFill>
                            <a:srgbClr val="2C3C40"/>
                          </a:solidFill>
                          <a:latin typeface="Calibri"/>
                        </a:rPr>
                        <a:t>Positive class</a:t>
                      </a:r>
                    </a:p>
                  </a:txBody>
                  <a:tcPr marL="82296" marR="82296" marT="27432" marB="27432" anchor="ctr">
                    <a:solidFill>
                      <a:srgbClr val="FFFFFF"/>
                    </a:solidFill>
                  </a:tcPr>
                </a:tc>
                <a:tc>
                  <a:txBody>
                    <a:bodyPr wrap="square"/>
                    <a:lstStyle/>
                    <a:p>
                      <a:pPr algn="r"/>
                      <a:r>
                        <a:rPr sz="1300" b="0">
                          <a:solidFill>
                            <a:srgbClr val="2C3C40"/>
                          </a:solidFill>
                          <a:latin typeface="Consolas"/>
                        </a:rPr>
                        <a:t>ICU time &gt; 3 days</a:t>
                      </a:r>
                    </a:p>
                  </a:txBody>
                  <a:tcPr marL="82296" marR="82296" marT="27432" marB="27432" anchor="ctr">
                    <a:solidFill>
                      <a:srgbClr val="FFFFFF"/>
                    </a:solidFill>
                  </a:tcPr>
                </a:tc>
                <a:tc>
                  <a:txBody>
                    <a:bodyPr wrap="square"/>
                    <a:lstStyle/>
                    <a:p>
                      <a:pPr algn="r"/>
                      <a:r>
                        <a:rPr sz="1300" b="0">
                          <a:solidFill>
                            <a:srgbClr val="2C3C40"/>
                          </a:solidFill>
                          <a:latin typeface="Consolas"/>
                        </a:rPr>
                        <a:t>died before discharge</a:t>
                      </a:r>
                    </a:p>
                  </a:txBody>
                  <a:tcPr marL="82296" marR="82296" marT="27432" marB="27432" anchor="ctr">
                    <a:solidFill>
                      <a:srgbClr val="FFFFFF"/>
                    </a:solidFill>
                  </a:tcPr>
                </a:tc>
              </a:tr>
              <a:tr h="365760">
                <a:tc>
                  <a:txBody>
                    <a:bodyPr wrap="square"/>
                    <a:lstStyle/>
                    <a:p>
                      <a:pPr algn="l"/>
                      <a:r>
                        <a:rPr sz="1300" b="0">
                          <a:solidFill>
                            <a:srgbClr val="2C3C40"/>
                          </a:solidFill>
                          <a:latin typeface="Calibri"/>
                        </a:rPr>
                        <a:t>Prevalence</a:t>
                      </a:r>
                    </a:p>
                  </a:txBody>
                  <a:tcPr marL="82296" marR="82296" marT="27432" marB="27432" anchor="ctr">
                    <a:solidFill>
                      <a:srgbClr val="FFFFFF"/>
                    </a:solidFill>
                  </a:tcPr>
                </a:tc>
                <a:tc>
                  <a:txBody>
                    <a:bodyPr wrap="square"/>
                    <a:lstStyle/>
                    <a:p>
                      <a:pPr algn="r"/>
                      <a:r>
                        <a:rPr sz="1300" b="0">
                          <a:solidFill>
                            <a:srgbClr val="2C3C40"/>
                          </a:solidFill>
                          <a:latin typeface="Consolas"/>
                        </a:rPr>
                        <a:t>37.5%</a:t>
                      </a:r>
                    </a:p>
                  </a:txBody>
                  <a:tcPr marL="82296" marR="82296" marT="27432" marB="27432" anchor="ctr">
                    <a:solidFill>
                      <a:srgbClr val="FFFFFF"/>
                    </a:solidFill>
                  </a:tcPr>
                </a:tc>
                <a:tc>
                  <a:txBody>
                    <a:bodyPr wrap="square"/>
                    <a:lstStyle/>
                    <a:p>
                      <a:pPr algn="r"/>
                      <a:r>
                        <a:rPr sz="1300" b="0">
                          <a:solidFill>
                            <a:srgbClr val="2C3C40"/>
                          </a:solidFill>
                          <a:latin typeface="Consolas"/>
                        </a:rPr>
                        <a:t>9.7%</a:t>
                      </a:r>
                    </a:p>
                  </a:txBody>
                  <a:tcPr marL="82296" marR="82296" marT="27432" marB="27432" anchor="ctr">
                    <a:solidFill>
                      <a:srgbClr val="FFFFFF"/>
                    </a:solidFill>
                  </a:tcPr>
                </a:tc>
              </a:tr>
              <a:tr h="365760">
                <a:tc>
                  <a:txBody>
                    <a:bodyPr wrap="square"/>
                    <a:lstStyle/>
                    <a:p>
                      <a:pPr algn="l"/>
                      <a:r>
                        <a:rPr sz="1300" b="0">
                          <a:solidFill>
                            <a:srgbClr val="2C3C40"/>
                          </a:solidFill>
                          <a:latin typeface="Calibri"/>
                        </a:rPr>
                        <a:t>Baseline accuracy</a:t>
                      </a:r>
                    </a:p>
                  </a:txBody>
                  <a:tcPr marL="82296" marR="82296" marT="27432" marB="27432" anchor="ctr">
                    <a:solidFill>
                      <a:srgbClr val="FFFFFF"/>
                    </a:solidFill>
                  </a:tcPr>
                </a:tc>
                <a:tc>
                  <a:txBody>
                    <a:bodyPr wrap="square"/>
                    <a:lstStyle/>
                    <a:p>
                      <a:pPr algn="r"/>
                      <a:r>
                        <a:rPr sz="1300" b="0">
                          <a:solidFill>
                            <a:srgbClr val="2C3C40"/>
                          </a:solidFill>
                          <a:latin typeface="Consolas"/>
                        </a:rPr>
                        <a:t>0.6936 ± 0.0025</a:t>
                      </a:r>
                    </a:p>
                  </a:txBody>
                  <a:tcPr marL="82296" marR="82296" marT="27432" marB="27432" anchor="ctr">
                    <a:solidFill>
                      <a:srgbClr val="FFFFFF"/>
                    </a:solidFill>
                  </a:tcPr>
                </a:tc>
                <a:tc>
                  <a:txBody>
                    <a:bodyPr wrap="square"/>
                    <a:lstStyle/>
                    <a:p>
                      <a:pPr algn="r"/>
                      <a:r>
                        <a:rPr sz="1300" b="0">
                          <a:solidFill>
                            <a:srgbClr val="2C3C40"/>
                          </a:solidFill>
                          <a:latin typeface="Consolas"/>
                        </a:rPr>
                        <a:t>0.6868 ± 0.0308</a:t>
                      </a:r>
                    </a:p>
                  </a:txBody>
                  <a:tcPr marL="82296" marR="82296" marT="27432" marB="27432" anchor="ctr">
                    <a:solidFill>
                      <a:srgbClr val="FFFFFF"/>
                    </a:solidFill>
                  </a:tcPr>
                </a:tc>
              </a:tr>
              <a:tr h="365760">
                <a:tc>
                  <a:txBody>
                    <a:bodyPr wrap="square"/>
                    <a:lstStyle/>
                    <a:p>
                      <a:pPr algn="l"/>
                      <a:r>
                        <a:rPr sz="1300" b="0">
                          <a:solidFill>
                            <a:srgbClr val="2C3C40"/>
                          </a:solidFill>
                          <a:latin typeface="Calibri"/>
                        </a:rPr>
                        <a:t>Baseline macro F1</a:t>
                      </a:r>
                    </a:p>
                  </a:txBody>
                  <a:tcPr marL="82296" marR="82296" marT="27432" marB="27432" anchor="ctr">
                    <a:solidFill>
                      <a:srgbClr val="FFFFFF"/>
                    </a:solidFill>
                  </a:tcPr>
                </a:tc>
                <a:tc>
                  <a:txBody>
                    <a:bodyPr wrap="square"/>
                    <a:lstStyle/>
                    <a:p>
                      <a:pPr algn="r"/>
                      <a:r>
                        <a:rPr sz="1300" b="0">
                          <a:solidFill>
                            <a:srgbClr val="2C3C40"/>
                          </a:solidFill>
                          <a:latin typeface="Consolas"/>
                        </a:rPr>
                        <a:t>0.6870 ± 0.0016</a:t>
                      </a:r>
                    </a:p>
                  </a:txBody>
                  <a:tcPr marL="82296" marR="82296" marT="27432" marB="27432" anchor="ctr">
                    <a:solidFill>
                      <a:srgbClr val="FFFFFF"/>
                    </a:solidFill>
                  </a:tcPr>
                </a:tc>
                <a:tc>
                  <a:txBody>
                    <a:bodyPr wrap="square"/>
                    <a:lstStyle/>
                    <a:p>
                      <a:pPr algn="r"/>
                      <a:r>
                        <a:rPr sz="1300" b="0">
                          <a:solidFill>
                            <a:srgbClr val="2C3C40"/>
                          </a:solidFill>
                          <a:latin typeface="Consolas"/>
                        </a:rPr>
                        <a:t>0.5542 ± 0.0180</a:t>
                      </a:r>
                    </a:p>
                  </a:txBody>
                  <a:tcPr marL="82296" marR="82296" marT="27432" marB="27432" anchor="ctr">
                    <a:solidFill>
                      <a:srgbClr val="FFFFFF"/>
                    </a:solidFill>
                  </a:tcPr>
                </a:tc>
              </a:tr>
            </a:tbl>
          </a:graphicData>
        </a:graphic>
      </p:graphicFrame>
      <p:sp>
        <p:nvSpPr>
          <p:cNvPr id="14" name="Rectangle 13"/>
          <p:cNvSpPr/>
          <p:nvPr/>
        </p:nvSpPr>
        <p:spPr>
          <a:xfrm>
            <a:off x="7818120" y="3291840"/>
            <a:ext cx="3712463" cy="182880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37575" y="3474720"/>
            <a:ext cx="3273552" cy="1554480"/>
          </a:xfrm>
          <a:prstGeom prst="rect">
            <a:avLst/>
          </a:prstGeom>
          <a:noFill/>
        </p:spPr>
        <p:txBody>
          <a:bodyPr wrap="square" anchor="t" lIns="0" rIns="0" tIns="0" bIns="0">
            <a:spAutoFit/>
          </a:bodyPr>
          <a:lstStyle/>
          <a:p>
            <a:pPr algn="l">
              <a:lnSpc>
                <a:spcPct val="124000"/>
              </a:lnSpc>
              <a:spcAft>
                <a:spcPts val="800"/>
              </a:spcAft>
            </a:pPr>
            <a:r>
              <a:rPr sz="1500" b="1" i="0">
                <a:solidFill>
                  <a:srgbClr val="0E1618"/>
                </a:solidFill>
                <a:latin typeface="Georgia"/>
              </a:rPr>
              <a:t>Evaluation</a:t>
            </a:r>
          </a:p>
          <a:p>
            <a:pPr algn="l">
              <a:lnSpc>
                <a:spcPct val="122000"/>
              </a:lnSpc>
              <a:spcAft>
                <a:spcPts val="500"/>
              </a:spcAft>
            </a:pPr>
            <a:r>
              <a:rPr sz="1250" b="1" i="0">
                <a:solidFill>
                  <a:srgbClr val="0D6B6B"/>
                </a:solidFill>
                <a:latin typeface="Calibri"/>
              </a:rPr>
              <a:t>• </a:t>
            </a:r>
            <a:r>
              <a:rPr sz="1250" b="0" i="0">
                <a:solidFill>
                  <a:srgbClr val="2C3C40"/>
                </a:solidFill>
                <a:latin typeface="Calibri"/>
              </a:rPr>
              <a:t>Random forest, 300 trees</a:t>
            </a:r>
          </a:p>
          <a:p>
            <a:pPr algn="l">
              <a:lnSpc>
                <a:spcPct val="122000"/>
              </a:lnSpc>
              <a:spcAft>
                <a:spcPts val="500"/>
              </a:spcAft>
            </a:pPr>
            <a:r>
              <a:rPr sz="1250" b="1" i="0">
                <a:solidFill>
                  <a:srgbClr val="0D6B6B"/>
                </a:solidFill>
                <a:latin typeface="Calibri"/>
              </a:rPr>
              <a:t>• </a:t>
            </a:r>
            <a:r>
              <a:rPr sz="1250" b="0" i="0">
                <a:solidFill>
                  <a:srgbClr val="2C3C40"/>
                </a:solidFill>
                <a:latin typeface="Calibri"/>
              </a:rPr>
              <a:t>Stratified 5-fold × 4 repeats = 20 fits per arm</a:t>
            </a:r>
          </a:p>
          <a:p>
            <a:pPr algn="l">
              <a:lnSpc>
                <a:spcPct val="122000"/>
              </a:lnSpc>
              <a:spcAft>
                <a:spcPts val="500"/>
              </a:spcAft>
            </a:pPr>
            <a:r>
              <a:rPr sz="1250" b="1" i="0">
                <a:solidFill>
                  <a:srgbClr val="0D6B6B"/>
                </a:solidFill>
                <a:latin typeface="Calibri"/>
              </a:rPr>
              <a:t>• </a:t>
            </a:r>
            <a:r>
              <a:rPr sz="1250" b="0" i="0">
                <a:solidFill>
                  <a:srgbClr val="2C3C40"/>
                </a:solidFill>
                <a:latin typeface="Calibri"/>
              </a:rPr>
              <a:t>Folds drawn once on the raw cohort, keyed by admission id, and inherited by every arm</a:t>
            </a:r>
          </a:p>
          <a:p>
            <a:pPr algn="l">
              <a:lnSpc>
                <a:spcPct val="122000"/>
              </a:lnSpc>
              <a:spcAft>
                <a:spcPts val="500"/>
              </a:spcAft>
            </a:pPr>
            <a:r>
              <a:rPr sz="1250" b="1" i="0">
                <a:solidFill>
                  <a:srgbClr val="0D6B6B"/>
                </a:solidFill>
                <a:latin typeface="Calibri"/>
              </a:rPr>
              <a:t>• </a:t>
            </a:r>
            <a:r>
              <a:rPr sz="1250" b="0" i="0">
                <a:solidFill>
                  <a:srgbClr val="2C3C40"/>
                </a:solidFill>
                <a:latin typeface="Calibri"/>
              </a:rPr>
              <a:t>Decision threshold by Youden's J on an inner-validation slice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THE FILTERS</a:t>
            </a:r>
          </a:p>
          <a:p>
            <a:pPr algn="l">
              <a:lnSpc>
                <a:spcPct val="102000"/>
              </a:lnSpc>
              <a:spcAft>
                <a:spcPts val="0"/>
              </a:spcAft>
            </a:pPr>
            <a:r>
              <a:rPr sz="3000" b="1" i="0">
                <a:solidFill>
                  <a:srgbClr val="0E1618"/>
                </a:solidFill>
                <a:latin typeface="Georgia"/>
              </a:rPr>
              <a:t>Eleven filters, three levels of damage</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The level a filter operates at — not its threshold — decides whether it can delete a patient.</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938528"/>
          <a:ext cx="7223758" cy="3566160"/>
        </p:xfrm>
        <a:graphic>
          <a:graphicData uri="http://schemas.openxmlformats.org/drawingml/2006/table">
            <a:tbl>
              <a:tblPr firstRow="1">
                <a:tableStyleId>{5C22544A-7EE6-4342-B048-85BDC9FD1C3A}</a:tableStyleId>
              </a:tblPr>
              <a:tblGrid>
                <a:gridCol w="2457061"/>
                <a:gridCol w="737118"/>
                <a:gridCol w="982824"/>
                <a:gridCol w="3046755"/>
              </a:tblGrid>
              <a:tr h="274320">
                <a:tc>
                  <a:txBody>
                    <a:bodyPr wrap="square"/>
                    <a:lstStyle/>
                    <a:p>
                      <a:pPr algn="l"/>
                      <a:r>
                        <a:rPr sz="1200" b="1">
                          <a:solidFill>
                            <a:srgbClr val="61767A"/>
                          </a:solidFill>
                          <a:latin typeface="Calibri"/>
                        </a:rPr>
                        <a:t>Filter</a:t>
                      </a:r>
                    </a:p>
                  </a:txBody>
                  <a:tcPr marL="82296" marR="82296" marT="27432" marB="27432" anchor="ctr">
                    <a:solidFill>
                      <a:srgbClr val="E4EAEA"/>
                    </a:solidFill>
                  </a:tcPr>
                </a:tc>
                <a:tc>
                  <a:txBody>
                    <a:bodyPr wrap="square"/>
                    <a:lstStyle/>
                    <a:p>
                      <a:pPr algn="l"/>
                      <a:r>
                        <a:rPr sz="1200" b="1">
                          <a:solidFill>
                            <a:srgbClr val="61767A"/>
                          </a:solidFill>
                          <a:latin typeface="Calibri"/>
                        </a:rPr>
                        <a:t>Stage</a:t>
                      </a:r>
                    </a:p>
                  </a:txBody>
                  <a:tcPr marL="82296" marR="82296" marT="27432" marB="27432" anchor="ctr">
                    <a:solidFill>
                      <a:srgbClr val="E4EAEA"/>
                    </a:solidFill>
                  </a:tcPr>
                </a:tc>
                <a:tc>
                  <a:txBody>
                    <a:bodyPr wrap="square"/>
                    <a:lstStyle/>
                    <a:p>
                      <a:pPr algn="l"/>
                      <a:r>
                        <a:rPr sz="1200" b="1">
                          <a:solidFill>
                            <a:srgbClr val="61767A"/>
                          </a:solidFill>
                          <a:latin typeface="Calibri"/>
                        </a:rPr>
                        <a:t>Level</a:t>
                      </a:r>
                    </a:p>
                  </a:txBody>
                  <a:tcPr marL="82296" marR="82296" marT="27432" marB="27432" anchor="ctr">
                    <a:solidFill>
                      <a:srgbClr val="E4EAEA"/>
                    </a:solidFill>
                  </a:tcPr>
                </a:tc>
                <a:tc>
                  <a:txBody>
                    <a:bodyPr wrap="square"/>
                    <a:lstStyle/>
                    <a:p>
                      <a:pPr algn="l"/>
                      <a:r>
                        <a:rPr sz="1200" b="1">
                          <a:solidFill>
                            <a:srgbClr val="61767A"/>
                          </a:solidFill>
                          <a:latin typeface="Calibri"/>
                        </a:rPr>
                        <a:t>Threshold</a:t>
                      </a:r>
                    </a:p>
                  </a:txBody>
                  <a:tcPr marL="82296" marR="82296" marT="27432" marB="27432" anchor="ctr">
                    <a:solidFill>
                      <a:srgbClr val="E4EAEA"/>
                    </a:solidFill>
                  </a:tcPr>
                </a:tc>
              </a:tr>
              <a:tr h="274320">
                <a:tc>
                  <a:txBody>
                    <a:bodyPr wrap="square"/>
                    <a:lstStyle/>
                    <a:p>
                      <a:pPr algn="l"/>
                      <a:r>
                        <a:rPr sz="1200" b="0">
                          <a:solidFill>
                            <a:srgbClr val="2C3C40"/>
                          </a:solidFill>
                          <a:latin typeface="Calibri"/>
                        </a:rPr>
                        <a:t>heart rate</a:t>
                      </a:r>
                    </a:p>
                  </a:txBody>
                  <a:tcPr marL="82296" marR="82296" marT="27432" marB="27432" anchor="ctr">
                    <a:solidFill>
                      <a:srgbClr val="FFFFFF"/>
                    </a:solidFill>
                  </a:tcPr>
                </a:tc>
                <a:tc>
                  <a:txBody>
                    <a:bodyPr wrap="square"/>
                    <a:lstStyle/>
                    <a:p>
                      <a:pPr algn="l"/>
                      <a:r>
                        <a:rPr sz="1200" b="0">
                          <a:solidFill>
                            <a:srgbClr val="2C3C40"/>
                          </a:solidFill>
                          <a:latin typeface="Calibri"/>
                        </a:rPr>
                        <a:t>pre</a:t>
                      </a:r>
                    </a:p>
                  </a:txBody>
                  <a:tcPr marL="82296" marR="82296" marT="27432" marB="27432" anchor="ctr">
                    <a:solidFill>
                      <a:srgbClr val="FFFFFF"/>
                    </a:solidFill>
                  </a:tcPr>
                </a:tc>
                <a:tc>
                  <a:txBody>
                    <a:bodyPr wrap="square"/>
                    <a:lstStyle/>
                    <a:p>
                      <a:pPr algn="l"/>
                      <a:r>
                        <a:rPr sz="1150" b="1">
                          <a:solidFill>
                            <a:srgbClr val="0D6B6B"/>
                          </a:solidFill>
                          <a:latin typeface="Consolas"/>
                        </a:rPr>
                        <a:t>VALUE</a:t>
                      </a:r>
                    </a:p>
                  </a:txBody>
                  <a:tcPr marL="82296" marR="82296" marT="27432" marB="27432" anchor="ctr">
                    <a:solidFill>
                      <a:srgbClr val="FFFFFF"/>
                    </a:solidFill>
                  </a:tcPr>
                </a:tc>
                <a:tc>
                  <a:txBody>
                    <a:bodyPr wrap="square"/>
                    <a:lstStyle/>
                    <a:p>
                      <a:pPr algn="l"/>
                      <a:r>
                        <a:rPr sz="1150" b="0">
                          <a:solidFill>
                            <a:srgbClr val="2C3C40"/>
                          </a:solidFill>
                          <a:latin typeface="Consolas"/>
                        </a:rPr>
                        <a:t>[1, 600] bpm</a:t>
                      </a:r>
                    </a:p>
                  </a:txBody>
                  <a:tcPr marL="82296" marR="82296" marT="27432" marB="27432" anchor="ctr">
                    <a:solidFill>
                      <a:srgbClr val="FFFFFF"/>
                    </a:solidFill>
                  </a:tcPr>
                </a:tc>
              </a:tr>
              <a:tr h="274320">
                <a:tc>
                  <a:txBody>
                    <a:bodyPr wrap="square"/>
                    <a:lstStyle/>
                    <a:p>
                      <a:pPr algn="l"/>
                      <a:r>
                        <a:rPr sz="1200" b="0">
                          <a:solidFill>
                            <a:srgbClr val="2C3C40"/>
                          </a:solidFill>
                          <a:latin typeface="Calibri"/>
                        </a:rPr>
                        <a:t>systolic BP</a:t>
                      </a:r>
                    </a:p>
                  </a:txBody>
                  <a:tcPr marL="82296" marR="82296" marT="27432" marB="27432" anchor="ctr">
                    <a:solidFill>
                      <a:srgbClr val="FFFFFF"/>
                    </a:solidFill>
                  </a:tcPr>
                </a:tc>
                <a:tc>
                  <a:txBody>
                    <a:bodyPr wrap="square"/>
                    <a:lstStyle/>
                    <a:p>
                      <a:pPr algn="l"/>
                      <a:r>
                        <a:rPr sz="1200" b="0">
                          <a:solidFill>
                            <a:srgbClr val="2C3C40"/>
                          </a:solidFill>
                          <a:latin typeface="Calibri"/>
                        </a:rPr>
                        <a:t>pre</a:t>
                      </a:r>
                    </a:p>
                  </a:txBody>
                  <a:tcPr marL="82296" marR="82296" marT="27432" marB="27432" anchor="ctr">
                    <a:solidFill>
                      <a:srgbClr val="FFFFFF"/>
                    </a:solidFill>
                  </a:tcPr>
                </a:tc>
                <a:tc>
                  <a:txBody>
                    <a:bodyPr wrap="square"/>
                    <a:lstStyle/>
                    <a:p>
                      <a:pPr algn="l"/>
                      <a:r>
                        <a:rPr sz="1150" b="1">
                          <a:solidFill>
                            <a:srgbClr val="0D6B6B"/>
                          </a:solidFill>
                          <a:latin typeface="Consolas"/>
                        </a:rPr>
                        <a:t>VALUE</a:t>
                      </a:r>
                    </a:p>
                  </a:txBody>
                  <a:tcPr marL="82296" marR="82296" marT="27432" marB="27432" anchor="ctr">
                    <a:solidFill>
                      <a:srgbClr val="FFFFFF"/>
                    </a:solidFill>
                  </a:tcPr>
                </a:tc>
                <a:tc>
                  <a:txBody>
                    <a:bodyPr wrap="square"/>
                    <a:lstStyle/>
                    <a:p>
                      <a:pPr algn="l"/>
                      <a:r>
                        <a:rPr sz="1150" b="0">
                          <a:solidFill>
                            <a:srgbClr val="2C3C40"/>
                          </a:solidFill>
                          <a:latin typeface="Consolas"/>
                        </a:rPr>
                        <a:t>[1, 400] mmHg</a:t>
                      </a:r>
                    </a:p>
                  </a:txBody>
                  <a:tcPr marL="82296" marR="82296" marT="27432" marB="27432" anchor="ctr">
                    <a:solidFill>
                      <a:srgbClr val="FFFFFF"/>
                    </a:solidFill>
                  </a:tcPr>
                </a:tc>
              </a:tr>
              <a:tr h="274320">
                <a:tc>
                  <a:txBody>
                    <a:bodyPr wrap="square"/>
                    <a:lstStyle/>
                    <a:p>
                      <a:pPr algn="l"/>
                      <a:r>
                        <a:rPr sz="1200" b="0">
                          <a:solidFill>
                            <a:srgbClr val="2C3C40"/>
                          </a:solidFill>
                          <a:latin typeface="Calibri"/>
                        </a:rPr>
                        <a:t>diastolic BP</a:t>
                      </a:r>
                    </a:p>
                  </a:txBody>
                  <a:tcPr marL="82296" marR="82296" marT="27432" marB="27432" anchor="ctr">
                    <a:solidFill>
                      <a:srgbClr val="FFFFFF"/>
                    </a:solidFill>
                  </a:tcPr>
                </a:tc>
                <a:tc>
                  <a:txBody>
                    <a:bodyPr wrap="square"/>
                    <a:lstStyle/>
                    <a:p>
                      <a:pPr algn="l"/>
                      <a:r>
                        <a:rPr sz="1200" b="0">
                          <a:solidFill>
                            <a:srgbClr val="2C3C40"/>
                          </a:solidFill>
                          <a:latin typeface="Calibri"/>
                        </a:rPr>
                        <a:t>pre</a:t>
                      </a:r>
                    </a:p>
                  </a:txBody>
                  <a:tcPr marL="82296" marR="82296" marT="27432" marB="27432" anchor="ctr">
                    <a:solidFill>
                      <a:srgbClr val="FFFFFF"/>
                    </a:solidFill>
                  </a:tcPr>
                </a:tc>
                <a:tc>
                  <a:txBody>
                    <a:bodyPr wrap="square"/>
                    <a:lstStyle/>
                    <a:p>
                      <a:pPr algn="l"/>
                      <a:r>
                        <a:rPr sz="1150" b="1">
                          <a:solidFill>
                            <a:srgbClr val="0D6B6B"/>
                          </a:solidFill>
                          <a:latin typeface="Consolas"/>
                        </a:rPr>
                        <a:t>VALUE</a:t>
                      </a:r>
                    </a:p>
                  </a:txBody>
                  <a:tcPr marL="82296" marR="82296" marT="27432" marB="27432" anchor="ctr">
                    <a:solidFill>
                      <a:srgbClr val="FFFFFF"/>
                    </a:solidFill>
                  </a:tcPr>
                </a:tc>
                <a:tc>
                  <a:txBody>
                    <a:bodyPr wrap="square"/>
                    <a:lstStyle/>
                    <a:p>
                      <a:pPr algn="l"/>
                      <a:r>
                        <a:rPr sz="1150" b="0">
                          <a:solidFill>
                            <a:srgbClr val="2C3C40"/>
                          </a:solidFill>
                          <a:latin typeface="Consolas"/>
                        </a:rPr>
                        <a:t>[1, 300] mmHg</a:t>
                      </a:r>
                    </a:p>
                  </a:txBody>
                  <a:tcPr marL="82296" marR="82296" marT="27432" marB="27432" anchor="ctr">
                    <a:solidFill>
                      <a:srgbClr val="FFFFFF"/>
                    </a:solidFill>
                  </a:tcPr>
                </a:tc>
              </a:tr>
              <a:tr h="274320">
                <a:tc>
                  <a:txBody>
                    <a:bodyPr wrap="square"/>
                    <a:lstStyle/>
                    <a:p>
                      <a:pPr algn="l"/>
                      <a:r>
                        <a:rPr sz="1200" b="0">
                          <a:solidFill>
                            <a:srgbClr val="2C3C40"/>
                          </a:solidFill>
                          <a:latin typeface="Calibri"/>
                        </a:rPr>
                        <a:t>mean BP</a:t>
                      </a:r>
                    </a:p>
                  </a:txBody>
                  <a:tcPr marL="82296" marR="82296" marT="27432" marB="27432" anchor="ctr">
                    <a:solidFill>
                      <a:srgbClr val="FFFFFF"/>
                    </a:solidFill>
                  </a:tcPr>
                </a:tc>
                <a:tc>
                  <a:txBody>
                    <a:bodyPr wrap="square"/>
                    <a:lstStyle/>
                    <a:p>
                      <a:pPr algn="l"/>
                      <a:r>
                        <a:rPr sz="1200" b="0">
                          <a:solidFill>
                            <a:srgbClr val="2C3C40"/>
                          </a:solidFill>
                          <a:latin typeface="Calibri"/>
                        </a:rPr>
                        <a:t>pre</a:t>
                      </a:r>
                    </a:p>
                  </a:txBody>
                  <a:tcPr marL="82296" marR="82296" marT="27432" marB="27432" anchor="ctr">
                    <a:solidFill>
                      <a:srgbClr val="FFFFFF"/>
                    </a:solidFill>
                  </a:tcPr>
                </a:tc>
                <a:tc>
                  <a:txBody>
                    <a:bodyPr wrap="square"/>
                    <a:lstStyle/>
                    <a:p>
                      <a:pPr algn="l"/>
                      <a:r>
                        <a:rPr sz="1150" b="1">
                          <a:solidFill>
                            <a:srgbClr val="0D6B6B"/>
                          </a:solidFill>
                          <a:latin typeface="Consolas"/>
                        </a:rPr>
                        <a:t>VALUE</a:t>
                      </a:r>
                    </a:p>
                  </a:txBody>
                  <a:tcPr marL="82296" marR="82296" marT="27432" marB="27432" anchor="ctr">
                    <a:solidFill>
                      <a:srgbClr val="FFFFFF"/>
                    </a:solidFill>
                  </a:tcPr>
                </a:tc>
                <a:tc>
                  <a:txBody>
                    <a:bodyPr wrap="square"/>
                    <a:lstStyle/>
                    <a:p>
                      <a:pPr algn="l"/>
                      <a:r>
                        <a:rPr sz="1150" b="0">
                          <a:solidFill>
                            <a:srgbClr val="2C3C40"/>
                          </a:solidFill>
                          <a:latin typeface="Consolas"/>
                        </a:rPr>
                        <a:t>[1, 300] mmHg</a:t>
                      </a:r>
                    </a:p>
                  </a:txBody>
                  <a:tcPr marL="82296" marR="82296" marT="27432" marB="27432" anchor="ctr">
                    <a:solidFill>
                      <a:srgbClr val="FFFFFF"/>
                    </a:solidFill>
                  </a:tcPr>
                </a:tc>
              </a:tr>
              <a:tr h="274320">
                <a:tc>
                  <a:txBody>
                    <a:bodyPr wrap="square"/>
                    <a:lstStyle/>
                    <a:p>
                      <a:pPr algn="l"/>
                      <a:r>
                        <a:rPr sz="1200" b="0">
                          <a:solidFill>
                            <a:srgbClr val="2C3C40"/>
                          </a:solidFill>
                          <a:latin typeface="Calibri"/>
                        </a:rPr>
                        <a:t>respiration rate</a:t>
                      </a:r>
                    </a:p>
                  </a:txBody>
                  <a:tcPr marL="82296" marR="82296" marT="27432" marB="27432" anchor="ctr">
                    <a:solidFill>
                      <a:srgbClr val="FFFFFF"/>
                    </a:solidFill>
                  </a:tcPr>
                </a:tc>
                <a:tc>
                  <a:txBody>
                    <a:bodyPr wrap="square"/>
                    <a:lstStyle/>
                    <a:p>
                      <a:pPr algn="l"/>
                      <a:r>
                        <a:rPr sz="1200" b="0">
                          <a:solidFill>
                            <a:srgbClr val="2C3C40"/>
                          </a:solidFill>
                          <a:latin typeface="Calibri"/>
                        </a:rPr>
                        <a:t>pre</a:t>
                      </a:r>
                    </a:p>
                  </a:txBody>
                  <a:tcPr marL="82296" marR="82296" marT="27432" marB="27432" anchor="ctr">
                    <a:solidFill>
                      <a:srgbClr val="FFFFFF"/>
                    </a:solidFill>
                  </a:tcPr>
                </a:tc>
                <a:tc>
                  <a:txBody>
                    <a:bodyPr wrap="square"/>
                    <a:lstStyle/>
                    <a:p>
                      <a:pPr algn="l"/>
                      <a:r>
                        <a:rPr sz="1150" b="1">
                          <a:solidFill>
                            <a:srgbClr val="0D6B6B"/>
                          </a:solidFill>
                          <a:latin typeface="Consolas"/>
                        </a:rPr>
                        <a:t>VALUE</a:t>
                      </a:r>
                    </a:p>
                  </a:txBody>
                  <a:tcPr marL="82296" marR="82296" marT="27432" marB="27432" anchor="ctr">
                    <a:solidFill>
                      <a:srgbClr val="FFFFFF"/>
                    </a:solidFill>
                  </a:tcPr>
                </a:tc>
                <a:tc>
                  <a:txBody>
                    <a:bodyPr wrap="square"/>
                    <a:lstStyle/>
                    <a:p>
                      <a:pPr algn="l"/>
                      <a:r>
                        <a:rPr sz="1150" b="0">
                          <a:solidFill>
                            <a:srgbClr val="2C3C40"/>
                          </a:solidFill>
                          <a:latin typeface="Consolas"/>
                        </a:rPr>
                        <a:t>[1, 70] breaths/min</a:t>
                      </a:r>
                    </a:p>
                  </a:txBody>
                  <a:tcPr marL="82296" marR="82296" marT="27432" marB="27432" anchor="ctr">
                    <a:solidFill>
                      <a:srgbClr val="FFFFFF"/>
                    </a:solidFill>
                  </a:tcPr>
                </a:tc>
              </a:tr>
              <a:tr h="274320">
                <a:tc>
                  <a:txBody>
                    <a:bodyPr wrap="square"/>
                    <a:lstStyle/>
                    <a:p>
                      <a:pPr algn="l"/>
                      <a:r>
                        <a:rPr sz="1200" b="0">
                          <a:solidFill>
                            <a:srgbClr val="2C3C40"/>
                          </a:solidFill>
                          <a:latin typeface="Calibri"/>
                        </a:rPr>
                        <a:t>temperature</a:t>
                      </a:r>
                    </a:p>
                  </a:txBody>
                  <a:tcPr marL="82296" marR="82296" marT="27432" marB="27432" anchor="ctr">
                    <a:solidFill>
                      <a:srgbClr val="FFFFFF"/>
                    </a:solidFill>
                  </a:tcPr>
                </a:tc>
                <a:tc>
                  <a:txBody>
                    <a:bodyPr wrap="square"/>
                    <a:lstStyle/>
                    <a:p>
                      <a:pPr algn="l"/>
                      <a:r>
                        <a:rPr sz="1200" b="0">
                          <a:solidFill>
                            <a:srgbClr val="2C3C40"/>
                          </a:solidFill>
                          <a:latin typeface="Calibri"/>
                        </a:rPr>
                        <a:t>pre</a:t>
                      </a:r>
                    </a:p>
                  </a:txBody>
                  <a:tcPr marL="82296" marR="82296" marT="27432" marB="27432" anchor="ctr">
                    <a:solidFill>
                      <a:srgbClr val="FFFFFF"/>
                    </a:solidFill>
                  </a:tcPr>
                </a:tc>
                <a:tc>
                  <a:txBody>
                    <a:bodyPr wrap="square"/>
                    <a:lstStyle/>
                    <a:p>
                      <a:pPr algn="l"/>
                      <a:r>
                        <a:rPr sz="1150" b="1">
                          <a:solidFill>
                            <a:srgbClr val="0D6B6B"/>
                          </a:solidFill>
                          <a:latin typeface="Consolas"/>
                        </a:rPr>
                        <a:t>VALUE</a:t>
                      </a:r>
                    </a:p>
                  </a:txBody>
                  <a:tcPr marL="82296" marR="82296" marT="27432" marB="27432" anchor="ctr">
                    <a:solidFill>
                      <a:srgbClr val="FFFFFF"/>
                    </a:solidFill>
                  </a:tcPr>
                </a:tc>
                <a:tc>
                  <a:txBody>
                    <a:bodyPr wrap="square"/>
                    <a:lstStyle/>
                    <a:p>
                      <a:pPr algn="l"/>
                      <a:r>
                        <a:rPr sz="1150" b="0">
                          <a:solidFill>
                            <a:srgbClr val="2C3C40"/>
                          </a:solidFill>
                          <a:latin typeface="Consolas"/>
                        </a:rPr>
                        <a:t>[21, 50] °C</a:t>
                      </a:r>
                    </a:p>
                  </a:txBody>
                  <a:tcPr marL="82296" marR="82296" marT="27432" marB="27432" anchor="ctr">
                    <a:solidFill>
                      <a:srgbClr val="FFFFFF"/>
                    </a:solidFill>
                  </a:tcPr>
                </a:tc>
              </a:tr>
              <a:tr h="274320">
                <a:tc>
                  <a:txBody>
                    <a:bodyPr wrap="square"/>
                    <a:lstStyle/>
                    <a:p>
                      <a:pPr algn="l"/>
                      <a:r>
                        <a:rPr sz="1200" b="0">
                          <a:solidFill>
                            <a:srgbClr val="2C3C40"/>
                          </a:solidFill>
                          <a:latin typeface="Calibri"/>
                        </a:rPr>
                        <a:t>oxygen saturation</a:t>
                      </a:r>
                    </a:p>
                  </a:txBody>
                  <a:tcPr marL="82296" marR="82296" marT="27432" marB="27432" anchor="ctr">
                    <a:solidFill>
                      <a:srgbClr val="FFFFFF"/>
                    </a:solidFill>
                  </a:tcPr>
                </a:tc>
                <a:tc>
                  <a:txBody>
                    <a:bodyPr wrap="square"/>
                    <a:lstStyle/>
                    <a:p>
                      <a:pPr algn="l"/>
                      <a:r>
                        <a:rPr sz="1200" b="0">
                          <a:solidFill>
                            <a:srgbClr val="2C3C40"/>
                          </a:solidFill>
                          <a:latin typeface="Calibri"/>
                        </a:rPr>
                        <a:t>pre</a:t>
                      </a:r>
                    </a:p>
                  </a:txBody>
                  <a:tcPr marL="82296" marR="82296" marT="27432" marB="27432" anchor="ctr">
                    <a:solidFill>
                      <a:srgbClr val="FFFFFF"/>
                    </a:solidFill>
                  </a:tcPr>
                </a:tc>
                <a:tc>
                  <a:txBody>
                    <a:bodyPr wrap="square"/>
                    <a:lstStyle/>
                    <a:p>
                      <a:pPr algn="l"/>
                      <a:r>
                        <a:rPr sz="1150" b="1">
                          <a:solidFill>
                            <a:srgbClr val="0D6B6B"/>
                          </a:solidFill>
                          <a:latin typeface="Consolas"/>
                        </a:rPr>
                        <a:t>VALUE</a:t>
                      </a:r>
                    </a:p>
                  </a:txBody>
                  <a:tcPr marL="82296" marR="82296" marT="27432" marB="27432" anchor="ctr">
                    <a:solidFill>
                      <a:srgbClr val="FFFFFF"/>
                    </a:solidFill>
                  </a:tcPr>
                </a:tc>
                <a:tc>
                  <a:txBody>
                    <a:bodyPr wrap="square"/>
                    <a:lstStyle/>
                    <a:p>
                      <a:pPr algn="l"/>
                      <a:r>
                        <a:rPr sz="1150" b="0">
                          <a:solidFill>
                            <a:srgbClr val="2C3C40"/>
                          </a:solidFill>
                          <a:latin typeface="Consolas"/>
                        </a:rPr>
                        <a:t>[1, 100] %</a:t>
                      </a:r>
                    </a:p>
                  </a:txBody>
                  <a:tcPr marL="82296" marR="82296" marT="27432" marB="27432" anchor="ctr">
                    <a:solidFill>
                      <a:srgbClr val="FFFFFF"/>
                    </a:solidFill>
                  </a:tcPr>
                </a:tc>
              </a:tr>
              <a:tr h="274320">
                <a:tc>
                  <a:txBody>
                    <a:bodyPr wrap="square"/>
                    <a:lstStyle/>
                    <a:p>
                      <a:pPr algn="l"/>
                      <a:r>
                        <a:rPr sz="1200" b="0">
                          <a:solidFill>
                            <a:srgbClr val="2C3C40"/>
                          </a:solidFill>
                          <a:latin typeface="Calibri"/>
                        </a:rPr>
                        <a:t>all vitals</a:t>
                      </a:r>
                    </a:p>
                  </a:txBody>
                  <a:tcPr marL="82296" marR="82296" marT="27432" marB="27432" anchor="ctr">
                    <a:solidFill>
                      <a:srgbClr val="FFFFFF"/>
                    </a:solidFill>
                  </a:tcPr>
                </a:tc>
                <a:tc>
                  <a:txBody>
                    <a:bodyPr wrap="square"/>
                    <a:lstStyle/>
                    <a:p>
                      <a:pPr algn="l"/>
                      <a:r>
                        <a:rPr sz="1200" b="0">
                          <a:solidFill>
                            <a:srgbClr val="2C3C40"/>
                          </a:solidFill>
                          <a:latin typeface="Calibri"/>
                        </a:rPr>
                        <a:t>pre</a:t>
                      </a:r>
                    </a:p>
                  </a:txBody>
                  <a:tcPr marL="82296" marR="82296" marT="27432" marB="27432" anchor="ctr">
                    <a:solidFill>
                      <a:srgbClr val="FFFFFF"/>
                    </a:solidFill>
                  </a:tcPr>
                </a:tc>
                <a:tc>
                  <a:txBody>
                    <a:bodyPr wrap="square"/>
                    <a:lstStyle/>
                    <a:p>
                      <a:pPr algn="l"/>
                      <a:r>
                        <a:rPr sz="1150" b="1">
                          <a:solidFill>
                            <a:srgbClr val="0D6B6B"/>
                          </a:solidFill>
                          <a:latin typeface="Consolas"/>
                        </a:rPr>
                        <a:t>VALUE</a:t>
                      </a:r>
                    </a:p>
                  </a:txBody>
                  <a:tcPr marL="82296" marR="82296" marT="27432" marB="27432" anchor="ctr">
                    <a:solidFill>
                      <a:srgbClr val="FFFFFF"/>
                    </a:solidFill>
                  </a:tcPr>
                </a:tc>
                <a:tc>
                  <a:txBody>
                    <a:bodyPr wrap="square"/>
                    <a:lstStyle/>
                    <a:p>
                      <a:pPr algn="l"/>
                      <a:r>
                        <a:rPr sz="1150" b="0">
                          <a:solidFill>
                            <a:srgbClr val="2C3C40"/>
                          </a:solidFill>
                          <a:latin typeface="Consolas"/>
                        </a:rPr>
                        <a:t>union of the seven</a:t>
                      </a:r>
                    </a:p>
                  </a:txBody>
                  <a:tcPr marL="82296" marR="82296" marT="27432" marB="27432" anchor="ctr">
                    <a:solidFill>
                      <a:srgbClr val="FFFFFF"/>
                    </a:solidFill>
                  </a:tcPr>
                </a:tc>
              </a:tr>
              <a:tr h="274320">
                <a:tc>
                  <a:txBody>
                    <a:bodyPr wrap="square"/>
                    <a:lstStyle/>
                    <a:p>
                      <a:pPr algn="l"/>
                      <a:r>
                        <a:rPr sz="1200" b="0">
                          <a:solidFill>
                            <a:srgbClr val="2C3C40"/>
                          </a:solidFill>
                          <a:latin typeface="Calibri"/>
                        </a:rPr>
                        <a:t>fill missing data</a:t>
                      </a:r>
                    </a:p>
                  </a:txBody>
                  <a:tcPr marL="82296" marR="82296" marT="27432" marB="27432" anchor="ctr">
                    <a:solidFill>
                      <a:srgbClr val="FFFFFF"/>
                    </a:solidFill>
                  </a:tcPr>
                </a:tc>
                <a:tc>
                  <a:txBody>
                    <a:bodyPr wrap="square"/>
                    <a:lstStyle/>
                    <a:p>
                      <a:pPr algn="l"/>
                      <a:r>
                        <a:rPr sz="1200" b="0">
                          <a:solidFill>
                            <a:srgbClr val="2C3C40"/>
                          </a:solidFill>
                          <a:latin typeface="Calibri"/>
                        </a:rPr>
                        <a:t>post</a:t>
                      </a:r>
                    </a:p>
                  </a:txBody>
                  <a:tcPr marL="82296" marR="82296" marT="27432" marB="27432" anchor="ctr">
                    <a:solidFill>
                      <a:srgbClr val="FFFFFF"/>
                    </a:solidFill>
                  </a:tcPr>
                </a:tc>
                <a:tc>
                  <a:txBody>
                    <a:bodyPr wrap="square"/>
                    <a:lstStyle/>
                    <a:p>
                      <a:pPr algn="l"/>
                      <a:r>
                        <a:rPr sz="1150" b="1">
                          <a:solidFill>
                            <a:srgbClr val="4A6572"/>
                          </a:solidFill>
                          <a:latin typeface="Consolas"/>
                        </a:rPr>
                        <a:t>FEATURE</a:t>
                      </a:r>
                    </a:p>
                  </a:txBody>
                  <a:tcPr marL="82296" marR="82296" marT="27432" marB="27432" anchor="ctr">
                    <a:solidFill>
                      <a:srgbClr val="FFFFFF"/>
                    </a:solidFill>
                  </a:tcPr>
                </a:tc>
                <a:tc>
                  <a:txBody>
                    <a:bodyPr wrap="square"/>
                    <a:lstStyle/>
                    <a:p>
                      <a:pPr algn="l"/>
                      <a:r>
                        <a:rPr sz="1150" b="0">
                          <a:solidFill>
                            <a:srgbClr val="2C3C40"/>
                          </a:solidFill>
                          <a:latin typeface="Consolas"/>
                        </a:rPr>
                        <a:t>k = 3, ≥ 2 known points</a:t>
                      </a:r>
                    </a:p>
                  </a:txBody>
                  <a:tcPr marL="82296" marR="82296" marT="27432" marB="27432" anchor="ctr">
                    <a:solidFill>
                      <a:srgbClr val="FFFFFF"/>
                    </a:solidFill>
                  </a:tcPr>
                </a:tc>
              </a:tr>
              <a:tr h="274320">
                <a:tc>
                  <a:txBody>
                    <a:bodyPr wrap="square"/>
                    <a:lstStyle/>
                    <a:p>
                      <a:pPr algn="l"/>
                      <a:r>
                        <a:rPr sz="1200" b="1">
                          <a:solidFill>
                            <a:srgbClr val="2C3C40"/>
                          </a:solidFill>
                          <a:latin typeface="Calibri"/>
                        </a:rPr>
                        <a:t>long missing segment</a:t>
                      </a:r>
                    </a:p>
                  </a:txBody>
                  <a:tcPr marL="82296" marR="82296" marT="27432" marB="27432" anchor="ctr">
                    <a:solidFill>
                      <a:srgbClr val="FFFFFF"/>
                    </a:solidFill>
                  </a:tcPr>
                </a:tc>
                <a:tc>
                  <a:txBody>
                    <a:bodyPr wrap="square"/>
                    <a:lstStyle/>
                    <a:p>
                      <a:pPr algn="l"/>
                      <a:r>
                        <a:rPr sz="1200" b="0">
                          <a:solidFill>
                            <a:srgbClr val="2C3C40"/>
                          </a:solidFill>
                          <a:latin typeface="Calibri"/>
                        </a:rPr>
                        <a:t>post</a:t>
                      </a:r>
                    </a:p>
                  </a:txBody>
                  <a:tcPr marL="82296" marR="82296" marT="27432" marB="27432" anchor="ctr">
                    <a:solidFill>
                      <a:srgbClr val="FFFFFF"/>
                    </a:solidFill>
                  </a:tcPr>
                </a:tc>
                <a:tc>
                  <a:txBody>
                    <a:bodyPr wrap="square"/>
                    <a:lstStyle/>
                    <a:p>
                      <a:pPr algn="l"/>
                      <a:r>
                        <a:rPr sz="1150" b="1">
                          <a:solidFill>
                            <a:srgbClr val="A4552B"/>
                          </a:solidFill>
                          <a:latin typeface="Consolas"/>
                        </a:rPr>
                        <a:t>RECORD</a:t>
                      </a:r>
                    </a:p>
                  </a:txBody>
                  <a:tcPr marL="82296" marR="82296" marT="27432" marB="27432" anchor="ctr">
                    <a:solidFill>
                      <a:srgbClr val="FFFFFF"/>
                    </a:solidFill>
                  </a:tcPr>
                </a:tc>
                <a:tc>
                  <a:txBody>
                    <a:bodyPr wrap="square"/>
                    <a:lstStyle/>
                    <a:p>
                      <a:pPr algn="l"/>
                      <a:r>
                        <a:rPr sz="1150" b="0">
                          <a:solidFill>
                            <a:srgbClr val="2C3C40"/>
                          </a:solidFill>
                          <a:latin typeface="Consolas"/>
                        </a:rPr>
                        <a:t>≥ 10 consecutive missing/zero hours</a:t>
                      </a:r>
                    </a:p>
                  </a:txBody>
                  <a:tcPr marL="82296" marR="82296" marT="27432" marB="27432" anchor="ctr">
                    <a:solidFill>
                      <a:srgbClr val="FFFFFF"/>
                    </a:solidFill>
                  </a:tcPr>
                </a:tc>
              </a:tr>
              <a:tr h="274320">
                <a:tc>
                  <a:txBody>
                    <a:bodyPr wrap="square"/>
                    <a:lstStyle/>
                    <a:p>
                      <a:pPr algn="l"/>
                      <a:r>
                        <a:rPr sz="1200" b="1">
                          <a:solidFill>
                            <a:srgbClr val="2C3C40"/>
                          </a:solidFill>
                          <a:latin typeface="Calibri"/>
                        </a:rPr>
                        <a:t>long gap</a:t>
                      </a:r>
                    </a:p>
                  </a:txBody>
                  <a:tcPr marL="82296" marR="82296" marT="27432" marB="27432" anchor="ctr">
                    <a:solidFill>
                      <a:srgbClr val="FFFFFF"/>
                    </a:solidFill>
                  </a:tcPr>
                </a:tc>
                <a:tc>
                  <a:txBody>
                    <a:bodyPr wrap="square"/>
                    <a:lstStyle/>
                    <a:p>
                      <a:pPr algn="l"/>
                      <a:r>
                        <a:rPr sz="1200" b="0">
                          <a:solidFill>
                            <a:srgbClr val="2C3C40"/>
                          </a:solidFill>
                          <a:latin typeface="Calibri"/>
                        </a:rPr>
                        <a:t>post</a:t>
                      </a:r>
                    </a:p>
                  </a:txBody>
                  <a:tcPr marL="82296" marR="82296" marT="27432" marB="27432" anchor="ctr">
                    <a:solidFill>
                      <a:srgbClr val="FFFFFF"/>
                    </a:solidFill>
                  </a:tcPr>
                </a:tc>
                <a:tc>
                  <a:txBody>
                    <a:bodyPr wrap="square"/>
                    <a:lstStyle/>
                    <a:p>
                      <a:pPr algn="l"/>
                      <a:r>
                        <a:rPr sz="1150" b="1">
                          <a:solidFill>
                            <a:srgbClr val="A4552B"/>
                          </a:solidFill>
                          <a:latin typeface="Consolas"/>
                        </a:rPr>
                        <a:t>RECORD</a:t>
                      </a:r>
                    </a:p>
                  </a:txBody>
                  <a:tcPr marL="82296" marR="82296" marT="27432" marB="27432" anchor="ctr">
                    <a:solidFill>
                      <a:srgbClr val="FFFFFF"/>
                    </a:solidFill>
                  </a:tcPr>
                </a:tc>
                <a:tc>
                  <a:txBody>
                    <a:bodyPr wrap="square"/>
                    <a:lstStyle/>
                    <a:p>
                      <a:pPr algn="l"/>
                      <a:r>
                        <a:rPr sz="1150" b="0">
                          <a:solidFill>
                            <a:srgbClr val="2C3C40"/>
                          </a:solidFill>
                          <a:latin typeface="Consolas"/>
                        </a:rPr>
                        <a:t>≥ 2 consecutive all-blank hours</a:t>
                      </a:r>
                    </a:p>
                  </a:txBody>
                  <a:tcPr marL="82296" marR="82296" marT="27432" marB="27432" anchor="ctr">
                    <a:solidFill>
                      <a:srgbClr val="FFFFFF"/>
                    </a:solidFill>
                  </a:tcPr>
                </a:tc>
              </a:tr>
              <a:tr h="274320">
                <a:tc>
                  <a:txBody>
                    <a:bodyPr wrap="square"/>
                    <a:lstStyle/>
                    <a:p>
                      <a:pPr algn="l"/>
                      <a:r>
                        <a:rPr sz="1200" b="1">
                          <a:solidFill>
                            <a:srgbClr val="2C3C40"/>
                          </a:solidFill>
                          <a:latin typeface="Calibri"/>
                        </a:rPr>
                        <a:t>high invalid data</a:t>
                      </a:r>
                    </a:p>
                  </a:txBody>
                  <a:tcPr marL="82296" marR="82296" marT="27432" marB="27432" anchor="ctr">
                    <a:solidFill>
                      <a:srgbClr val="FFFFFF"/>
                    </a:solidFill>
                  </a:tcPr>
                </a:tc>
                <a:tc>
                  <a:txBody>
                    <a:bodyPr wrap="square"/>
                    <a:lstStyle/>
                    <a:p>
                      <a:pPr algn="l"/>
                      <a:r>
                        <a:rPr sz="1200" b="0">
                          <a:solidFill>
                            <a:srgbClr val="2C3C40"/>
                          </a:solidFill>
                          <a:latin typeface="Calibri"/>
                        </a:rPr>
                        <a:t>post</a:t>
                      </a:r>
                    </a:p>
                  </a:txBody>
                  <a:tcPr marL="82296" marR="82296" marT="27432" marB="27432" anchor="ctr">
                    <a:solidFill>
                      <a:srgbClr val="FFFFFF"/>
                    </a:solidFill>
                  </a:tcPr>
                </a:tc>
                <a:tc>
                  <a:txBody>
                    <a:bodyPr wrap="square"/>
                    <a:lstStyle/>
                    <a:p>
                      <a:pPr algn="l"/>
                      <a:r>
                        <a:rPr sz="1150" b="1">
                          <a:solidFill>
                            <a:srgbClr val="A4552B"/>
                          </a:solidFill>
                          <a:latin typeface="Consolas"/>
                        </a:rPr>
                        <a:t>RECORD</a:t>
                      </a:r>
                    </a:p>
                  </a:txBody>
                  <a:tcPr marL="82296" marR="82296" marT="27432" marB="27432" anchor="ctr">
                    <a:solidFill>
                      <a:srgbClr val="FFFFFF"/>
                    </a:solidFill>
                  </a:tcPr>
                </a:tc>
                <a:tc>
                  <a:txBody>
                    <a:bodyPr wrap="square"/>
                    <a:lstStyle/>
                    <a:p>
                      <a:pPr algn="l"/>
                      <a:r>
                        <a:rPr sz="1150" b="0">
                          <a:solidFill>
                            <a:srgbClr val="2C3C40"/>
                          </a:solidFill>
                          <a:latin typeface="Consolas"/>
                        </a:rPr>
                        <a:t>&gt; 10% of the 168 cells invalid</a:t>
                      </a:r>
                    </a:p>
                  </a:txBody>
                  <a:tcPr marL="82296" marR="82296" marT="27432" marB="27432" anchor="ctr">
                    <a:solidFill>
                      <a:srgbClr val="FFFFFF"/>
                    </a:solidFill>
                  </a:tcPr>
                </a:tc>
              </a:tr>
            </a:tbl>
          </a:graphicData>
        </a:graphic>
      </p:graphicFrame>
      <p:sp>
        <p:nvSpPr>
          <p:cNvPr id="6" name="Rectangle 5"/>
          <p:cNvSpPr/>
          <p:nvPr/>
        </p:nvSpPr>
        <p:spPr>
          <a:xfrm>
            <a:off x="8275320" y="1938528"/>
            <a:ext cx="3255264" cy="361188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13064" y="2157984"/>
            <a:ext cx="2779776" cy="3291840"/>
          </a:xfrm>
          <a:prstGeom prst="rect">
            <a:avLst/>
          </a:prstGeom>
          <a:noFill/>
        </p:spPr>
        <p:txBody>
          <a:bodyPr wrap="square" anchor="t" lIns="0" rIns="0" tIns="0" bIns="0">
            <a:spAutoFit/>
          </a:bodyPr>
          <a:lstStyle/>
          <a:p>
            <a:pPr algn="l">
              <a:lnSpc>
                <a:spcPct val="124000"/>
              </a:lnSpc>
              <a:spcAft>
                <a:spcPts val="1200"/>
              </a:spcAft>
            </a:pPr>
            <a:r>
              <a:rPr sz="1600" b="1" i="0">
                <a:solidFill>
                  <a:srgbClr val="0E1618"/>
                </a:solidFill>
                <a:latin typeface="Georgia"/>
              </a:rPr>
              <a:t>What each level can do</a:t>
            </a:r>
          </a:p>
          <a:p>
            <a:pPr algn="l">
              <a:lnSpc>
                <a:spcPct val="124000"/>
              </a:lnSpc>
              <a:spcAft>
                <a:spcPts val="300"/>
              </a:spcAft>
            </a:pPr>
            <a:r>
              <a:rPr sz="1200" b="1" i="0">
                <a:solidFill>
                  <a:srgbClr val="0D6B6B"/>
                </a:solidFill>
                <a:latin typeface="Consolas"/>
              </a:rPr>
              <a:t>VALUE</a:t>
            </a:r>
          </a:p>
          <a:p>
            <a:pPr algn="l">
              <a:lnSpc>
                <a:spcPct val="126000"/>
              </a:lnSpc>
              <a:spcAft>
                <a:spcPts val="1100"/>
              </a:spcAft>
            </a:pPr>
            <a:r>
              <a:rPr sz="1250" b="0" i="0">
                <a:solidFill>
                  <a:srgbClr val="2C3C40"/>
                </a:solidFill>
                <a:latin typeface="Calibri"/>
              </a:rPr>
              <a:t>Drops individual out-of-range readings from an hour's list. The hour keeps its other readings. The patient always stays.</a:t>
            </a:r>
          </a:p>
          <a:p>
            <a:pPr algn="l">
              <a:lnSpc>
                <a:spcPct val="124000"/>
              </a:lnSpc>
              <a:spcAft>
                <a:spcPts val="300"/>
              </a:spcAft>
            </a:pPr>
            <a:r>
              <a:rPr sz="1200" b="1" i="0">
                <a:solidFill>
                  <a:srgbClr val="4A6572"/>
                </a:solidFill>
                <a:latin typeface="Consolas"/>
              </a:rPr>
              <a:t>FEATURE</a:t>
            </a:r>
          </a:p>
          <a:p>
            <a:pPr algn="l">
              <a:lnSpc>
                <a:spcPct val="126000"/>
              </a:lnSpc>
              <a:spcAft>
                <a:spcPts val="1100"/>
              </a:spcAft>
            </a:pPr>
            <a:r>
              <a:rPr sz="1250" b="0" i="0">
                <a:solidFill>
                  <a:srgbClr val="2C3C40"/>
                </a:solidFill>
                <a:latin typeface="Calibri"/>
              </a:rPr>
              <a:t>Fills empty cells. Changes what the model sees; removes nothing.</a:t>
            </a:r>
          </a:p>
          <a:p>
            <a:pPr algn="l">
              <a:lnSpc>
                <a:spcPct val="124000"/>
              </a:lnSpc>
              <a:spcAft>
                <a:spcPts val="300"/>
              </a:spcAft>
            </a:pPr>
            <a:r>
              <a:rPr sz="1200" b="1" i="0">
                <a:solidFill>
                  <a:srgbClr val="A4552B"/>
                </a:solidFill>
                <a:latin typeface="Consolas"/>
              </a:rPr>
              <a:t>RECORD</a:t>
            </a:r>
          </a:p>
          <a:p>
            <a:pPr algn="l">
              <a:lnSpc>
                <a:spcPct val="126000"/>
              </a:lnSpc>
              <a:spcAft>
                <a:spcPts val="1100"/>
              </a:spcAft>
            </a:pPr>
            <a:r>
              <a:rPr sz="1250" b="0" i="0">
                <a:solidFill>
                  <a:srgbClr val="2C3C40"/>
                </a:solidFill>
                <a:latin typeface="Calibri"/>
              </a:rPr>
              <a:t>Deletes the entire patient from the dataset.</a:t>
            </a:r>
          </a:p>
        </p:txBody>
      </p:sp>
      <p:sp>
        <p:nvSpPr>
          <p:cNvPr id="8" name="TextBox 7"/>
          <p:cNvSpPr txBox="1"/>
          <p:nvPr/>
        </p:nvSpPr>
        <p:spPr>
          <a:xfrm>
            <a:off x="658368" y="5650992"/>
            <a:ext cx="10874959" cy="1005840"/>
          </a:xfrm>
          <a:prstGeom prst="rect">
            <a:avLst/>
          </a:prstGeom>
          <a:noFill/>
        </p:spPr>
        <p:txBody>
          <a:bodyPr wrap="square" anchor="t" lIns="0" rIns="0" tIns="0" bIns="0">
            <a:spAutoFit/>
          </a:bodyPr>
          <a:lstStyle/>
          <a:p>
            <a:pPr algn="l">
              <a:lnSpc>
                <a:spcPct val="132000"/>
              </a:lnSpc>
              <a:spcAft>
                <a:spcPts val="0"/>
              </a:spcAft>
            </a:pPr>
            <a:r>
              <a:rPr sz="1550" b="0" i="0">
                <a:solidFill>
                  <a:srgbClr val="0E1618"/>
                </a:solidFill>
                <a:latin typeface="Calibri"/>
              </a:rPr>
              <a:t>Everything in this talk follows from that last row. Hold onto it — we come back to it on the slide after next.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WHY FILTER AT ALL</a:t>
            </a:r>
          </a:p>
          <a:p>
            <a:pPr algn="l">
              <a:lnSpc>
                <a:spcPct val="102000"/>
              </a:lnSpc>
              <a:spcAft>
                <a:spcPts val="0"/>
              </a:spcAft>
            </a:pPr>
            <a:r>
              <a:rPr sz="3000" b="1" i="0">
                <a:solidFill>
                  <a:srgbClr val="0E1618"/>
                </a:solidFill>
                <a:latin typeface="Georgia"/>
              </a:rPr>
              <a:t>The raw data really is broken</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Heart rate, MIMIC-III. A filter that touches 0.04% of readings changes the feature distribution beyond recognition.</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920240"/>
          <a:ext cx="5989316" cy="1645920"/>
        </p:xfrm>
        <a:graphic>
          <a:graphicData uri="http://schemas.openxmlformats.org/drawingml/2006/table">
            <a:tbl>
              <a:tblPr firstRow="1">
                <a:tableStyleId>{5C22544A-7EE6-4342-B048-85BDC9FD1C3A}</a:tableStyleId>
              </a:tblPr>
              <a:tblGrid>
                <a:gridCol w="2037183"/>
                <a:gridCol w="937104"/>
                <a:gridCol w="937104"/>
                <a:gridCol w="651898"/>
                <a:gridCol w="651898"/>
                <a:gridCol w="774129"/>
              </a:tblGrid>
              <a:tr h="329184">
                <a:tc>
                  <a:txBody>
                    <a:bodyPr wrap="square"/>
                    <a:lstStyle/>
                    <a:p>
                      <a:pPr algn="l"/>
                      <a:r>
                        <a:rPr sz="1150" b="1">
                          <a:solidFill>
                            <a:srgbClr val="61767A"/>
                          </a:solidFill>
                          <a:latin typeface="Calibri"/>
                        </a:rPr>
                        <a:t/>
                      </a:r>
                    </a:p>
                  </a:txBody>
                  <a:tcPr marL="82296" marR="82296" marT="27432" marB="27432" anchor="ctr">
                    <a:solidFill>
                      <a:srgbClr val="E4EAEA"/>
                    </a:solidFill>
                  </a:tcPr>
                </a:tc>
                <a:tc>
                  <a:txBody>
                    <a:bodyPr wrap="square"/>
                    <a:lstStyle/>
                    <a:p>
                      <a:pPr algn="r"/>
                      <a:r>
                        <a:rPr sz="1150" b="1">
                          <a:solidFill>
                            <a:srgbClr val="61767A"/>
                          </a:solidFill>
                          <a:latin typeface="Consolas"/>
                        </a:rPr>
                        <a:t>Readings</a:t>
                      </a:r>
                    </a:p>
                  </a:txBody>
                  <a:tcPr marL="82296" marR="82296" marT="27432" marB="27432" anchor="ctr">
                    <a:solidFill>
                      <a:srgbClr val="E4EAEA"/>
                    </a:solidFill>
                  </a:tcPr>
                </a:tc>
                <a:tc>
                  <a:txBody>
                    <a:bodyPr wrap="square"/>
                    <a:lstStyle/>
                    <a:p>
                      <a:pPr algn="r"/>
                      <a:r>
                        <a:rPr sz="1150" b="1">
                          <a:solidFill>
                            <a:srgbClr val="61767A"/>
                          </a:solidFill>
                          <a:latin typeface="Consolas"/>
                        </a:rPr>
                        <a:t>Max</a:t>
                      </a:r>
                    </a:p>
                  </a:txBody>
                  <a:tcPr marL="82296" marR="82296" marT="27432" marB="27432" anchor="ctr">
                    <a:solidFill>
                      <a:srgbClr val="E4EAEA"/>
                    </a:solidFill>
                  </a:tcPr>
                </a:tc>
                <a:tc>
                  <a:txBody>
                    <a:bodyPr wrap="square"/>
                    <a:lstStyle/>
                    <a:p>
                      <a:pPr algn="r"/>
                      <a:r>
                        <a:rPr sz="1150" b="1">
                          <a:solidFill>
                            <a:srgbClr val="61767A"/>
                          </a:solidFill>
                          <a:latin typeface="Consolas"/>
                        </a:rPr>
                        <a:t>Mean</a:t>
                      </a:r>
                    </a:p>
                  </a:txBody>
                  <a:tcPr marL="82296" marR="82296" marT="27432" marB="27432" anchor="ctr">
                    <a:solidFill>
                      <a:srgbClr val="E4EAEA"/>
                    </a:solidFill>
                  </a:tcPr>
                </a:tc>
                <a:tc>
                  <a:txBody>
                    <a:bodyPr wrap="square"/>
                    <a:lstStyle/>
                    <a:p>
                      <a:pPr algn="r"/>
                      <a:r>
                        <a:rPr sz="1150" b="1">
                          <a:solidFill>
                            <a:srgbClr val="61767A"/>
                          </a:solidFill>
                          <a:latin typeface="Consolas"/>
                        </a:rPr>
                        <a:t>Median</a:t>
                      </a:r>
                    </a:p>
                  </a:txBody>
                  <a:tcPr marL="82296" marR="82296" marT="27432" marB="27432" anchor="ctr">
                    <a:solidFill>
                      <a:srgbClr val="E4EAEA"/>
                    </a:solidFill>
                  </a:tcPr>
                </a:tc>
                <a:tc>
                  <a:txBody>
                    <a:bodyPr wrap="square"/>
                    <a:lstStyle/>
                    <a:p>
                      <a:pPr algn="r"/>
                      <a:r>
                        <a:rPr sz="1150" b="1">
                          <a:solidFill>
                            <a:srgbClr val="61767A"/>
                          </a:solidFill>
                          <a:latin typeface="Consolas"/>
                        </a:rPr>
                        <a:t>Std</a:t>
                      </a:r>
                    </a:p>
                  </a:txBody>
                  <a:tcPr marL="82296" marR="82296" marT="27432" marB="27432" anchor="ctr">
                    <a:solidFill>
                      <a:srgbClr val="E4EAEA"/>
                    </a:solidFill>
                  </a:tcPr>
                </a:tc>
              </a:tr>
              <a:tr h="329184">
                <a:tc>
                  <a:txBody>
                    <a:bodyPr wrap="square"/>
                    <a:lstStyle/>
                    <a:p>
                      <a:pPr algn="l"/>
                      <a:r>
                        <a:rPr sz="1150" b="0">
                          <a:solidFill>
                            <a:srgbClr val="2C3C40"/>
                          </a:solidFill>
                          <a:latin typeface="Calibri"/>
                        </a:rPr>
                        <a:t>(a) raw measurements</a:t>
                      </a:r>
                    </a:p>
                  </a:txBody>
                  <a:tcPr marL="82296" marR="82296" marT="27432" marB="27432" anchor="ctr">
                    <a:solidFill>
                      <a:srgbClr val="FFFFFF"/>
                    </a:solidFill>
                  </a:tcPr>
                </a:tc>
                <a:tc>
                  <a:txBody>
                    <a:bodyPr wrap="square"/>
                    <a:lstStyle/>
                    <a:p>
                      <a:pPr algn="r"/>
                      <a:r>
                        <a:rPr sz="1150" b="0">
                          <a:solidFill>
                            <a:srgbClr val="2C3C40"/>
                          </a:solidFill>
                          <a:latin typeface="Consolas"/>
                        </a:rPr>
                        <a:t>1,158,296</a:t>
                      </a:r>
                    </a:p>
                  </a:txBody>
                  <a:tcPr marL="82296" marR="82296" marT="27432" marB="27432" anchor="ctr">
                    <a:solidFill>
                      <a:srgbClr val="FFFFFF"/>
                    </a:solidFill>
                  </a:tcPr>
                </a:tc>
                <a:tc>
                  <a:txBody>
                    <a:bodyPr wrap="square"/>
                    <a:lstStyle/>
                    <a:p>
                      <a:pPr algn="r"/>
                      <a:r>
                        <a:rPr sz="1150" b="0">
                          <a:solidFill>
                            <a:srgbClr val="2C3C40"/>
                          </a:solidFill>
                          <a:latin typeface="Consolas"/>
                        </a:rPr>
                        <a:t>9,999,999</a:t>
                      </a:r>
                    </a:p>
                  </a:txBody>
                  <a:tcPr marL="82296" marR="82296" marT="27432" marB="27432" anchor="ctr">
                    <a:solidFill>
                      <a:srgbClr val="FFFFFF"/>
                    </a:solidFill>
                  </a:tcPr>
                </a:tc>
                <a:tc>
                  <a:txBody>
                    <a:bodyPr wrap="square"/>
                    <a:lstStyle/>
                    <a:p>
                      <a:pPr algn="r"/>
                      <a:r>
                        <a:rPr sz="1150" b="0">
                          <a:solidFill>
                            <a:srgbClr val="2C3C40"/>
                          </a:solidFill>
                          <a:latin typeface="Consolas"/>
                        </a:rPr>
                        <a:t>98.6</a:t>
                      </a:r>
                    </a:p>
                  </a:txBody>
                  <a:tcPr marL="82296" marR="82296" marT="27432" marB="27432" anchor="ctr">
                    <a:solidFill>
                      <a:srgbClr val="FFFFFF"/>
                    </a:solidFill>
                  </a:tcPr>
                </a:tc>
                <a:tc>
                  <a:txBody>
                    <a:bodyPr wrap="square"/>
                    <a:lstStyle/>
                    <a:p>
                      <a:pPr algn="r"/>
                      <a:r>
                        <a:rPr sz="1150" b="0">
                          <a:solidFill>
                            <a:srgbClr val="2C3C40"/>
                          </a:solidFill>
                          <a:latin typeface="Consolas"/>
                        </a:rPr>
                        <a:t>86</a:t>
                      </a:r>
                    </a:p>
                  </a:txBody>
                  <a:tcPr marL="82296" marR="82296" marT="27432" marB="27432" anchor="ctr">
                    <a:solidFill>
                      <a:srgbClr val="FFFFFF"/>
                    </a:solidFill>
                  </a:tcPr>
                </a:tc>
                <a:tc>
                  <a:txBody>
                    <a:bodyPr wrap="square"/>
                    <a:lstStyle/>
                    <a:p>
                      <a:pPr algn="r"/>
                      <a:r>
                        <a:rPr sz="1150" b="0">
                          <a:solidFill>
                            <a:srgbClr val="2C3C40"/>
                          </a:solidFill>
                          <a:latin typeface="Consolas"/>
                        </a:rPr>
                        <a:t>9,291.5</a:t>
                      </a:r>
                    </a:p>
                  </a:txBody>
                  <a:tcPr marL="82296" marR="82296" marT="27432" marB="27432" anchor="ctr">
                    <a:solidFill>
                      <a:srgbClr val="FFFFFF"/>
                    </a:solidFill>
                  </a:tcPr>
                </a:tc>
              </a:tr>
              <a:tr h="329184">
                <a:tc>
                  <a:txBody>
                    <a:bodyPr wrap="square"/>
                    <a:lstStyle/>
                    <a:p>
                      <a:pPr algn="l"/>
                      <a:r>
                        <a:rPr sz="1150" b="1">
                          <a:solidFill>
                            <a:srgbClr val="2C3C40"/>
                          </a:solidFill>
                          <a:latin typeface="Calibri"/>
                        </a:rPr>
                        <a:t>(b) after the heart-rate range</a:t>
                      </a:r>
                    </a:p>
                  </a:txBody>
                  <a:tcPr marL="82296" marR="82296" marT="27432" marB="27432" anchor="ctr">
                    <a:solidFill>
                      <a:srgbClr val="FFFFFF"/>
                    </a:solidFill>
                  </a:tcPr>
                </a:tc>
                <a:tc>
                  <a:txBody>
                    <a:bodyPr wrap="square"/>
                    <a:lstStyle/>
                    <a:p>
                      <a:pPr algn="r"/>
                      <a:r>
                        <a:rPr sz="1150" b="0">
                          <a:solidFill>
                            <a:srgbClr val="0E1618"/>
                          </a:solidFill>
                          <a:latin typeface="Consolas"/>
                        </a:rPr>
                        <a:t>1,157,789</a:t>
                      </a:r>
                    </a:p>
                  </a:txBody>
                  <a:tcPr marL="82296" marR="82296" marT="27432" marB="27432" anchor="ctr">
                    <a:solidFill>
                      <a:srgbClr val="FFFFFF"/>
                    </a:solidFill>
                  </a:tcPr>
                </a:tc>
                <a:tc>
                  <a:txBody>
                    <a:bodyPr wrap="square"/>
                    <a:lstStyle/>
                    <a:p>
                      <a:pPr algn="r"/>
                      <a:r>
                        <a:rPr sz="1150" b="0">
                          <a:solidFill>
                            <a:srgbClr val="0E1618"/>
                          </a:solidFill>
                          <a:latin typeface="Consolas"/>
                        </a:rPr>
                        <a:t>459</a:t>
                      </a:r>
                    </a:p>
                  </a:txBody>
                  <a:tcPr marL="82296" marR="82296" marT="27432" marB="27432" anchor="ctr">
                    <a:solidFill>
                      <a:srgbClr val="FFFFFF"/>
                    </a:solidFill>
                  </a:tcPr>
                </a:tc>
                <a:tc>
                  <a:txBody>
                    <a:bodyPr wrap="square"/>
                    <a:lstStyle/>
                    <a:p>
                      <a:pPr algn="r"/>
                      <a:r>
                        <a:rPr sz="1150" b="0">
                          <a:solidFill>
                            <a:srgbClr val="0E1618"/>
                          </a:solidFill>
                          <a:latin typeface="Consolas"/>
                        </a:rPr>
                        <a:t>90.0</a:t>
                      </a:r>
                    </a:p>
                  </a:txBody>
                  <a:tcPr marL="82296" marR="82296" marT="27432" marB="27432" anchor="ctr">
                    <a:solidFill>
                      <a:srgbClr val="FFFFFF"/>
                    </a:solidFill>
                  </a:tcPr>
                </a:tc>
                <a:tc>
                  <a:txBody>
                    <a:bodyPr wrap="square"/>
                    <a:lstStyle/>
                    <a:p>
                      <a:pPr algn="r"/>
                      <a:r>
                        <a:rPr sz="1150" b="0">
                          <a:solidFill>
                            <a:srgbClr val="0E1618"/>
                          </a:solidFill>
                          <a:latin typeface="Consolas"/>
                        </a:rPr>
                        <a:t>86</a:t>
                      </a:r>
                    </a:p>
                  </a:txBody>
                  <a:tcPr marL="82296" marR="82296" marT="27432" marB="27432" anchor="ctr">
                    <a:solidFill>
                      <a:srgbClr val="FFFFFF"/>
                    </a:solidFill>
                  </a:tcPr>
                </a:tc>
                <a:tc>
                  <a:txBody>
                    <a:bodyPr wrap="square"/>
                    <a:lstStyle/>
                    <a:p>
                      <a:pPr algn="r"/>
                      <a:r>
                        <a:rPr sz="1150" b="0">
                          <a:solidFill>
                            <a:srgbClr val="0E1618"/>
                          </a:solidFill>
                          <a:latin typeface="Consolas"/>
                        </a:rPr>
                        <a:t>24.4</a:t>
                      </a:r>
                    </a:p>
                  </a:txBody>
                  <a:tcPr marL="82296" marR="82296" marT="27432" marB="27432" anchor="ctr">
                    <a:solidFill>
                      <a:srgbClr val="FFFFFF"/>
                    </a:solidFill>
                  </a:tcPr>
                </a:tc>
              </a:tr>
              <a:tr h="329184">
                <a:tc>
                  <a:txBody>
                    <a:bodyPr wrap="square"/>
                    <a:lstStyle/>
                    <a:p>
                      <a:pPr algn="l"/>
                      <a:r>
                        <a:rPr sz="1150" b="0">
                          <a:solidFill>
                            <a:srgbClr val="2C3C40"/>
                          </a:solidFill>
                          <a:latin typeface="Calibri"/>
                        </a:rPr>
                        <a:t>(c) mean-aggregated, before</a:t>
                      </a:r>
                    </a:p>
                  </a:txBody>
                  <a:tcPr marL="82296" marR="82296" marT="27432" marB="27432" anchor="ctr">
                    <a:solidFill>
                      <a:srgbClr val="FFFFFF"/>
                    </a:solidFill>
                  </a:tcPr>
                </a:tc>
                <a:tc>
                  <a:txBody>
                    <a:bodyPr wrap="square"/>
                    <a:lstStyle/>
                    <a:p>
                      <a:pPr algn="r"/>
                      <a:r>
                        <a:rPr sz="1150" b="0">
                          <a:solidFill>
                            <a:srgbClr val="2C3C40"/>
                          </a:solidFill>
                          <a:latin typeface="Consolas"/>
                        </a:rPr>
                        <a:t>45,985</a:t>
                      </a:r>
                    </a:p>
                  </a:txBody>
                  <a:tcPr marL="82296" marR="82296" marT="27432" marB="27432" anchor="ctr">
                    <a:solidFill>
                      <a:srgbClr val="FFFFFF"/>
                    </a:solidFill>
                  </a:tcPr>
                </a:tc>
                <a:tc>
                  <a:txBody>
                    <a:bodyPr wrap="square"/>
                    <a:lstStyle/>
                    <a:p>
                      <a:pPr algn="r"/>
                      <a:r>
                        <a:rPr sz="1150" b="0">
                          <a:solidFill>
                            <a:srgbClr val="2C3C40"/>
                          </a:solidFill>
                          <a:latin typeface="Consolas"/>
                        </a:rPr>
                        <a:t>555,652</a:t>
                      </a:r>
                    </a:p>
                  </a:txBody>
                  <a:tcPr marL="82296" marR="82296" marT="27432" marB="27432" anchor="ctr">
                    <a:solidFill>
                      <a:srgbClr val="FFFFFF"/>
                    </a:solidFill>
                  </a:tcPr>
                </a:tc>
                <a:tc>
                  <a:txBody>
                    <a:bodyPr wrap="square"/>
                    <a:lstStyle/>
                    <a:p>
                      <a:pPr algn="r"/>
                      <a:r>
                        <a:rPr sz="1150" b="0">
                          <a:solidFill>
                            <a:srgbClr val="2C3C40"/>
                          </a:solidFill>
                          <a:latin typeface="Consolas"/>
                        </a:rPr>
                        <a:t>105.3</a:t>
                      </a:r>
                    </a:p>
                  </a:txBody>
                  <a:tcPr marL="82296" marR="82296" marT="27432" marB="27432" anchor="ctr">
                    <a:solidFill>
                      <a:srgbClr val="FFFFFF"/>
                    </a:solidFill>
                  </a:tcPr>
                </a:tc>
                <a:tc>
                  <a:txBody>
                    <a:bodyPr wrap="square"/>
                    <a:lstStyle/>
                    <a:p>
                      <a:pPr algn="r"/>
                      <a:r>
                        <a:rPr sz="1150" b="0">
                          <a:solidFill>
                            <a:srgbClr val="2C3C40"/>
                          </a:solidFill>
                          <a:latin typeface="Consolas"/>
                        </a:rPr>
                        <a:t>87.1</a:t>
                      </a:r>
                    </a:p>
                  </a:txBody>
                  <a:tcPr marL="82296" marR="82296" marT="27432" marB="27432" anchor="ctr">
                    <a:solidFill>
                      <a:srgbClr val="FFFFFF"/>
                    </a:solidFill>
                  </a:tcPr>
                </a:tc>
                <a:tc>
                  <a:txBody>
                    <a:bodyPr wrap="square"/>
                    <a:lstStyle/>
                    <a:p>
                      <a:pPr algn="r"/>
                      <a:r>
                        <a:rPr sz="1150" b="0">
                          <a:solidFill>
                            <a:srgbClr val="2C3C40"/>
                          </a:solidFill>
                          <a:latin typeface="Consolas"/>
                        </a:rPr>
                        <a:t>2,590.9</a:t>
                      </a:r>
                    </a:p>
                  </a:txBody>
                  <a:tcPr marL="82296" marR="82296" marT="27432" marB="27432" anchor="ctr">
                    <a:solidFill>
                      <a:srgbClr val="FFFFFF"/>
                    </a:solidFill>
                  </a:tcPr>
                </a:tc>
              </a:tr>
              <a:tr h="329184">
                <a:tc>
                  <a:txBody>
                    <a:bodyPr wrap="square"/>
                    <a:lstStyle/>
                    <a:p>
                      <a:pPr algn="l"/>
                      <a:r>
                        <a:rPr sz="1150" b="1">
                          <a:solidFill>
                            <a:srgbClr val="2C3C40"/>
                          </a:solidFill>
                          <a:latin typeface="Calibri"/>
                        </a:rPr>
                        <a:t>(d) mean-aggregated, after</a:t>
                      </a:r>
                    </a:p>
                  </a:txBody>
                  <a:tcPr marL="82296" marR="82296" marT="27432" marB="27432" anchor="ctr">
                    <a:solidFill>
                      <a:srgbClr val="FFFFFF"/>
                    </a:solidFill>
                  </a:tcPr>
                </a:tc>
                <a:tc>
                  <a:txBody>
                    <a:bodyPr wrap="square"/>
                    <a:lstStyle/>
                    <a:p>
                      <a:pPr algn="r"/>
                      <a:r>
                        <a:rPr sz="1150" b="0">
                          <a:solidFill>
                            <a:srgbClr val="0E1618"/>
                          </a:solidFill>
                          <a:latin typeface="Consolas"/>
                        </a:rPr>
                        <a:t>45,989</a:t>
                      </a:r>
                    </a:p>
                  </a:txBody>
                  <a:tcPr marL="82296" marR="82296" marT="27432" marB="27432" anchor="ctr">
                    <a:solidFill>
                      <a:srgbClr val="FFFFFF"/>
                    </a:solidFill>
                  </a:tcPr>
                </a:tc>
                <a:tc>
                  <a:txBody>
                    <a:bodyPr wrap="square"/>
                    <a:lstStyle/>
                    <a:p>
                      <a:pPr algn="r"/>
                      <a:r>
                        <a:rPr sz="1150" b="0">
                          <a:solidFill>
                            <a:srgbClr val="0E1618"/>
                          </a:solidFill>
                          <a:latin typeface="Consolas"/>
                        </a:rPr>
                        <a:t>251.5</a:t>
                      </a:r>
                    </a:p>
                  </a:txBody>
                  <a:tcPr marL="82296" marR="82296" marT="27432" marB="27432" anchor="ctr">
                    <a:solidFill>
                      <a:srgbClr val="FFFFFF"/>
                    </a:solidFill>
                  </a:tcPr>
                </a:tc>
                <a:tc>
                  <a:txBody>
                    <a:bodyPr wrap="square"/>
                    <a:lstStyle/>
                    <a:p>
                      <a:pPr algn="r"/>
                      <a:r>
                        <a:rPr sz="1150" b="0">
                          <a:solidFill>
                            <a:srgbClr val="0E1618"/>
                          </a:solidFill>
                          <a:latin typeface="Consolas"/>
                        </a:rPr>
                        <a:t>93.2</a:t>
                      </a:r>
                    </a:p>
                  </a:txBody>
                  <a:tcPr marL="82296" marR="82296" marT="27432" marB="27432" anchor="ctr">
                    <a:solidFill>
                      <a:srgbClr val="FFFFFF"/>
                    </a:solidFill>
                  </a:tcPr>
                </a:tc>
                <a:tc>
                  <a:txBody>
                    <a:bodyPr wrap="square"/>
                    <a:lstStyle/>
                    <a:p>
                      <a:pPr algn="r"/>
                      <a:r>
                        <a:rPr sz="1150" b="0">
                          <a:solidFill>
                            <a:srgbClr val="0E1618"/>
                          </a:solidFill>
                          <a:latin typeface="Consolas"/>
                        </a:rPr>
                        <a:t>87.1</a:t>
                      </a:r>
                    </a:p>
                  </a:txBody>
                  <a:tcPr marL="82296" marR="82296" marT="27432" marB="27432" anchor="ctr">
                    <a:solidFill>
                      <a:srgbClr val="FFFFFF"/>
                    </a:solidFill>
                  </a:tcPr>
                </a:tc>
                <a:tc>
                  <a:txBody>
                    <a:bodyPr wrap="square"/>
                    <a:lstStyle/>
                    <a:p>
                      <a:pPr algn="r"/>
                      <a:r>
                        <a:rPr sz="1150" b="0">
                          <a:solidFill>
                            <a:srgbClr val="0E1618"/>
                          </a:solidFill>
                          <a:latin typeface="Consolas"/>
                        </a:rPr>
                        <a:t>25.5</a:t>
                      </a:r>
                    </a:p>
                  </a:txBody>
                  <a:tcPr marL="82296" marR="82296" marT="27432" marB="27432" anchor="ctr">
                    <a:solidFill>
                      <a:srgbClr val="FFFFFF"/>
                    </a:solidFill>
                  </a:tcPr>
                </a:tc>
              </a:tr>
            </a:tbl>
          </a:graphicData>
        </a:graphic>
      </p:graphicFrame>
      <p:sp>
        <p:nvSpPr>
          <p:cNvPr id="6" name="TextBox 5"/>
          <p:cNvSpPr txBox="1"/>
          <p:nvPr/>
        </p:nvSpPr>
        <p:spPr>
          <a:xfrm>
            <a:off x="658368" y="3749039"/>
            <a:ext cx="5989320" cy="2011680"/>
          </a:xfrm>
          <a:prstGeom prst="rect">
            <a:avLst/>
          </a:prstGeom>
          <a:noFill/>
        </p:spPr>
        <p:txBody>
          <a:bodyPr wrap="square" anchor="t" lIns="0" rIns="0" tIns="0" bIns="0">
            <a:spAutoFit/>
          </a:bodyPr>
          <a:lstStyle/>
          <a:p>
            <a:pPr algn="l">
              <a:lnSpc>
                <a:spcPct val="130000"/>
              </a:lnSpc>
              <a:spcAft>
                <a:spcPts val="1000"/>
              </a:spcAft>
            </a:pPr>
            <a:r>
              <a:rPr sz="1400" b="0" i="0">
                <a:solidFill>
                  <a:srgbClr val="2C3C40"/>
                </a:solidFill>
                <a:latin typeface="Calibri"/>
              </a:rPr>
              <a:t>A maximum of </a:t>
            </a:r>
            <a:r>
              <a:rPr sz="1400" b="1" i="0">
                <a:solidFill>
                  <a:srgbClr val="A4552B"/>
                </a:solidFill>
                <a:latin typeface="Consolas"/>
              </a:rPr>
              <a:t>9,999,999 bpm</a:t>
            </a:r>
            <a:r>
              <a:rPr sz="1400" b="0" i="0">
                <a:solidFill>
                  <a:srgbClr val="2C3C40"/>
                </a:solidFill>
                <a:latin typeface="Calibri"/>
              </a:rPr>
              <a:t> is a charting sentinel, not a patient. Removing 507 readings out of 1.16 million takes the maximum to 459 and the standard deviation from 9,291 to 24.</a:t>
            </a:r>
          </a:p>
          <a:p>
            <a:pPr algn="l">
              <a:lnSpc>
                <a:spcPct val="130000"/>
              </a:lnSpc>
              <a:spcAft>
                <a:spcPts val="0"/>
              </a:spcAft>
            </a:pPr>
            <a:r>
              <a:rPr sz="1400" b="1" i="0">
                <a:solidFill>
                  <a:srgbClr val="0E1618"/>
                </a:solidFill>
                <a:latin typeface="Calibri"/>
              </a:rPr>
              <a:t>This is the case for filtering, and it is a good one. Nobody should train on a heart rate of ten million.</a:t>
            </a:r>
          </a:p>
        </p:txBody>
      </p:sp>
      <p:pic>
        <p:nvPicPr>
          <p:cNvPr id="7" name="Picture 6" descr="observation_count_heatmap_raw_mimic_iii.png"/>
          <p:cNvPicPr>
            <a:picLocks noChangeAspect="1"/>
          </p:cNvPicPr>
          <p:nvPr/>
        </p:nvPicPr>
        <p:blipFill>
          <a:blip r:embed="rId2"/>
          <a:stretch>
            <a:fillRect/>
          </a:stretch>
        </p:blipFill>
        <p:spPr>
          <a:xfrm>
            <a:off x="7072925" y="1920240"/>
            <a:ext cx="4105573" cy="3429000"/>
          </a:xfrm>
          <a:prstGeom prst="rect">
            <a:avLst/>
          </a:prstGeom>
        </p:spPr>
      </p:pic>
      <p:sp>
        <p:nvSpPr>
          <p:cNvPr id="8" name="TextBox 7"/>
          <p:cNvSpPr txBox="1"/>
          <p:nvPr/>
        </p:nvSpPr>
        <p:spPr>
          <a:xfrm>
            <a:off x="6720840" y="5404104"/>
            <a:ext cx="4809744" cy="274320"/>
          </a:xfrm>
          <a:prstGeom prst="rect">
            <a:avLst/>
          </a:prstGeom>
          <a:noFill/>
        </p:spPr>
        <p:txBody>
          <a:bodyPr wrap="square" anchor="t" lIns="0" rIns="0" tIns="0" bIns="0">
            <a:spAutoFit/>
          </a:bodyPr>
          <a:lstStyle/>
          <a:p>
            <a:pPr algn="l">
              <a:lnSpc>
                <a:spcPct val="124000"/>
              </a:lnSpc>
              <a:spcAft>
                <a:spcPts val="0"/>
              </a:spcAft>
            </a:pPr>
            <a:r>
              <a:rPr sz="1100" b="0" i="1">
                <a:solidFill>
                  <a:srgbClr val="61767A"/>
                </a:solidFill>
                <a:latin typeface="Calibri"/>
              </a:rPr>
              <a:t>Mean observations per vital-hour cell, unfiltered</a:t>
            </a:r>
          </a:p>
        </p:txBody>
      </p:sp>
      <p:sp>
        <p:nvSpPr>
          <p:cNvPr id="9" name="TextBox 8"/>
          <p:cNvSpPr txBox="1"/>
          <p:nvPr/>
        </p:nvSpPr>
        <p:spPr>
          <a:xfrm>
            <a:off x="658368" y="5760720"/>
            <a:ext cx="10874959" cy="1005840"/>
          </a:xfrm>
          <a:prstGeom prst="rect">
            <a:avLst/>
          </a:prstGeom>
          <a:noFill/>
        </p:spPr>
        <p:txBody>
          <a:bodyPr wrap="square" anchor="t" lIns="0" rIns="0" tIns="0" bIns="0">
            <a:spAutoFit/>
          </a:bodyPr>
          <a:lstStyle/>
          <a:p>
            <a:pPr algn="l">
              <a:lnSpc>
                <a:spcPct val="132000"/>
              </a:lnSpc>
              <a:spcAft>
                <a:spcPts val="0"/>
              </a:spcAft>
            </a:pPr>
            <a:r>
              <a:rPr sz="1450" b="0" i="0">
                <a:solidFill>
                  <a:srgbClr val="2C3C40"/>
                </a:solidFill>
                <a:latin typeface="Calibri"/>
              </a:rPr>
              <a:t>But measurement density is wildly uneven — so the same filter removes far more from heart rate than from temperature, and “one filter, applied uniformly” is already not a uniform intervention.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PAPER RESULT · DISTRIBUTION</a:t>
            </a:r>
          </a:p>
          <a:p>
            <a:pPr algn="l">
              <a:lnSpc>
                <a:spcPct val="102000"/>
              </a:lnSpc>
              <a:spcAft>
                <a:spcPts val="0"/>
              </a:spcAft>
            </a:pPr>
            <a:r>
              <a:rPr sz="3000" b="1" i="0">
                <a:solidFill>
                  <a:srgbClr val="0E1618"/>
                </a:solidFill>
                <a:latin typeface="Georgia"/>
              </a:rPr>
              <a:t>Filtering moves the class centroids</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Per-vital centroid shift from the unfiltered baseline after the all-vitals outlier filter, split by outcome class.</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ntroid_deviation_all_vitals_filter_mean.png"/>
          <p:cNvPicPr>
            <a:picLocks noChangeAspect="1"/>
          </p:cNvPicPr>
          <p:nvPr/>
        </p:nvPicPr>
        <p:blipFill>
          <a:blip r:embed="rId2"/>
          <a:stretch>
            <a:fillRect/>
          </a:stretch>
        </p:blipFill>
        <p:spPr>
          <a:xfrm>
            <a:off x="677945" y="1883664"/>
            <a:ext cx="7413206" cy="3703320"/>
          </a:xfrm>
          <a:prstGeom prst="rect">
            <a:avLst/>
          </a:prstGeom>
        </p:spPr>
      </p:pic>
      <p:sp>
        <p:nvSpPr>
          <p:cNvPr id="6" name="Rectangle 5"/>
          <p:cNvSpPr/>
          <p:nvPr/>
        </p:nvSpPr>
        <p:spPr>
          <a:xfrm>
            <a:off x="8366760" y="1883664"/>
            <a:ext cx="3163824" cy="370332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04504" y="2103120"/>
            <a:ext cx="2688336" cy="3383280"/>
          </a:xfrm>
          <a:prstGeom prst="rect">
            <a:avLst/>
          </a:prstGeom>
          <a:noFill/>
        </p:spPr>
        <p:txBody>
          <a:bodyPr wrap="square" anchor="t" lIns="0" rIns="0" tIns="0" bIns="0">
            <a:spAutoFit/>
          </a:bodyPr>
          <a:lstStyle/>
          <a:p>
            <a:pPr algn="l">
              <a:lnSpc>
                <a:spcPct val="124000"/>
              </a:lnSpc>
              <a:spcAft>
                <a:spcPts val="1100"/>
              </a:spcAft>
            </a:pPr>
            <a:r>
              <a:rPr sz="1600" b="1" i="0">
                <a:solidFill>
                  <a:srgbClr val="0E1618"/>
                </a:solidFill>
                <a:latin typeface="Georgia"/>
              </a:rPr>
              <a:t>How to read it</a:t>
            </a:r>
          </a:p>
          <a:p>
            <a:pPr algn="l">
              <a:lnSpc>
                <a:spcPct val="128000"/>
              </a:lnSpc>
              <a:spcAft>
                <a:spcPts val="1000"/>
              </a:spcAft>
            </a:pPr>
            <a:r>
              <a:rPr sz="1250" b="1" i="0">
                <a:solidFill>
                  <a:srgbClr val="0D6B6B"/>
                </a:solidFill>
                <a:latin typeface="Calibri"/>
              </a:rPr>
              <a:t>• </a:t>
            </a:r>
            <a:r>
              <a:rPr sz="1250" b="0" i="0">
                <a:solidFill>
                  <a:srgbClr val="2C3C40"/>
                </a:solidFill>
                <a:latin typeface="Calibri"/>
              </a:rPr>
              <a:t>Physiological outliers are one-sided — nobody charts a heart rate of minus 200 — so removing them moves the mean, and moves it in a direction that depends on the vital.</a:t>
            </a:r>
          </a:p>
          <a:p>
            <a:pPr algn="l">
              <a:lnSpc>
                <a:spcPct val="128000"/>
              </a:lnSpc>
              <a:spcAft>
                <a:spcPts val="1000"/>
              </a:spcAft>
            </a:pPr>
            <a:r>
              <a:rPr sz="1250" b="1" i="0">
                <a:solidFill>
                  <a:srgbClr val="0D6B6B"/>
                </a:solidFill>
                <a:latin typeface="Calibri"/>
              </a:rPr>
              <a:t>• </a:t>
            </a:r>
            <a:r>
              <a:rPr sz="1250" b="0" i="0">
                <a:solidFill>
                  <a:srgbClr val="2C3C40"/>
                </a:solidFill>
                <a:latin typeface="Calibri"/>
              </a:rPr>
              <a:t>Heart rate and oxygen saturation shift most, because that is where the extreme artifacts live.</a:t>
            </a:r>
          </a:p>
          <a:p>
            <a:pPr algn="l">
              <a:lnSpc>
                <a:spcPct val="128000"/>
              </a:lnSpc>
              <a:spcAft>
                <a:spcPts val="1000"/>
              </a:spcAft>
            </a:pPr>
            <a:r>
              <a:rPr sz="1250" b="1" i="0">
                <a:solidFill>
                  <a:srgbClr val="0D6B6B"/>
                </a:solidFill>
                <a:latin typeface="Calibri"/>
              </a:rPr>
              <a:t>• </a:t>
            </a:r>
            <a:r>
              <a:rPr sz="1250" b="0" i="0">
                <a:solidFill>
                  <a:srgbClr val="2C3C40"/>
                </a:solidFill>
                <a:latin typeface="Calibri"/>
              </a:rPr>
              <a:t>The bars within a vital are the four outcome sub-populations. When they move by different amounts, the filter has treated the classes differently.</a:t>
            </a:r>
          </a:p>
        </p:txBody>
      </p:sp>
      <p:sp>
        <p:nvSpPr>
          <p:cNvPr id="8" name="TextBox 7"/>
          <p:cNvSpPr txBox="1"/>
          <p:nvPr/>
        </p:nvSpPr>
        <p:spPr>
          <a:xfrm>
            <a:off x="658368" y="5687568"/>
            <a:ext cx="10874959" cy="1005840"/>
          </a:xfrm>
          <a:prstGeom prst="rect">
            <a:avLst/>
          </a:prstGeom>
          <a:noFill/>
        </p:spPr>
        <p:txBody>
          <a:bodyPr wrap="square" anchor="t" lIns="0" rIns="0" tIns="0" bIns="0">
            <a:spAutoFit/>
          </a:bodyPr>
          <a:lstStyle/>
          <a:p>
            <a:pPr algn="l">
              <a:lnSpc>
                <a:spcPct val="132000"/>
              </a:lnSpc>
              <a:spcAft>
                <a:spcPts val="0"/>
              </a:spcAft>
            </a:pPr>
            <a:r>
              <a:rPr sz="1500" b="0" i="0">
                <a:solidFill>
                  <a:srgbClr val="2C3C40"/>
                </a:solidFill>
                <a:latin typeface="Calibri"/>
              </a:rPr>
              <a:t>A shift is not automatically a problem. It becomes one when the classes move </a:t>
            </a:r>
            <a:r>
              <a:rPr sz="1500" b="1" i="1">
                <a:solidFill>
                  <a:srgbClr val="0E1618"/>
                </a:solidFill>
                <a:latin typeface="Calibri"/>
              </a:rPr>
              <a:t>differently</a:t>
            </a:r>
            <a:r>
              <a:rPr sz="1500" b="0" i="0">
                <a:solidFill>
                  <a:srgbClr val="2C3C40"/>
                </a:solidFill>
                <a:latin typeface="Calibri"/>
              </a:rPr>
              <a:t> — that is separation being manufactured or destroyed by preprocessing.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PAPER RESULT · DIFFICULTY</a:t>
            </a:r>
          </a:p>
          <a:p>
            <a:pPr algn="l">
              <a:lnSpc>
                <a:spcPct val="102000"/>
              </a:lnSpc>
              <a:spcAft>
                <a:spcPts val="0"/>
              </a:spcAft>
            </a:pPr>
            <a:r>
              <a:rPr sz="3000" b="1" i="0">
                <a:solidFill>
                  <a:srgbClr val="0E1618"/>
                </a:solidFill>
                <a:latin typeface="Georgia"/>
              </a:rPr>
              <a:t>And it changes how hard the task is</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Deviation from the unfiltered baseline, in-hospital mortality, mean aggregation. Left: accuracy. Right: macro F1.</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lter_impact_mortality_testing_accuracy_mean.png"/>
          <p:cNvPicPr>
            <a:picLocks noChangeAspect="1"/>
          </p:cNvPicPr>
          <p:nvPr/>
        </p:nvPicPr>
        <p:blipFill>
          <a:blip r:embed="rId2"/>
          <a:stretch>
            <a:fillRect/>
          </a:stretch>
        </p:blipFill>
        <p:spPr>
          <a:xfrm>
            <a:off x="658368" y="1890733"/>
            <a:ext cx="5300319" cy="3378285"/>
          </a:xfrm>
          <a:prstGeom prst="rect">
            <a:avLst/>
          </a:prstGeom>
        </p:spPr>
      </p:pic>
      <p:pic>
        <p:nvPicPr>
          <p:cNvPr id="6" name="Picture 5" descr="filter_impact_mortality_testing_f1_mean.png"/>
          <p:cNvPicPr>
            <a:picLocks noChangeAspect="1"/>
          </p:cNvPicPr>
          <p:nvPr/>
        </p:nvPicPr>
        <p:blipFill>
          <a:blip r:embed="rId3"/>
          <a:stretch>
            <a:fillRect/>
          </a:stretch>
        </p:blipFill>
        <p:spPr>
          <a:xfrm>
            <a:off x="6233007" y="1890733"/>
            <a:ext cx="5300319" cy="3378285"/>
          </a:xfrm>
          <a:prstGeom prst="rect">
            <a:avLst/>
          </a:prstGeom>
        </p:spPr>
      </p:pic>
      <p:sp>
        <p:nvSpPr>
          <p:cNvPr id="7" name="TextBox 6"/>
          <p:cNvSpPr txBox="1"/>
          <p:nvPr/>
        </p:nvSpPr>
        <p:spPr>
          <a:xfrm>
            <a:off x="658368" y="5440680"/>
            <a:ext cx="10874959" cy="1280160"/>
          </a:xfrm>
          <a:prstGeom prst="rect">
            <a:avLst/>
          </a:prstGeom>
          <a:noFill/>
        </p:spPr>
        <p:txBody>
          <a:bodyPr wrap="square" anchor="t" lIns="0" rIns="0" tIns="0" bIns="0">
            <a:spAutoFit/>
          </a:bodyPr>
          <a:lstStyle/>
          <a:p>
            <a:pPr algn="l">
              <a:lnSpc>
                <a:spcPct val="132000"/>
              </a:lnSpc>
              <a:spcAft>
                <a:spcPts val="0"/>
              </a:spcAft>
            </a:pPr>
            <a:r>
              <a:rPr sz="1500" b="0" i="0">
                <a:solidFill>
                  <a:srgbClr val="2C3C40"/>
                </a:solidFill>
                <a:latin typeface="Calibri"/>
              </a:rPr>
              <a:t>Some filters move accuracy up and some move it down, and the spread — </a:t>
            </a:r>
            <a:r>
              <a:rPr sz="1500" b="1" i="0">
                <a:solidFill>
                  <a:srgbClr val="A4552B"/>
                </a:solidFill>
                <a:latin typeface="Consolas"/>
              </a:rPr>
              <a:t>-0.0359</a:t>
            </a:r>
            <a:r>
              <a:rPr sz="1500" b="0" i="0">
                <a:solidFill>
                  <a:srgbClr val="2C3C40"/>
                </a:solidFill>
                <a:latin typeface="Calibri"/>
              </a:rPr>
              <a:t> for long missing segment to </a:t>
            </a:r>
            <a:r>
              <a:rPr sz="1500" b="1" i="0">
                <a:solidFill>
                  <a:srgbClr val="3D7A52"/>
                </a:solidFill>
                <a:latin typeface="Consolas"/>
              </a:rPr>
              <a:t>+0.0406</a:t>
            </a:r>
            <a:r>
              <a:rPr sz="1500" b="0" i="0">
                <a:solidFill>
                  <a:srgbClr val="2C3C40"/>
                </a:solidFill>
                <a:latin typeface="Calibri"/>
              </a:rPr>
              <a:t> for fill missing data — is comparable to the gap between competing model architectures on this task. A reader who is shown only the winning number cannot tell which of the two they are looking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PAPER RESULT · TASK DEPENDENCE</a:t>
            </a:r>
          </a:p>
          <a:p>
            <a:pPr algn="l">
              <a:lnSpc>
                <a:spcPct val="102000"/>
              </a:lnSpc>
              <a:spcAft>
                <a:spcPts val="0"/>
              </a:spcAft>
            </a:pPr>
            <a:r>
              <a:rPr sz="3000" b="1" i="0">
                <a:solidFill>
                  <a:srgbClr val="0E1618"/>
                </a:solidFill>
                <a:latin typeface="Georgia"/>
              </a:rPr>
              <a:t>The same filter, opposite signs</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Accuracy deviation for both tasks. Identical feature matrix, identical folds, identical filters — different answers.</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lter_impact_mortality_testing_accuracy_mean.png"/>
          <p:cNvPicPr>
            <a:picLocks noChangeAspect="1"/>
          </p:cNvPicPr>
          <p:nvPr/>
        </p:nvPicPr>
        <p:blipFill>
          <a:blip r:embed="rId2"/>
          <a:stretch>
            <a:fillRect/>
          </a:stretch>
        </p:blipFill>
        <p:spPr>
          <a:xfrm>
            <a:off x="762048" y="1865376"/>
            <a:ext cx="5092958" cy="3246120"/>
          </a:xfrm>
          <a:prstGeom prst="rect">
            <a:avLst/>
          </a:prstGeom>
        </p:spPr>
      </p:pic>
      <p:sp>
        <p:nvSpPr>
          <p:cNvPr id="6" name="TextBox 5"/>
          <p:cNvSpPr txBox="1"/>
          <p:nvPr/>
        </p:nvSpPr>
        <p:spPr>
          <a:xfrm>
            <a:off x="658368" y="5166360"/>
            <a:ext cx="5300319" cy="274320"/>
          </a:xfrm>
          <a:prstGeom prst="rect">
            <a:avLst/>
          </a:prstGeom>
          <a:noFill/>
        </p:spPr>
        <p:txBody>
          <a:bodyPr wrap="square" anchor="t" lIns="0" rIns="0" tIns="0" bIns="0">
            <a:spAutoFit/>
          </a:bodyPr>
          <a:lstStyle/>
          <a:p>
            <a:pPr algn="l">
              <a:lnSpc>
                <a:spcPct val="124000"/>
              </a:lnSpc>
              <a:spcAft>
                <a:spcPts val="0"/>
              </a:spcAft>
            </a:pPr>
            <a:r>
              <a:rPr sz="1100" b="0" i="1">
                <a:solidFill>
                  <a:srgbClr val="61767A"/>
                </a:solidFill>
                <a:latin typeface="Calibri"/>
              </a:rPr>
              <a:t>In-hospital mortality</a:t>
            </a:r>
          </a:p>
        </p:txBody>
      </p:sp>
      <p:pic>
        <p:nvPicPr>
          <p:cNvPr id="7" name="Picture 6" descr="filter_impact_icu_testing_accuracy_mean.png"/>
          <p:cNvPicPr>
            <a:picLocks noChangeAspect="1"/>
          </p:cNvPicPr>
          <p:nvPr/>
        </p:nvPicPr>
        <p:blipFill>
          <a:blip r:embed="rId3"/>
          <a:stretch>
            <a:fillRect/>
          </a:stretch>
        </p:blipFill>
        <p:spPr>
          <a:xfrm>
            <a:off x="6336687" y="1865376"/>
            <a:ext cx="5092958" cy="3246120"/>
          </a:xfrm>
          <a:prstGeom prst="rect">
            <a:avLst/>
          </a:prstGeom>
        </p:spPr>
      </p:pic>
      <p:sp>
        <p:nvSpPr>
          <p:cNvPr id="8" name="TextBox 7"/>
          <p:cNvSpPr txBox="1"/>
          <p:nvPr/>
        </p:nvSpPr>
        <p:spPr>
          <a:xfrm>
            <a:off x="6233007" y="5166360"/>
            <a:ext cx="5300319" cy="274320"/>
          </a:xfrm>
          <a:prstGeom prst="rect">
            <a:avLst/>
          </a:prstGeom>
          <a:noFill/>
        </p:spPr>
        <p:txBody>
          <a:bodyPr wrap="square" anchor="t" lIns="0" rIns="0" tIns="0" bIns="0">
            <a:spAutoFit/>
          </a:bodyPr>
          <a:lstStyle/>
          <a:p>
            <a:pPr algn="l">
              <a:lnSpc>
                <a:spcPct val="124000"/>
              </a:lnSpc>
              <a:spcAft>
                <a:spcPts val="0"/>
              </a:spcAft>
            </a:pPr>
            <a:r>
              <a:rPr sz="1100" b="0" i="1">
                <a:solidFill>
                  <a:srgbClr val="61767A"/>
                </a:solidFill>
                <a:latin typeface="Calibri"/>
              </a:rPr>
              <a:t>Prolonged ICU stay</a:t>
            </a:r>
          </a:p>
        </p:txBody>
      </p:sp>
      <p:graphicFrame>
        <p:nvGraphicFramePr>
          <p:cNvPr id="9" name="Table 8"/>
          <p:cNvGraphicFramePr>
            <a:graphicFrameLocks noGrp="1"/>
          </p:cNvGraphicFramePr>
          <p:nvPr/>
        </p:nvGraphicFramePr>
        <p:xfrm>
          <a:off x="658368" y="5532120"/>
          <a:ext cx="6583678" cy="1170432"/>
        </p:xfrm>
        <a:graphic>
          <a:graphicData uri="http://schemas.openxmlformats.org/drawingml/2006/table">
            <a:tbl>
              <a:tblPr firstRow="1">
                <a:tableStyleId>{5C22544A-7EE6-4342-B048-85BDC9FD1C3A}</a:tableStyleId>
              </a:tblPr>
              <a:tblGrid>
                <a:gridCol w="2377440"/>
                <a:gridCol w="2103119"/>
                <a:gridCol w="2103119"/>
              </a:tblGrid>
              <a:tr h="292608">
                <a:tc>
                  <a:txBody>
                    <a:bodyPr wrap="square"/>
                    <a:lstStyle/>
                    <a:p>
                      <a:pPr algn="l"/>
                      <a:r>
                        <a:rPr sz="1200" b="1">
                          <a:solidFill>
                            <a:srgbClr val="61767A"/>
                          </a:solidFill>
                          <a:latin typeface="Calibri"/>
                        </a:rPr>
                        <a:t>Filter</a:t>
                      </a:r>
                    </a:p>
                  </a:txBody>
                  <a:tcPr marL="82296" marR="82296" marT="27432" marB="27432" anchor="ctr">
                    <a:solidFill>
                      <a:srgbClr val="E4EAEA"/>
                    </a:solidFill>
                  </a:tcPr>
                </a:tc>
                <a:tc>
                  <a:txBody>
                    <a:bodyPr wrap="square"/>
                    <a:lstStyle/>
                    <a:p>
                      <a:pPr algn="r"/>
                      <a:r>
                        <a:rPr sz="1200" b="1">
                          <a:solidFill>
                            <a:srgbClr val="61767A"/>
                          </a:solidFill>
                          <a:latin typeface="Consolas"/>
                        </a:rPr>
                        <a:t>Δ accuracy, mortality</a:t>
                      </a:r>
                    </a:p>
                  </a:txBody>
                  <a:tcPr marL="82296" marR="82296" marT="27432" marB="27432" anchor="ctr">
                    <a:solidFill>
                      <a:srgbClr val="E4EAEA"/>
                    </a:solidFill>
                  </a:tcPr>
                </a:tc>
                <a:tc>
                  <a:txBody>
                    <a:bodyPr wrap="square"/>
                    <a:lstStyle/>
                    <a:p>
                      <a:pPr algn="r"/>
                      <a:r>
                        <a:rPr sz="1200" b="1">
                          <a:solidFill>
                            <a:srgbClr val="61767A"/>
                          </a:solidFill>
                          <a:latin typeface="Consolas"/>
                        </a:rPr>
                        <a:t>Δ accuracy, ICU stay</a:t>
                      </a:r>
                    </a:p>
                  </a:txBody>
                  <a:tcPr marL="82296" marR="82296" marT="27432" marB="27432" anchor="ctr">
                    <a:solidFill>
                      <a:srgbClr val="E4EAEA"/>
                    </a:solidFill>
                  </a:tcPr>
                </a:tc>
              </a:tr>
              <a:tr h="292608">
                <a:tc>
                  <a:txBody>
                    <a:bodyPr wrap="square"/>
                    <a:lstStyle/>
                    <a:p>
                      <a:pPr algn="l"/>
                      <a:r>
                        <a:rPr sz="1200" b="0">
                          <a:solidFill>
                            <a:srgbClr val="2C3C40"/>
                          </a:solidFill>
                          <a:latin typeface="Calibri"/>
                        </a:rPr>
                        <a:t>fill missing data</a:t>
                      </a:r>
                    </a:p>
                  </a:txBody>
                  <a:tcPr marL="82296" marR="82296" marT="27432" marB="27432" anchor="ctr">
                    <a:solidFill>
                      <a:srgbClr val="FFFFFF"/>
                    </a:solidFill>
                  </a:tcPr>
                </a:tc>
                <a:tc>
                  <a:txBody>
                    <a:bodyPr wrap="square"/>
                    <a:lstStyle/>
                    <a:p>
                      <a:pPr algn="r"/>
                      <a:r>
                        <a:rPr sz="1200" b="0">
                          <a:solidFill>
                            <a:srgbClr val="3D7A52"/>
                          </a:solidFill>
                          <a:latin typeface="Consolas"/>
                        </a:rPr>
                        <a:t>+0.0406</a:t>
                      </a:r>
                    </a:p>
                  </a:txBody>
                  <a:tcPr marL="82296" marR="82296" marT="27432" marB="27432" anchor="ctr">
                    <a:solidFill>
                      <a:srgbClr val="FFFFFF"/>
                    </a:solidFill>
                  </a:tcPr>
                </a:tc>
                <a:tc>
                  <a:txBody>
                    <a:bodyPr wrap="square"/>
                    <a:lstStyle/>
                    <a:p>
                      <a:pPr algn="r"/>
                      <a:r>
                        <a:rPr sz="1200" b="0">
                          <a:solidFill>
                            <a:srgbClr val="A4552B"/>
                          </a:solidFill>
                          <a:latin typeface="Consolas"/>
                        </a:rPr>
                        <a:t>-0.0124</a:t>
                      </a:r>
                    </a:p>
                  </a:txBody>
                  <a:tcPr marL="82296" marR="82296" marT="27432" marB="27432" anchor="ctr">
                    <a:solidFill>
                      <a:srgbClr val="FFFFFF"/>
                    </a:solidFill>
                  </a:tcPr>
                </a:tc>
              </a:tr>
              <a:tr h="292608">
                <a:tc>
                  <a:txBody>
                    <a:bodyPr wrap="square"/>
                    <a:lstStyle/>
                    <a:p>
                      <a:pPr algn="l"/>
                      <a:r>
                        <a:rPr sz="1200" b="0">
                          <a:solidFill>
                            <a:srgbClr val="2C3C40"/>
                          </a:solidFill>
                          <a:latin typeface="Calibri"/>
                        </a:rPr>
                        <a:t>oxygen saturation</a:t>
                      </a:r>
                    </a:p>
                  </a:txBody>
                  <a:tcPr marL="82296" marR="82296" marT="27432" marB="27432" anchor="ctr">
                    <a:solidFill>
                      <a:srgbClr val="FFFFFF"/>
                    </a:solidFill>
                  </a:tcPr>
                </a:tc>
                <a:tc>
                  <a:txBody>
                    <a:bodyPr wrap="square"/>
                    <a:lstStyle/>
                    <a:p>
                      <a:pPr algn="r"/>
                      <a:r>
                        <a:rPr sz="1200" b="0">
                          <a:solidFill>
                            <a:srgbClr val="3D7A52"/>
                          </a:solidFill>
                          <a:latin typeface="Consolas"/>
                        </a:rPr>
                        <a:t>+0.0098</a:t>
                      </a:r>
                    </a:p>
                  </a:txBody>
                  <a:tcPr marL="82296" marR="82296" marT="27432" marB="27432" anchor="ctr">
                    <a:solidFill>
                      <a:srgbClr val="FFFFFF"/>
                    </a:solidFill>
                  </a:tcPr>
                </a:tc>
                <a:tc>
                  <a:txBody>
                    <a:bodyPr wrap="square"/>
                    <a:lstStyle/>
                    <a:p>
                      <a:pPr algn="r"/>
                      <a:r>
                        <a:rPr sz="1200" b="0">
                          <a:solidFill>
                            <a:srgbClr val="A4552B"/>
                          </a:solidFill>
                          <a:latin typeface="Consolas"/>
                        </a:rPr>
                        <a:t>-0.0008</a:t>
                      </a:r>
                    </a:p>
                  </a:txBody>
                  <a:tcPr marL="82296" marR="82296" marT="27432" marB="27432" anchor="ctr">
                    <a:solidFill>
                      <a:srgbClr val="FFFFFF"/>
                    </a:solidFill>
                  </a:tcPr>
                </a:tc>
              </a:tr>
              <a:tr h="292608">
                <a:tc>
                  <a:txBody>
                    <a:bodyPr wrap="square"/>
                    <a:lstStyle/>
                    <a:p>
                      <a:pPr algn="l"/>
                      <a:r>
                        <a:rPr sz="1200" b="0">
                          <a:solidFill>
                            <a:srgbClr val="2C3C40"/>
                          </a:solidFill>
                          <a:latin typeface="Calibri"/>
                        </a:rPr>
                        <a:t>all vitals</a:t>
                      </a:r>
                    </a:p>
                  </a:txBody>
                  <a:tcPr marL="82296" marR="82296" marT="27432" marB="27432" anchor="ctr">
                    <a:solidFill>
                      <a:srgbClr val="FFFFFF"/>
                    </a:solidFill>
                  </a:tcPr>
                </a:tc>
                <a:tc>
                  <a:txBody>
                    <a:bodyPr wrap="square"/>
                    <a:lstStyle/>
                    <a:p>
                      <a:pPr algn="r"/>
                      <a:r>
                        <a:rPr sz="1200" b="0">
                          <a:solidFill>
                            <a:srgbClr val="3D7A52"/>
                          </a:solidFill>
                          <a:latin typeface="Consolas"/>
                        </a:rPr>
                        <a:t>+0.0089</a:t>
                      </a:r>
                    </a:p>
                  </a:txBody>
                  <a:tcPr marL="82296" marR="82296" marT="27432" marB="27432" anchor="ctr">
                    <a:solidFill>
                      <a:srgbClr val="FFFFFF"/>
                    </a:solidFill>
                  </a:tcPr>
                </a:tc>
                <a:tc>
                  <a:txBody>
                    <a:bodyPr wrap="square"/>
                    <a:lstStyle/>
                    <a:p>
                      <a:pPr algn="r"/>
                      <a:r>
                        <a:rPr sz="1200" b="0">
                          <a:solidFill>
                            <a:srgbClr val="A4552B"/>
                          </a:solidFill>
                          <a:latin typeface="Consolas"/>
                        </a:rPr>
                        <a:t>-0.0014</a:t>
                      </a:r>
                    </a:p>
                  </a:txBody>
                  <a:tcPr marL="82296" marR="82296" marT="27432" marB="27432" anchor="ctr">
                    <a:solidFill>
                      <a:srgbClr val="FFFFFF"/>
                    </a:solidFill>
                  </a:tcPr>
                </a:tc>
              </a:tr>
            </a:tbl>
          </a:graphicData>
        </a:graphic>
      </p:graphicFrame>
      <p:sp>
        <p:nvSpPr>
          <p:cNvPr id="10" name="TextBox 9"/>
          <p:cNvSpPr txBox="1"/>
          <p:nvPr/>
        </p:nvSpPr>
        <p:spPr>
          <a:xfrm>
            <a:off x="7452360" y="5532120"/>
            <a:ext cx="4078224" cy="1188720"/>
          </a:xfrm>
          <a:prstGeom prst="rect">
            <a:avLst/>
          </a:prstGeom>
          <a:noFill/>
        </p:spPr>
        <p:txBody>
          <a:bodyPr wrap="square" anchor="t" lIns="0" rIns="0" tIns="0" bIns="0">
            <a:spAutoFit/>
          </a:bodyPr>
          <a:lstStyle/>
          <a:p>
            <a:pPr algn="l">
              <a:lnSpc>
                <a:spcPct val="130000"/>
              </a:lnSpc>
              <a:spcAft>
                <a:spcPts val="0"/>
              </a:spcAft>
            </a:pPr>
            <a:r>
              <a:rPr sz="1350" b="0" i="0">
                <a:solidFill>
                  <a:srgbClr val="2C3C40"/>
                </a:solidFill>
                <a:latin typeface="Calibri"/>
              </a:rPr>
              <a:t>Why: the value-level filters remove implausible readings regardless of which class the patient belongs to. If those artifacts happened to separate the classes, removing them uncovers the real difficulty. If they obscured them, removing them helps.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THE PART THAT DID NOT FIT</a:t>
            </a:r>
          </a:p>
          <a:p>
            <a:pPr algn="l">
              <a:lnSpc>
                <a:spcPct val="102000"/>
              </a:lnSpc>
              <a:spcAft>
                <a:spcPts val="0"/>
              </a:spcAft>
            </a:pPr>
            <a:r>
              <a:rPr sz="3000" b="1" i="0">
                <a:solidFill>
                  <a:srgbClr val="0E1618"/>
                </a:solidFill>
                <a:latin typeface="Georgia"/>
              </a:rPr>
              <a:t>How many patients survive each filter?</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The paper reports what each filter does to the distribution. It never reports what each filter does to the sample size.</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938528"/>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84832"/>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0D6B6B"/>
                </a:solidFill>
                <a:latin typeface="Consolas"/>
              </a:rPr>
              <a:t>0</a:t>
            </a:r>
          </a:p>
          <a:p>
            <a:pPr algn="l">
              <a:lnSpc>
                <a:spcPct val="114000"/>
              </a:lnSpc>
              <a:spcAft>
                <a:spcPts val="0"/>
              </a:spcAft>
            </a:pPr>
            <a:r>
              <a:rPr sz="1150" b="0" i="0">
                <a:solidFill>
                  <a:srgbClr val="61767A"/>
                </a:solidFill>
                <a:latin typeface="Calibri"/>
              </a:rPr>
              <a:t>records removed by all 7 vital filters, all-vitals, and fill-missing — combined</a:t>
            </a:r>
          </a:p>
        </p:txBody>
      </p:sp>
      <p:sp>
        <p:nvSpPr>
          <p:cNvPr id="7" name="Rectangle 6"/>
          <p:cNvSpPr/>
          <p:nvPr/>
        </p:nvSpPr>
        <p:spPr>
          <a:xfrm>
            <a:off x="3431971" y="1938528"/>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4851" y="2084832"/>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A4552B"/>
                </a:solidFill>
                <a:latin typeface="Consolas"/>
              </a:rPr>
              <a:t>−15,003</a:t>
            </a:r>
          </a:p>
          <a:p>
            <a:pPr algn="l">
              <a:lnSpc>
                <a:spcPct val="114000"/>
              </a:lnSpc>
              <a:spcAft>
                <a:spcPts val="0"/>
              </a:spcAft>
            </a:pPr>
            <a:r>
              <a:rPr sz="1150" b="0" i="0">
                <a:solidFill>
                  <a:srgbClr val="61767A"/>
                </a:solidFill>
                <a:latin typeface="Calibri"/>
              </a:rPr>
              <a:t>long missing segment  →  31,029 left</a:t>
            </a:r>
          </a:p>
        </p:txBody>
      </p:sp>
      <p:sp>
        <p:nvSpPr>
          <p:cNvPr id="9" name="Rectangle 8"/>
          <p:cNvSpPr/>
          <p:nvPr/>
        </p:nvSpPr>
        <p:spPr>
          <a:xfrm>
            <a:off x="6205574" y="1938528"/>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8454" y="2084832"/>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A4552B"/>
                </a:solidFill>
                <a:latin typeface="Consolas"/>
              </a:rPr>
              <a:t>−25,709</a:t>
            </a:r>
          </a:p>
          <a:p>
            <a:pPr algn="l">
              <a:lnSpc>
                <a:spcPct val="114000"/>
              </a:lnSpc>
              <a:spcAft>
                <a:spcPts val="0"/>
              </a:spcAft>
            </a:pPr>
            <a:r>
              <a:rPr sz="1150" b="0" i="0">
                <a:solidFill>
                  <a:srgbClr val="61767A"/>
                </a:solidFill>
                <a:latin typeface="Calibri"/>
              </a:rPr>
              <a:t>long gap  →  20,323 left</a:t>
            </a:r>
          </a:p>
        </p:txBody>
      </p:sp>
      <p:sp>
        <p:nvSpPr>
          <p:cNvPr id="11" name="Rectangle 10"/>
          <p:cNvSpPr/>
          <p:nvPr/>
        </p:nvSpPr>
        <p:spPr>
          <a:xfrm>
            <a:off x="8979177" y="1938528"/>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62057" y="2084832"/>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A4552B"/>
                </a:solidFill>
                <a:latin typeface="Consolas"/>
              </a:rPr>
              <a:t>−44,663</a:t>
            </a:r>
          </a:p>
          <a:p>
            <a:pPr algn="l">
              <a:lnSpc>
                <a:spcPct val="114000"/>
              </a:lnSpc>
              <a:spcAft>
                <a:spcPts val="0"/>
              </a:spcAft>
            </a:pPr>
            <a:r>
              <a:rPr sz="1150" b="0" i="0">
                <a:solidFill>
                  <a:srgbClr val="61767A"/>
                </a:solidFill>
                <a:latin typeface="Calibri"/>
              </a:rPr>
              <a:t>high invalid data  →  1,369 left</a:t>
            </a:r>
          </a:p>
        </p:txBody>
      </p:sp>
      <p:graphicFrame>
        <p:nvGraphicFramePr>
          <p:cNvPr id="13" name="Chart 12"/>
          <p:cNvGraphicFramePr>
            <a:graphicFrameLocks noGrp="1"/>
          </p:cNvGraphicFramePr>
          <p:nvPr/>
        </p:nvGraphicFramePr>
        <p:xfrm>
          <a:off x="658368" y="3063240"/>
          <a:ext cx="7040880" cy="3063240"/>
        </p:xfrm>
        <a:graphic>
          <a:graphicData uri="http://schemas.openxmlformats.org/drawingml/2006/chart">
            <c:chart xmlns:c="http://schemas.openxmlformats.org/drawingml/2006/chart" r:id="rId2"/>
          </a:graphicData>
        </a:graphic>
      </p:graphicFrame>
      <p:sp>
        <p:nvSpPr>
          <p:cNvPr id="14" name="Rectangle 13"/>
          <p:cNvSpPr/>
          <p:nvPr/>
        </p:nvSpPr>
        <p:spPr>
          <a:xfrm>
            <a:off x="8001000" y="3063240"/>
            <a:ext cx="3529584" cy="306324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38744" y="3291840"/>
            <a:ext cx="3054096" cy="2651760"/>
          </a:xfrm>
          <a:prstGeom prst="rect">
            <a:avLst/>
          </a:prstGeom>
          <a:noFill/>
        </p:spPr>
        <p:txBody>
          <a:bodyPr wrap="square" anchor="t" lIns="0" rIns="0" tIns="0" bIns="0">
            <a:spAutoFit/>
          </a:bodyPr>
          <a:lstStyle/>
          <a:p>
            <a:pPr algn="l">
              <a:lnSpc>
                <a:spcPct val="124000"/>
              </a:lnSpc>
              <a:spcAft>
                <a:spcPts val="1100"/>
              </a:spcAft>
            </a:pPr>
            <a:r>
              <a:rPr sz="1700" b="1" i="0">
                <a:solidFill>
                  <a:srgbClr val="0E1618"/>
                </a:solidFill>
                <a:latin typeface="Georgia"/>
              </a:rPr>
              <a:t>The split is total</a:t>
            </a:r>
          </a:p>
          <a:p>
            <a:pPr algn="l">
              <a:lnSpc>
                <a:spcPct val="130000"/>
              </a:lnSpc>
              <a:spcAft>
                <a:spcPts val="1100"/>
              </a:spcAft>
            </a:pPr>
            <a:r>
              <a:rPr sz="1350" b="0" i="0">
                <a:solidFill>
                  <a:srgbClr val="2C3C40"/>
                </a:solidFill>
                <a:latin typeface="Calibri"/>
              </a:rPr>
              <a:t>Ten of the thirteen arms keep every single patient. Three keep 67%, 44% and </a:t>
            </a:r>
            <a:r>
              <a:rPr sz="1350" b="1" i="0">
                <a:solidFill>
                  <a:srgbClr val="A4552B"/>
                </a:solidFill>
                <a:latin typeface="Consolas"/>
              </a:rPr>
              <a:t>2.97%</a:t>
            </a:r>
            <a:r>
              <a:rPr sz="1350" b="0" i="0">
                <a:solidFill>
                  <a:srgbClr val="2C3C40"/>
                </a:solidFill>
                <a:latin typeface="Calibri"/>
              </a:rPr>
              <a:t>.</a:t>
            </a:r>
          </a:p>
          <a:p>
            <a:pPr algn="l">
              <a:lnSpc>
                <a:spcPct val="130000"/>
              </a:lnSpc>
              <a:spcAft>
                <a:spcPts val="0"/>
              </a:spcAft>
            </a:pPr>
            <a:r>
              <a:rPr sz="1350" b="0" i="0">
                <a:solidFill>
                  <a:srgbClr val="2C3C40"/>
                </a:solidFill>
                <a:latin typeface="Calibri"/>
              </a:rPr>
              <a:t>The high-invalid-data threshold reads as conservative — it allows up to 16 of a record's 168 cells to be blank. In this cohort that keeps </a:t>
            </a:r>
            <a:r>
              <a:rPr sz="1350" b="1" i="0">
                <a:solidFill>
                  <a:srgbClr val="0E1618"/>
                </a:solidFill>
                <a:latin typeface="Consolas"/>
              </a:rPr>
              <a:t>1,369 of 46,032</a:t>
            </a:r>
            <a:r>
              <a:rPr sz="1350" b="0" i="0">
                <a:solidFill>
                  <a:srgbClr val="2C3C40"/>
                </a:solidFill>
                <a:latin typeface="Calibri"/>
              </a:rPr>
              <a:t> stays.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FOR CONTRAST</a:t>
            </a:r>
          </a:p>
          <a:p>
            <a:pPr algn="l">
              <a:lnSpc>
                <a:spcPct val="102000"/>
              </a:lnSpc>
              <a:spcAft>
                <a:spcPts val="0"/>
              </a:spcAft>
            </a:pPr>
            <a:r>
              <a:rPr sz="3000" b="1" i="0">
                <a:solidFill>
                  <a:srgbClr val="0E1618"/>
                </a:solidFill>
                <a:latin typeface="Georgia"/>
              </a:rPr>
              <a:t>What a value-level filter actually touches</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Individual readings removed as physiologically implausible, across the whole cohort. No patient is dropped by any of these.</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938528"/>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84832"/>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0E1618"/>
                </a:solidFill>
                <a:latin typeface="Consolas"/>
              </a:rPr>
              <a:t>6.69M</a:t>
            </a:r>
          </a:p>
          <a:p>
            <a:pPr algn="l">
              <a:lnSpc>
                <a:spcPct val="114000"/>
              </a:lnSpc>
              <a:spcAft>
                <a:spcPts val="0"/>
              </a:spcAft>
            </a:pPr>
            <a:r>
              <a:rPr sz="1150" b="0" i="0">
                <a:solidFill>
                  <a:srgbClr val="61767A"/>
                </a:solidFill>
                <a:latin typeface="Calibri"/>
              </a:rPr>
              <a:t>vital-sign readings in the cohort</a:t>
            </a:r>
          </a:p>
        </p:txBody>
      </p:sp>
      <p:sp>
        <p:nvSpPr>
          <p:cNvPr id="7" name="Rectangle 6"/>
          <p:cNvSpPr/>
          <p:nvPr/>
        </p:nvSpPr>
        <p:spPr>
          <a:xfrm>
            <a:off x="3431971" y="1938528"/>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4851" y="2084832"/>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0D6B6B"/>
                </a:solidFill>
                <a:latin typeface="Consolas"/>
              </a:rPr>
              <a:t>21,930</a:t>
            </a:r>
          </a:p>
          <a:p>
            <a:pPr algn="l">
              <a:lnSpc>
                <a:spcPct val="114000"/>
              </a:lnSpc>
              <a:spcAft>
                <a:spcPts val="0"/>
              </a:spcAft>
            </a:pPr>
            <a:r>
              <a:rPr sz="1150" b="0" i="0">
                <a:solidFill>
                  <a:srgbClr val="61767A"/>
                </a:solidFill>
                <a:latin typeface="Calibri"/>
              </a:rPr>
              <a:t>removed by the seven filters combined</a:t>
            </a:r>
          </a:p>
        </p:txBody>
      </p:sp>
      <p:sp>
        <p:nvSpPr>
          <p:cNvPr id="9" name="Rectangle 8"/>
          <p:cNvSpPr/>
          <p:nvPr/>
        </p:nvSpPr>
        <p:spPr>
          <a:xfrm>
            <a:off x="6205574" y="1938528"/>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8454" y="2084832"/>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0D6B6B"/>
                </a:solidFill>
                <a:latin typeface="Consolas"/>
              </a:rPr>
              <a:t>0.33%</a:t>
            </a:r>
          </a:p>
          <a:p>
            <a:pPr algn="l">
              <a:lnSpc>
                <a:spcPct val="114000"/>
              </a:lnSpc>
              <a:spcAft>
                <a:spcPts val="0"/>
              </a:spcAft>
            </a:pPr>
            <a:r>
              <a:rPr sz="1150" b="0" i="0">
                <a:solidFill>
                  <a:srgbClr val="61767A"/>
                </a:solidFill>
                <a:latin typeface="Calibri"/>
              </a:rPr>
              <a:t>of all readings</a:t>
            </a:r>
          </a:p>
        </p:txBody>
      </p:sp>
      <p:sp>
        <p:nvSpPr>
          <p:cNvPr id="11" name="Rectangle 10"/>
          <p:cNvSpPr/>
          <p:nvPr/>
        </p:nvSpPr>
        <p:spPr>
          <a:xfrm>
            <a:off x="8979177" y="1938528"/>
            <a:ext cx="2554147" cy="1060704"/>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62057" y="2084832"/>
            <a:ext cx="2188387" cy="822960"/>
          </a:xfrm>
          <a:prstGeom prst="rect">
            <a:avLst/>
          </a:prstGeom>
          <a:noFill/>
        </p:spPr>
        <p:txBody>
          <a:bodyPr wrap="square" anchor="t" lIns="0" rIns="0" tIns="0" bIns="0">
            <a:spAutoFit/>
          </a:bodyPr>
          <a:lstStyle/>
          <a:p>
            <a:pPr algn="l">
              <a:lnSpc>
                <a:spcPct val="100000"/>
              </a:lnSpc>
              <a:spcAft>
                <a:spcPts val="300"/>
              </a:spcAft>
            </a:pPr>
            <a:r>
              <a:rPr sz="2700" b="1" i="0">
                <a:solidFill>
                  <a:srgbClr val="0D6B6B"/>
                </a:solidFill>
                <a:latin typeface="Consolas"/>
              </a:rPr>
              <a:t>0</a:t>
            </a:r>
          </a:p>
          <a:p>
            <a:pPr algn="l">
              <a:lnSpc>
                <a:spcPct val="114000"/>
              </a:lnSpc>
              <a:spcAft>
                <a:spcPts val="0"/>
              </a:spcAft>
            </a:pPr>
            <a:r>
              <a:rPr sz="1150" b="0" i="0">
                <a:solidFill>
                  <a:srgbClr val="61767A"/>
                </a:solidFill>
                <a:latin typeface="Calibri"/>
              </a:rPr>
              <a:t>patients removed</a:t>
            </a:r>
          </a:p>
        </p:txBody>
      </p:sp>
      <p:graphicFrame>
        <p:nvGraphicFramePr>
          <p:cNvPr id="13" name="Chart 12"/>
          <p:cNvGraphicFramePr>
            <a:graphicFrameLocks noGrp="1"/>
          </p:cNvGraphicFramePr>
          <p:nvPr/>
        </p:nvGraphicFramePr>
        <p:xfrm>
          <a:off x="658368" y="3154680"/>
          <a:ext cx="6858000" cy="2880360"/>
        </p:xfrm>
        <a:graphic>
          <a:graphicData uri="http://schemas.openxmlformats.org/drawingml/2006/chart">
            <c:chart xmlns:c="http://schemas.openxmlformats.org/drawingml/2006/chart" r:id="rId2"/>
          </a:graphicData>
        </a:graphic>
      </p:graphicFrame>
      <p:sp>
        <p:nvSpPr>
          <p:cNvPr id="14" name="Rectangle 13"/>
          <p:cNvSpPr/>
          <p:nvPr/>
        </p:nvSpPr>
        <p:spPr>
          <a:xfrm>
            <a:off x="7818120" y="3154680"/>
            <a:ext cx="3712463" cy="288036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55864" y="3383280"/>
            <a:ext cx="3236976" cy="2468880"/>
          </a:xfrm>
          <a:prstGeom prst="rect">
            <a:avLst/>
          </a:prstGeom>
          <a:noFill/>
        </p:spPr>
        <p:txBody>
          <a:bodyPr wrap="square" anchor="t" lIns="0" rIns="0" tIns="0" bIns="0">
            <a:spAutoFit/>
          </a:bodyPr>
          <a:lstStyle/>
          <a:p>
            <a:pPr algn="l">
              <a:lnSpc>
                <a:spcPct val="124000"/>
              </a:lnSpc>
              <a:spcAft>
                <a:spcPts val="1100"/>
              </a:spcAft>
            </a:pPr>
            <a:r>
              <a:rPr sz="1700" b="1" i="0">
                <a:solidFill>
                  <a:srgbClr val="0E1618"/>
                </a:solidFill>
                <a:latin typeface="Georgia"/>
              </a:rPr>
              <a:t>Two filters, two worlds</a:t>
            </a:r>
          </a:p>
          <a:p>
            <a:pPr algn="l">
              <a:lnSpc>
                <a:spcPct val="130000"/>
              </a:lnSpc>
              <a:spcAft>
                <a:spcPts val="1100"/>
              </a:spcAft>
            </a:pPr>
            <a:r>
              <a:rPr sz="1350" b="0" i="0">
                <a:solidFill>
                  <a:srgbClr val="2C3C40"/>
                </a:solidFill>
                <a:latin typeface="Calibri"/>
              </a:rPr>
              <a:t>A value-level filter edits </a:t>
            </a:r>
            <a:r>
              <a:rPr sz="1350" b="1" i="0">
                <a:solidFill>
                  <a:srgbClr val="0D6B6B"/>
                </a:solidFill>
                <a:latin typeface="Consolas"/>
              </a:rPr>
              <a:t>0.33%</a:t>
            </a:r>
            <a:r>
              <a:rPr sz="1350" b="0" i="0">
                <a:solidFill>
                  <a:srgbClr val="2C3C40"/>
                </a:solidFill>
                <a:latin typeface="Calibri"/>
              </a:rPr>
              <a:t> of the readings and keeps every patient. A record-level filter edits nothing and deletes up to </a:t>
            </a:r>
            <a:r>
              <a:rPr sz="1350" b="1" i="0">
                <a:solidFill>
                  <a:srgbClr val="A4552B"/>
                </a:solidFill>
                <a:latin typeface="Consolas"/>
              </a:rPr>
              <a:t>97%</a:t>
            </a:r>
            <a:r>
              <a:rPr sz="1350" b="0" i="0">
                <a:solidFill>
                  <a:srgbClr val="2C3C40"/>
                </a:solidFill>
                <a:latin typeface="Calibri"/>
              </a:rPr>
              <a:t> of the cohort.</a:t>
            </a:r>
          </a:p>
          <a:p>
            <a:pPr algn="l">
              <a:lnSpc>
                <a:spcPct val="130000"/>
              </a:lnSpc>
              <a:spcAft>
                <a:spcPts val="0"/>
              </a:spcAft>
            </a:pPr>
            <a:r>
              <a:rPr sz="1350" b="1" i="0">
                <a:solidFill>
                  <a:srgbClr val="0E1618"/>
                </a:solidFill>
                <a:latin typeface="Calibri"/>
              </a:rPr>
              <a:t>Both are called “filtering”, and in a methods section both get one sentence.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THE CONSEQUENCE</a:t>
            </a:r>
          </a:p>
          <a:p>
            <a:pPr algn="l">
              <a:lnSpc>
                <a:spcPct val="102000"/>
              </a:lnSpc>
              <a:spcAft>
                <a:spcPts val="0"/>
              </a:spcAft>
            </a:pPr>
            <a:r>
              <a:rPr sz="3000" b="1" i="0">
                <a:solidFill>
                  <a:srgbClr val="0E1618"/>
                </a:solidFill>
                <a:latin typeface="Georgia"/>
              </a:rPr>
              <a:t>And the survivors are not a random sample</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Class prevalence in the cohort each filter leaves behind. Record-level filters select on monitoring density — which tracks how sick the patient is.</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658368" y="1938528"/>
          <a:ext cx="7040880" cy="3200400"/>
        </p:xfrm>
        <a:graphic>
          <a:graphicData uri="http://schemas.openxmlformats.org/drawingml/2006/chart">
            <c:chart xmlns:c="http://schemas.openxmlformats.org/drawingml/2006/chart" r:id="rId2"/>
          </a:graphicData>
        </a:graphic>
      </p:graphicFrame>
      <p:graphicFrame>
        <p:nvGraphicFramePr>
          <p:cNvPr id="6" name="Table 5"/>
          <p:cNvGraphicFramePr>
            <a:graphicFrameLocks noGrp="1"/>
          </p:cNvGraphicFramePr>
          <p:nvPr/>
        </p:nvGraphicFramePr>
        <p:xfrm>
          <a:off x="7818120" y="1938528"/>
          <a:ext cx="3712460" cy="1645920"/>
        </p:xfrm>
        <a:graphic>
          <a:graphicData uri="http://schemas.openxmlformats.org/drawingml/2006/table">
            <a:tbl>
              <a:tblPr firstRow="1">
                <a:tableStyleId>{5C22544A-7EE6-4342-B048-85BDC9FD1C3A}</a:tableStyleId>
              </a:tblPr>
              <a:tblGrid>
                <a:gridCol w="1476039"/>
                <a:gridCol w="760383"/>
                <a:gridCol w="715655"/>
                <a:gridCol w="760383"/>
              </a:tblGrid>
              <a:tr h="329184">
                <a:tc>
                  <a:txBody>
                    <a:bodyPr wrap="square"/>
                    <a:lstStyle/>
                    <a:p>
                      <a:pPr algn="l"/>
                      <a:r>
                        <a:rPr sz="1150" b="1">
                          <a:solidFill>
                            <a:srgbClr val="61767A"/>
                          </a:solidFill>
                          <a:latin typeface="Calibri"/>
                        </a:rPr>
                        <a:t>Cohort</a:t>
                      </a:r>
                    </a:p>
                  </a:txBody>
                  <a:tcPr marL="82296" marR="82296" marT="27432" marB="27432" anchor="ctr">
                    <a:solidFill>
                      <a:srgbClr val="E4EAEA"/>
                    </a:solidFill>
                  </a:tcPr>
                </a:tc>
                <a:tc>
                  <a:txBody>
                    <a:bodyPr wrap="square"/>
                    <a:lstStyle/>
                    <a:p>
                      <a:pPr algn="r"/>
                      <a:r>
                        <a:rPr sz="1150" b="1">
                          <a:solidFill>
                            <a:srgbClr val="61767A"/>
                          </a:solidFill>
                          <a:latin typeface="Consolas"/>
                        </a:rPr>
                        <a:t>Stays</a:t>
                      </a:r>
                    </a:p>
                  </a:txBody>
                  <a:tcPr marL="82296" marR="82296" marT="27432" marB="27432" anchor="ctr">
                    <a:solidFill>
                      <a:srgbClr val="E4EAEA"/>
                    </a:solidFill>
                  </a:tcPr>
                </a:tc>
                <a:tc>
                  <a:txBody>
                    <a:bodyPr wrap="square"/>
                    <a:lstStyle/>
                    <a:p>
                      <a:pPr algn="r"/>
                      <a:r>
                        <a:rPr sz="1150" b="1">
                          <a:solidFill>
                            <a:srgbClr val="61767A"/>
                          </a:solidFill>
                          <a:latin typeface="Consolas"/>
                        </a:rPr>
                        <a:t>ICU stay</a:t>
                      </a:r>
                    </a:p>
                  </a:txBody>
                  <a:tcPr marL="82296" marR="82296" marT="27432" marB="27432" anchor="ctr">
                    <a:solidFill>
                      <a:srgbClr val="E4EAEA"/>
                    </a:solidFill>
                  </a:tcPr>
                </a:tc>
                <a:tc>
                  <a:txBody>
                    <a:bodyPr wrap="square"/>
                    <a:lstStyle/>
                    <a:p>
                      <a:pPr algn="r"/>
                      <a:r>
                        <a:rPr sz="1150" b="1">
                          <a:solidFill>
                            <a:srgbClr val="61767A"/>
                          </a:solidFill>
                          <a:latin typeface="Consolas"/>
                        </a:rPr>
                        <a:t>Mortality</a:t>
                      </a:r>
                    </a:p>
                  </a:txBody>
                  <a:tcPr marL="82296" marR="82296" marT="27432" marB="27432" anchor="ctr">
                    <a:solidFill>
                      <a:srgbClr val="E4EAEA"/>
                    </a:solidFill>
                  </a:tcPr>
                </a:tc>
              </a:tr>
              <a:tr h="329184">
                <a:tc>
                  <a:txBody>
                    <a:bodyPr wrap="square"/>
                    <a:lstStyle/>
                    <a:p>
                      <a:pPr algn="l"/>
                      <a:r>
                        <a:rPr sz="1150" b="0">
                          <a:solidFill>
                            <a:srgbClr val="2C3C40"/>
                          </a:solidFill>
                          <a:latin typeface="Calibri"/>
                        </a:rPr>
                        <a:t>raw / value-level</a:t>
                      </a:r>
                    </a:p>
                  </a:txBody>
                  <a:tcPr marL="82296" marR="82296" marT="27432" marB="27432" anchor="ctr">
                    <a:solidFill>
                      <a:srgbClr val="FFFFFF"/>
                    </a:solidFill>
                  </a:tcPr>
                </a:tc>
                <a:tc>
                  <a:txBody>
                    <a:bodyPr wrap="square"/>
                    <a:lstStyle/>
                    <a:p>
                      <a:pPr algn="r"/>
                      <a:r>
                        <a:rPr sz="1150" b="0">
                          <a:solidFill>
                            <a:srgbClr val="2C3C40"/>
                          </a:solidFill>
                          <a:latin typeface="Consolas"/>
                        </a:rPr>
                        <a:t>46,032</a:t>
                      </a:r>
                    </a:p>
                  </a:txBody>
                  <a:tcPr marL="82296" marR="82296" marT="27432" marB="27432" anchor="ctr">
                    <a:solidFill>
                      <a:srgbClr val="FFFFFF"/>
                    </a:solidFill>
                  </a:tcPr>
                </a:tc>
                <a:tc>
                  <a:txBody>
                    <a:bodyPr wrap="square"/>
                    <a:lstStyle/>
                    <a:p>
                      <a:pPr algn="r"/>
                      <a:r>
                        <a:rPr sz="1150" b="0">
                          <a:solidFill>
                            <a:srgbClr val="2C3C40"/>
                          </a:solidFill>
                          <a:latin typeface="Consolas"/>
                        </a:rPr>
                        <a:t>37.5%</a:t>
                      </a:r>
                    </a:p>
                  </a:txBody>
                  <a:tcPr marL="82296" marR="82296" marT="27432" marB="27432" anchor="ctr">
                    <a:solidFill>
                      <a:srgbClr val="FFFFFF"/>
                    </a:solidFill>
                  </a:tcPr>
                </a:tc>
                <a:tc>
                  <a:txBody>
                    <a:bodyPr wrap="square"/>
                    <a:lstStyle/>
                    <a:p>
                      <a:pPr algn="r"/>
                      <a:r>
                        <a:rPr sz="1150" b="0">
                          <a:solidFill>
                            <a:srgbClr val="2C3C40"/>
                          </a:solidFill>
                          <a:latin typeface="Consolas"/>
                        </a:rPr>
                        <a:t>9.7%</a:t>
                      </a:r>
                    </a:p>
                  </a:txBody>
                  <a:tcPr marL="82296" marR="82296" marT="27432" marB="27432" anchor="ctr">
                    <a:solidFill>
                      <a:srgbClr val="FFFFFF"/>
                    </a:solidFill>
                  </a:tcPr>
                </a:tc>
              </a:tr>
              <a:tr h="329184">
                <a:tc>
                  <a:txBody>
                    <a:bodyPr wrap="square"/>
                    <a:lstStyle/>
                    <a:p>
                      <a:pPr algn="l"/>
                      <a:r>
                        <a:rPr sz="1150" b="0">
                          <a:solidFill>
                            <a:srgbClr val="2C3C40"/>
                          </a:solidFill>
                          <a:latin typeface="Calibri"/>
                        </a:rPr>
                        <a:t>long missing segment</a:t>
                      </a:r>
                    </a:p>
                  </a:txBody>
                  <a:tcPr marL="82296" marR="82296" marT="27432" marB="27432" anchor="ctr">
                    <a:solidFill>
                      <a:srgbClr val="FFFFFF"/>
                    </a:solidFill>
                  </a:tcPr>
                </a:tc>
                <a:tc>
                  <a:txBody>
                    <a:bodyPr wrap="square"/>
                    <a:lstStyle/>
                    <a:p>
                      <a:pPr algn="r"/>
                      <a:r>
                        <a:rPr sz="1150" b="0">
                          <a:solidFill>
                            <a:srgbClr val="2C3C40"/>
                          </a:solidFill>
                          <a:latin typeface="Consolas"/>
                        </a:rPr>
                        <a:t>31,029</a:t>
                      </a:r>
                    </a:p>
                  </a:txBody>
                  <a:tcPr marL="82296" marR="82296" marT="27432" marB="27432" anchor="ctr">
                    <a:solidFill>
                      <a:srgbClr val="FFFFFF"/>
                    </a:solidFill>
                  </a:tcPr>
                </a:tc>
                <a:tc>
                  <a:txBody>
                    <a:bodyPr wrap="square"/>
                    <a:lstStyle/>
                    <a:p>
                      <a:pPr algn="r"/>
                      <a:r>
                        <a:rPr sz="1150" b="0">
                          <a:solidFill>
                            <a:srgbClr val="2C3C40"/>
                          </a:solidFill>
                          <a:latin typeface="Consolas"/>
                        </a:rPr>
                        <a:t>38.8%</a:t>
                      </a:r>
                    </a:p>
                  </a:txBody>
                  <a:tcPr marL="82296" marR="82296" marT="27432" marB="27432" anchor="ctr">
                    <a:solidFill>
                      <a:srgbClr val="FFFFFF"/>
                    </a:solidFill>
                  </a:tcPr>
                </a:tc>
                <a:tc>
                  <a:txBody>
                    <a:bodyPr wrap="square"/>
                    <a:lstStyle/>
                    <a:p>
                      <a:pPr algn="r"/>
                      <a:r>
                        <a:rPr sz="1150" b="0">
                          <a:solidFill>
                            <a:srgbClr val="2C3C40"/>
                          </a:solidFill>
                          <a:latin typeface="Consolas"/>
                        </a:rPr>
                        <a:t>10.2%</a:t>
                      </a:r>
                    </a:p>
                  </a:txBody>
                  <a:tcPr marL="82296" marR="82296" marT="27432" marB="27432" anchor="ctr">
                    <a:solidFill>
                      <a:srgbClr val="FFFFFF"/>
                    </a:solidFill>
                  </a:tcPr>
                </a:tc>
              </a:tr>
              <a:tr h="329184">
                <a:tc>
                  <a:txBody>
                    <a:bodyPr wrap="square"/>
                    <a:lstStyle/>
                    <a:p>
                      <a:pPr algn="l"/>
                      <a:r>
                        <a:rPr sz="1150" b="0">
                          <a:solidFill>
                            <a:srgbClr val="2C3C40"/>
                          </a:solidFill>
                          <a:latin typeface="Calibri"/>
                        </a:rPr>
                        <a:t>long gap</a:t>
                      </a:r>
                    </a:p>
                  </a:txBody>
                  <a:tcPr marL="82296" marR="82296" marT="27432" marB="27432" anchor="ctr">
                    <a:solidFill>
                      <a:srgbClr val="FFFFFF"/>
                    </a:solidFill>
                  </a:tcPr>
                </a:tc>
                <a:tc>
                  <a:txBody>
                    <a:bodyPr wrap="square"/>
                    <a:lstStyle/>
                    <a:p>
                      <a:pPr algn="r"/>
                      <a:r>
                        <a:rPr sz="1150" b="0">
                          <a:solidFill>
                            <a:srgbClr val="2C3C40"/>
                          </a:solidFill>
                          <a:latin typeface="Consolas"/>
                        </a:rPr>
                        <a:t>20,323</a:t>
                      </a:r>
                    </a:p>
                  </a:txBody>
                  <a:tcPr marL="82296" marR="82296" marT="27432" marB="27432" anchor="ctr">
                    <a:solidFill>
                      <a:srgbClr val="FFFFFF"/>
                    </a:solidFill>
                  </a:tcPr>
                </a:tc>
                <a:tc>
                  <a:txBody>
                    <a:bodyPr wrap="square"/>
                    <a:lstStyle/>
                    <a:p>
                      <a:pPr algn="r"/>
                      <a:r>
                        <a:rPr sz="1150" b="0">
                          <a:solidFill>
                            <a:srgbClr val="2C3C40"/>
                          </a:solidFill>
                          <a:latin typeface="Consolas"/>
                        </a:rPr>
                        <a:t>50.2%</a:t>
                      </a:r>
                    </a:p>
                  </a:txBody>
                  <a:tcPr marL="82296" marR="82296" marT="27432" marB="27432" anchor="ctr">
                    <a:solidFill>
                      <a:srgbClr val="FFFFFF"/>
                    </a:solidFill>
                  </a:tcPr>
                </a:tc>
                <a:tc>
                  <a:txBody>
                    <a:bodyPr wrap="square"/>
                    <a:lstStyle/>
                    <a:p>
                      <a:pPr algn="r"/>
                      <a:r>
                        <a:rPr sz="1150" b="0">
                          <a:solidFill>
                            <a:srgbClr val="2C3C40"/>
                          </a:solidFill>
                          <a:latin typeface="Consolas"/>
                        </a:rPr>
                        <a:t>10.9%</a:t>
                      </a:r>
                    </a:p>
                  </a:txBody>
                  <a:tcPr marL="82296" marR="82296" marT="27432" marB="27432" anchor="ctr">
                    <a:solidFill>
                      <a:srgbClr val="FFFFFF"/>
                    </a:solidFill>
                  </a:tcPr>
                </a:tc>
              </a:tr>
              <a:tr h="329184">
                <a:tc>
                  <a:txBody>
                    <a:bodyPr wrap="square"/>
                    <a:lstStyle/>
                    <a:p>
                      <a:pPr algn="l"/>
                      <a:r>
                        <a:rPr sz="1150" b="1">
                          <a:solidFill>
                            <a:srgbClr val="2C3C40"/>
                          </a:solidFill>
                          <a:latin typeface="Calibri"/>
                        </a:rPr>
                        <a:t>high invalid data</a:t>
                      </a:r>
                    </a:p>
                  </a:txBody>
                  <a:tcPr marL="82296" marR="82296" marT="27432" marB="27432" anchor="ctr">
                    <a:solidFill>
                      <a:srgbClr val="FFFFFF"/>
                    </a:solidFill>
                  </a:tcPr>
                </a:tc>
                <a:tc>
                  <a:txBody>
                    <a:bodyPr wrap="square"/>
                    <a:lstStyle/>
                    <a:p>
                      <a:pPr algn="r"/>
                      <a:r>
                        <a:rPr sz="1150" b="0">
                          <a:solidFill>
                            <a:srgbClr val="2C3C40"/>
                          </a:solidFill>
                          <a:latin typeface="Consolas"/>
                        </a:rPr>
                        <a:t>1,369</a:t>
                      </a:r>
                    </a:p>
                  </a:txBody>
                  <a:tcPr marL="82296" marR="82296" marT="27432" marB="27432" anchor="ctr">
                    <a:solidFill>
                      <a:srgbClr val="FFFFFF"/>
                    </a:solidFill>
                  </a:tcPr>
                </a:tc>
                <a:tc>
                  <a:txBody>
                    <a:bodyPr wrap="square"/>
                    <a:lstStyle/>
                    <a:p>
                      <a:pPr algn="r"/>
                      <a:r>
                        <a:rPr sz="1150" b="1">
                          <a:solidFill>
                            <a:srgbClr val="0E1618"/>
                          </a:solidFill>
                          <a:latin typeface="Consolas"/>
                        </a:rPr>
                        <a:t>60.6%</a:t>
                      </a:r>
                    </a:p>
                  </a:txBody>
                  <a:tcPr marL="82296" marR="82296" marT="27432" marB="27432" anchor="ctr">
                    <a:solidFill>
                      <a:srgbClr val="FFFFFF"/>
                    </a:solidFill>
                  </a:tcPr>
                </a:tc>
                <a:tc>
                  <a:txBody>
                    <a:bodyPr wrap="square"/>
                    <a:lstStyle/>
                    <a:p>
                      <a:pPr algn="r"/>
                      <a:r>
                        <a:rPr sz="1150" b="1">
                          <a:solidFill>
                            <a:srgbClr val="0E1618"/>
                          </a:solidFill>
                          <a:latin typeface="Consolas"/>
                        </a:rPr>
                        <a:t>19.4%</a:t>
                      </a:r>
                    </a:p>
                  </a:txBody>
                  <a:tcPr marL="82296" marR="82296" marT="27432" marB="27432" anchor="ctr">
                    <a:solidFill>
                      <a:srgbClr val="FFFFFF"/>
                    </a:solidFill>
                  </a:tcPr>
                </a:tc>
              </a:tr>
            </a:tbl>
          </a:graphicData>
        </a:graphic>
      </p:graphicFrame>
      <p:sp>
        <p:nvSpPr>
          <p:cNvPr id="7" name="TextBox 6"/>
          <p:cNvSpPr txBox="1"/>
          <p:nvPr/>
        </p:nvSpPr>
        <p:spPr>
          <a:xfrm>
            <a:off x="658368" y="5285232"/>
            <a:ext cx="10874959" cy="1188720"/>
          </a:xfrm>
          <a:prstGeom prst="rect">
            <a:avLst/>
          </a:prstGeom>
          <a:noFill/>
        </p:spPr>
        <p:txBody>
          <a:bodyPr wrap="square" anchor="t" lIns="0" rIns="0" tIns="0" bIns="0">
            <a:spAutoFit/>
          </a:bodyPr>
          <a:lstStyle/>
          <a:p>
            <a:pPr algn="l">
              <a:lnSpc>
                <a:spcPct val="132000"/>
              </a:lnSpc>
              <a:spcAft>
                <a:spcPts val="0"/>
              </a:spcAft>
            </a:pPr>
            <a:r>
              <a:rPr sz="1500" b="0" i="0">
                <a:solidFill>
                  <a:srgbClr val="2C3C40"/>
                </a:solidFill>
                <a:latin typeface="Calibri"/>
              </a:rPr>
              <a:t>The prolonged-stay task starts as a </a:t>
            </a:r>
            <a:r>
              <a:rPr sz="1500" b="1" i="0">
                <a:solidFill>
                  <a:srgbClr val="2C3C40"/>
                </a:solidFill>
                <a:latin typeface="Consolas"/>
              </a:rPr>
              <a:t>37.5%</a:t>
            </a:r>
            <a:r>
              <a:rPr sz="1500" b="0" i="0">
                <a:solidFill>
                  <a:srgbClr val="2C3C40"/>
                </a:solidFill>
                <a:latin typeface="Calibri"/>
              </a:rPr>
              <a:t> minority-class problem and ends as a </a:t>
            </a:r>
            <a:r>
              <a:rPr sz="1500" b="1" i="0">
                <a:solidFill>
                  <a:srgbClr val="A4552B"/>
                </a:solidFill>
                <a:latin typeface="Consolas"/>
              </a:rPr>
              <a:t>60.6%</a:t>
            </a:r>
            <a:r>
              <a:rPr sz="1500" b="0" i="0">
                <a:solidFill>
                  <a:srgbClr val="2C3C40"/>
                </a:solidFill>
                <a:latin typeface="Calibri"/>
              </a:rPr>
              <a:t> majority-class one — a </a:t>
            </a:r>
            <a:r>
              <a:rPr sz="1500" b="1" i="0">
                <a:solidFill>
                  <a:srgbClr val="A4552B"/>
                </a:solidFill>
                <a:latin typeface="Consolas"/>
              </a:rPr>
              <a:t>+23.0-point</a:t>
            </a:r>
            <a:r>
              <a:rPr sz="1500" b="0" i="0">
                <a:solidFill>
                  <a:srgbClr val="2C3C40"/>
                </a:solidFill>
                <a:latin typeface="Calibri"/>
              </a:rPr>
              <a:t> swing. Mortality prevalence roughly doubles. That is not the same prediction problem with cleaner inputs; it is a different problem.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THE CONSEQUENCE</a:t>
            </a:r>
          </a:p>
          <a:p>
            <a:pPr algn="l">
              <a:lnSpc>
                <a:spcPct val="102000"/>
              </a:lnSpc>
              <a:spcAft>
                <a:spcPts val="0"/>
              </a:spcAft>
            </a:pPr>
            <a:r>
              <a:rPr sz="3000" b="1" i="0">
                <a:solidFill>
                  <a:srgbClr val="0E1618"/>
                </a:solidFill>
                <a:latin typeface="Georgia"/>
              </a:rPr>
              <a:t>So the bar charts are not comparing like with like</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The same filters, measured twice: against the baseline on the full cohort, and against the baseline on exactly the patients each filter kept. Mortality, mean aggregation.</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938528"/>
          <a:ext cx="7863840" cy="2304288"/>
        </p:xfrm>
        <a:graphic>
          <a:graphicData uri="http://schemas.openxmlformats.org/drawingml/2006/table">
            <a:tbl>
              <a:tblPr firstRow="1">
                <a:tableStyleId>{5C22544A-7EE6-4342-B048-85BDC9FD1C3A}</a:tableStyleId>
              </a:tblPr>
              <a:tblGrid>
                <a:gridCol w="2011680"/>
                <a:gridCol w="1417320"/>
                <a:gridCol w="1920240"/>
                <a:gridCol w="2514600"/>
              </a:tblGrid>
              <a:tr h="384048">
                <a:tc>
                  <a:txBody>
                    <a:bodyPr wrap="square"/>
                    <a:lstStyle/>
                    <a:p>
                      <a:pPr algn="l"/>
                      <a:r>
                        <a:rPr sz="1250" b="1">
                          <a:solidFill>
                            <a:srgbClr val="61767A"/>
                          </a:solidFill>
                          <a:latin typeface="Calibri"/>
                        </a:rPr>
                        <a:t>Arm</a:t>
                      </a:r>
                    </a:p>
                  </a:txBody>
                  <a:tcPr marL="82296" marR="82296" marT="27432" marB="27432" anchor="ctr">
                    <a:solidFill>
                      <a:srgbClr val="E4EAEA"/>
                    </a:solidFill>
                  </a:tcPr>
                </a:tc>
                <a:tc>
                  <a:txBody>
                    <a:bodyPr wrap="square"/>
                    <a:lstStyle/>
                    <a:p>
                      <a:pPr algn="r"/>
                      <a:r>
                        <a:rPr sz="1250" b="1">
                          <a:solidFill>
                            <a:srgbClr val="61767A"/>
                          </a:solidFill>
                          <a:latin typeface="Consolas"/>
                        </a:rPr>
                        <a:t>Scored on</a:t>
                      </a:r>
                    </a:p>
                  </a:txBody>
                  <a:tcPr marL="82296" marR="82296" marT="27432" marB="27432" anchor="ctr">
                    <a:solidFill>
                      <a:srgbClr val="E4EAEA"/>
                    </a:solidFill>
                  </a:tcPr>
                </a:tc>
                <a:tc>
                  <a:txBody>
                    <a:bodyPr wrap="square"/>
                    <a:lstStyle/>
                    <a:p>
                      <a:pPr algn="r"/>
                      <a:r>
                        <a:rPr sz="1250" b="1">
                          <a:solidFill>
                            <a:srgbClr val="61767A"/>
                          </a:solidFill>
                          <a:latin typeface="Consolas"/>
                        </a:rPr>
                        <a:t>Δ accuracy, as plotted</a:t>
                      </a:r>
                    </a:p>
                  </a:txBody>
                  <a:tcPr marL="82296" marR="82296" marT="27432" marB="27432" anchor="ctr">
                    <a:solidFill>
                      <a:srgbClr val="E4EAEA"/>
                    </a:solidFill>
                  </a:tcPr>
                </a:tc>
                <a:tc>
                  <a:txBody>
                    <a:bodyPr wrap="square"/>
                    <a:lstStyle/>
                    <a:p>
                      <a:pPr algn="r"/>
                      <a:r>
                        <a:rPr sz="1250" b="1">
                          <a:solidFill>
                            <a:srgbClr val="61767A"/>
                          </a:solidFill>
                          <a:latin typeface="Consolas"/>
                        </a:rPr>
                        <a:t>Δ accuracy, vs the same survivors</a:t>
                      </a:r>
                    </a:p>
                  </a:txBody>
                  <a:tcPr marL="82296" marR="82296" marT="27432" marB="27432" anchor="ctr">
                    <a:solidFill>
                      <a:srgbClr val="E4EAEA"/>
                    </a:solidFill>
                  </a:tcPr>
                </a:tc>
              </a:tr>
              <a:tr h="384048">
                <a:tc>
                  <a:txBody>
                    <a:bodyPr wrap="square"/>
                    <a:lstStyle/>
                    <a:p>
                      <a:pPr algn="l"/>
                      <a:r>
                        <a:rPr sz="1250" b="0">
                          <a:solidFill>
                            <a:srgbClr val="2C3C40"/>
                          </a:solidFill>
                          <a:latin typeface="Calibri"/>
                        </a:rPr>
                        <a:t>all vitals</a:t>
                      </a:r>
                    </a:p>
                  </a:txBody>
                  <a:tcPr marL="82296" marR="82296" marT="27432" marB="27432" anchor="ctr">
                    <a:solidFill>
                      <a:srgbClr val="FFFFFF"/>
                    </a:solidFill>
                  </a:tcPr>
                </a:tc>
                <a:tc>
                  <a:txBody>
                    <a:bodyPr wrap="square"/>
                    <a:lstStyle/>
                    <a:p>
                      <a:pPr algn="r"/>
                      <a:r>
                        <a:rPr sz="1250" b="0">
                          <a:solidFill>
                            <a:srgbClr val="0D6B6B"/>
                          </a:solidFill>
                          <a:latin typeface="Consolas"/>
                        </a:rPr>
                        <a:t>46,032 stays</a:t>
                      </a:r>
                    </a:p>
                  </a:txBody>
                  <a:tcPr marL="82296" marR="82296" marT="27432" marB="27432" anchor="ctr">
                    <a:solidFill>
                      <a:srgbClr val="FFFFFF"/>
                    </a:solidFill>
                  </a:tcPr>
                </a:tc>
                <a:tc>
                  <a:txBody>
                    <a:bodyPr wrap="square"/>
                    <a:lstStyle/>
                    <a:p>
                      <a:pPr algn="r"/>
                      <a:r>
                        <a:rPr sz="1250" b="0">
                          <a:solidFill>
                            <a:srgbClr val="3D7A52"/>
                          </a:solidFill>
                          <a:latin typeface="Consolas"/>
                        </a:rPr>
                        <a:t>+0.0089</a:t>
                      </a:r>
                    </a:p>
                  </a:txBody>
                  <a:tcPr marL="82296" marR="82296" marT="27432" marB="27432" anchor="ctr">
                    <a:solidFill>
                      <a:srgbClr val="FFFFFF"/>
                    </a:solidFill>
                  </a:tcPr>
                </a:tc>
                <a:tc>
                  <a:txBody>
                    <a:bodyPr wrap="square"/>
                    <a:lstStyle/>
                    <a:p>
                      <a:pPr algn="r"/>
                      <a:r>
                        <a:rPr sz="1250" b="0">
                          <a:solidFill>
                            <a:srgbClr val="3D7A52"/>
                          </a:solidFill>
                          <a:latin typeface="Consolas"/>
                        </a:rPr>
                        <a:t>+0.0090</a:t>
                      </a:r>
                    </a:p>
                  </a:txBody>
                  <a:tcPr marL="82296" marR="82296" marT="27432" marB="27432" anchor="ctr">
                    <a:solidFill>
                      <a:srgbClr val="FFFFFF"/>
                    </a:solidFill>
                  </a:tcPr>
                </a:tc>
              </a:tr>
              <a:tr h="384048">
                <a:tc>
                  <a:txBody>
                    <a:bodyPr wrap="square"/>
                    <a:lstStyle/>
                    <a:p>
                      <a:pPr algn="l"/>
                      <a:r>
                        <a:rPr sz="1250" b="0">
                          <a:solidFill>
                            <a:srgbClr val="2C3C40"/>
                          </a:solidFill>
                          <a:latin typeface="Calibri"/>
                        </a:rPr>
                        <a:t>fill missing data</a:t>
                      </a:r>
                    </a:p>
                  </a:txBody>
                  <a:tcPr marL="82296" marR="82296" marT="27432" marB="27432" anchor="ctr">
                    <a:solidFill>
                      <a:srgbClr val="FFFFFF"/>
                    </a:solidFill>
                  </a:tcPr>
                </a:tc>
                <a:tc>
                  <a:txBody>
                    <a:bodyPr wrap="square"/>
                    <a:lstStyle/>
                    <a:p>
                      <a:pPr algn="r"/>
                      <a:r>
                        <a:rPr sz="1250" b="0">
                          <a:solidFill>
                            <a:srgbClr val="0D6B6B"/>
                          </a:solidFill>
                          <a:latin typeface="Consolas"/>
                        </a:rPr>
                        <a:t>46,032 stays</a:t>
                      </a:r>
                    </a:p>
                  </a:txBody>
                  <a:tcPr marL="82296" marR="82296" marT="27432" marB="27432" anchor="ctr">
                    <a:solidFill>
                      <a:srgbClr val="FFFFFF"/>
                    </a:solidFill>
                  </a:tcPr>
                </a:tc>
                <a:tc>
                  <a:txBody>
                    <a:bodyPr wrap="square"/>
                    <a:lstStyle/>
                    <a:p>
                      <a:pPr algn="r"/>
                      <a:r>
                        <a:rPr sz="1250" b="0">
                          <a:solidFill>
                            <a:srgbClr val="3D7A52"/>
                          </a:solidFill>
                          <a:latin typeface="Consolas"/>
                        </a:rPr>
                        <a:t>+0.0406</a:t>
                      </a:r>
                    </a:p>
                  </a:txBody>
                  <a:tcPr marL="82296" marR="82296" marT="27432" marB="27432" anchor="ctr">
                    <a:solidFill>
                      <a:srgbClr val="FFFFFF"/>
                    </a:solidFill>
                  </a:tcPr>
                </a:tc>
                <a:tc>
                  <a:txBody>
                    <a:bodyPr wrap="square"/>
                    <a:lstStyle/>
                    <a:p>
                      <a:pPr algn="r"/>
                      <a:r>
                        <a:rPr sz="1250" b="0">
                          <a:solidFill>
                            <a:srgbClr val="3D7A52"/>
                          </a:solidFill>
                          <a:latin typeface="Consolas"/>
                        </a:rPr>
                        <a:t>+0.0404</a:t>
                      </a:r>
                    </a:p>
                  </a:txBody>
                  <a:tcPr marL="82296" marR="82296" marT="27432" marB="27432" anchor="ctr">
                    <a:solidFill>
                      <a:srgbClr val="FFFFFF"/>
                    </a:solidFill>
                  </a:tcPr>
                </a:tc>
              </a:tr>
              <a:tr h="384048">
                <a:tc>
                  <a:txBody>
                    <a:bodyPr wrap="square"/>
                    <a:lstStyle/>
                    <a:p>
                      <a:pPr algn="l"/>
                      <a:r>
                        <a:rPr sz="1250" b="1">
                          <a:solidFill>
                            <a:srgbClr val="2C3C40"/>
                          </a:solidFill>
                          <a:latin typeface="Calibri"/>
                        </a:rPr>
                        <a:t>long missing segment</a:t>
                      </a:r>
                    </a:p>
                  </a:txBody>
                  <a:tcPr marL="82296" marR="82296" marT="27432" marB="27432" anchor="ctr">
                    <a:solidFill>
                      <a:srgbClr val="FFFFFF"/>
                    </a:solidFill>
                  </a:tcPr>
                </a:tc>
                <a:tc>
                  <a:txBody>
                    <a:bodyPr wrap="square"/>
                    <a:lstStyle/>
                    <a:p>
                      <a:pPr algn="r"/>
                      <a:r>
                        <a:rPr sz="1250" b="1">
                          <a:solidFill>
                            <a:srgbClr val="A4552B"/>
                          </a:solidFill>
                          <a:latin typeface="Consolas"/>
                        </a:rPr>
                        <a:t>31,029 stays</a:t>
                      </a:r>
                    </a:p>
                  </a:txBody>
                  <a:tcPr marL="82296" marR="82296" marT="27432" marB="27432" anchor="ctr">
                    <a:solidFill>
                      <a:srgbClr val="FFFFFF"/>
                    </a:solidFill>
                  </a:tcPr>
                </a:tc>
                <a:tc>
                  <a:txBody>
                    <a:bodyPr wrap="square"/>
                    <a:lstStyle/>
                    <a:p>
                      <a:pPr algn="r"/>
                      <a:r>
                        <a:rPr sz="1250" b="0">
                          <a:solidFill>
                            <a:srgbClr val="A4552B"/>
                          </a:solidFill>
                          <a:latin typeface="Consolas"/>
                        </a:rPr>
                        <a:t>-0.0359</a:t>
                      </a:r>
                    </a:p>
                  </a:txBody>
                  <a:tcPr marL="82296" marR="82296" marT="27432" marB="27432" anchor="ctr">
                    <a:solidFill>
                      <a:srgbClr val="FFFFFF"/>
                    </a:solidFill>
                  </a:tcPr>
                </a:tc>
                <a:tc>
                  <a:txBody>
                    <a:bodyPr wrap="square"/>
                    <a:lstStyle/>
                    <a:p>
                      <a:pPr algn="r"/>
                      <a:r>
                        <a:rPr sz="1250" b="1">
                          <a:solidFill>
                            <a:srgbClr val="3D7A52"/>
                          </a:solidFill>
                          <a:latin typeface="Consolas"/>
                        </a:rPr>
                        <a:t>+0.0384</a:t>
                      </a:r>
                    </a:p>
                  </a:txBody>
                  <a:tcPr marL="82296" marR="82296" marT="27432" marB="27432" anchor="ctr">
                    <a:solidFill>
                      <a:srgbClr val="FFFFFF"/>
                    </a:solidFill>
                  </a:tcPr>
                </a:tc>
              </a:tr>
              <a:tr h="384048">
                <a:tc>
                  <a:txBody>
                    <a:bodyPr wrap="square"/>
                    <a:lstStyle/>
                    <a:p>
                      <a:pPr algn="l"/>
                      <a:r>
                        <a:rPr sz="1250" b="1">
                          <a:solidFill>
                            <a:srgbClr val="2C3C40"/>
                          </a:solidFill>
                          <a:latin typeface="Calibri"/>
                        </a:rPr>
                        <a:t>long gap</a:t>
                      </a:r>
                    </a:p>
                  </a:txBody>
                  <a:tcPr marL="82296" marR="82296" marT="27432" marB="27432" anchor="ctr">
                    <a:solidFill>
                      <a:srgbClr val="FFFFFF"/>
                    </a:solidFill>
                  </a:tcPr>
                </a:tc>
                <a:tc>
                  <a:txBody>
                    <a:bodyPr wrap="square"/>
                    <a:lstStyle/>
                    <a:p>
                      <a:pPr algn="r"/>
                      <a:r>
                        <a:rPr sz="1250" b="1">
                          <a:solidFill>
                            <a:srgbClr val="A4552B"/>
                          </a:solidFill>
                          <a:latin typeface="Consolas"/>
                        </a:rPr>
                        <a:t>20,323 stays</a:t>
                      </a:r>
                    </a:p>
                  </a:txBody>
                  <a:tcPr marL="82296" marR="82296" marT="27432" marB="27432" anchor="ctr">
                    <a:solidFill>
                      <a:srgbClr val="FFFFFF"/>
                    </a:solidFill>
                  </a:tcPr>
                </a:tc>
                <a:tc>
                  <a:txBody>
                    <a:bodyPr wrap="square"/>
                    <a:lstStyle/>
                    <a:p>
                      <a:pPr algn="r"/>
                      <a:r>
                        <a:rPr sz="1250" b="0">
                          <a:solidFill>
                            <a:srgbClr val="A4552B"/>
                          </a:solidFill>
                          <a:latin typeface="Consolas"/>
                        </a:rPr>
                        <a:t>-0.0305</a:t>
                      </a:r>
                    </a:p>
                  </a:txBody>
                  <a:tcPr marL="82296" marR="82296" marT="27432" marB="27432" anchor="ctr">
                    <a:solidFill>
                      <a:srgbClr val="FFFFFF"/>
                    </a:solidFill>
                  </a:tcPr>
                </a:tc>
                <a:tc>
                  <a:txBody>
                    <a:bodyPr wrap="square"/>
                    <a:lstStyle/>
                    <a:p>
                      <a:pPr algn="r"/>
                      <a:r>
                        <a:rPr sz="1250" b="1">
                          <a:solidFill>
                            <a:srgbClr val="3D7A52"/>
                          </a:solidFill>
                          <a:latin typeface="Consolas"/>
                        </a:rPr>
                        <a:t>+0.0302</a:t>
                      </a:r>
                    </a:p>
                  </a:txBody>
                  <a:tcPr marL="82296" marR="82296" marT="27432" marB="27432" anchor="ctr">
                    <a:solidFill>
                      <a:srgbClr val="FFFFFF"/>
                    </a:solidFill>
                  </a:tcPr>
                </a:tc>
              </a:tr>
              <a:tr h="384048">
                <a:tc>
                  <a:txBody>
                    <a:bodyPr wrap="square"/>
                    <a:lstStyle/>
                    <a:p>
                      <a:pPr algn="l"/>
                      <a:r>
                        <a:rPr sz="1250" b="1">
                          <a:solidFill>
                            <a:srgbClr val="2C3C40"/>
                          </a:solidFill>
                          <a:latin typeface="Calibri"/>
                        </a:rPr>
                        <a:t>high invalid data</a:t>
                      </a:r>
                    </a:p>
                  </a:txBody>
                  <a:tcPr marL="82296" marR="82296" marT="27432" marB="27432" anchor="ctr">
                    <a:solidFill>
                      <a:srgbClr val="FFFFFF"/>
                    </a:solidFill>
                  </a:tcPr>
                </a:tc>
                <a:tc>
                  <a:txBody>
                    <a:bodyPr wrap="square"/>
                    <a:lstStyle/>
                    <a:p>
                      <a:pPr algn="r"/>
                      <a:r>
                        <a:rPr sz="1250" b="1">
                          <a:solidFill>
                            <a:srgbClr val="A4552B"/>
                          </a:solidFill>
                          <a:latin typeface="Consolas"/>
                        </a:rPr>
                        <a:t>1,369 stays</a:t>
                      </a:r>
                    </a:p>
                  </a:txBody>
                  <a:tcPr marL="82296" marR="82296" marT="27432" marB="27432" anchor="ctr">
                    <a:solidFill>
                      <a:srgbClr val="FFFFFF"/>
                    </a:solidFill>
                  </a:tcPr>
                </a:tc>
                <a:tc>
                  <a:txBody>
                    <a:bodyPr wrap="square"/>
                    <a:lstStyle/>
                    <a:p>
                      <a:pPr algn="r"/>
                      <a:r>
                        <a:rPr sz="1250" b="0">
                          <a:solidFill>
                            <a:srgbClr val="3D7A52"/>
                          </a:solidFill>
                          <a:latin typeface="Consolas"/>
                        </a:rPr>
                        <a:t>+0.0009</a:t>
                      </a:r>
                    </a:p>
                  </a:txBody>
                  <a:tcPr marL="82296" marR="82296" marT="27432" marB="27432" anchor="ctr">
                    <a:solidFill>
                      <a:srgbClr val="FFFFFF"/>
                    </a:solidFill>
                  </a:tcPr>
                </a:tc>
                <a:tc>
                  <a:txBody>
                    <a:bodyPr wrap="square"/>
                    <a:lstStyle/>
                    <a:p>
                      <a:pPr algn="r"/>
                      <a:r>
                        <a:rPr sz="1250" b="1">
                          <a:solidFill>
                            <a:srgbClr val="3D7A52"/>
                          </a:solidFill>
                          <a:latin typeface="Consolas"/>
                        </a:rPr>
                        <a:t>+0.1980</a:t>
                      </a:r>
                    </a:p>
                  </a:txBody>
                  <a:tcPr marL="82296" marR="82296" marT="27432" marB="27432" anchor="ctr">
                    <a:solidFill>
                      <a:srgbClr val="FFFFFF"/>
                    </a:solidFill>
                  </a:tcPr>
                </a:tc>
              </a:tr>
            </a:tbl>
          </a:graphicData>
        </a:graphic>
      </p:graphicFrame>
      <p:sp>
        <p:nvSpPr>
          <p:cNvPr id="6" name="TextBox 5"/>
          <p:cNvSpPr txBox="1"/>
          <p:nvPr/>
        </p:nvSpPr>
        <p:spPr>
          <a:xfrm>
            <a:off x="658368" y="4443984"/>
            <a:ext cx="7863840" cy="2194560"/>
          </a:xfrm>
          <a:prstGeom prst="rect">
            <a:avLst/>
          </a:prstGeom>
          <a:noFill/>
        </p:spPr>
        <p:txBody>
          <a:bodyPr wrap="square" anchor="t" lIns="0" rIns="0" tIns="0" bIns="0">
            <a:spAutoFit/>
          </a:bodyPr>
          <a:lstStyle/>
          <a:p>
            <a:pPr algn="l">
              <a:lnSpc>
                <a:spcPct val="130000"/>
              </a:lnSpc>
              <a:spcAft>
                <a:spcPts val="1100"/>
              </a:spcAft>
            </a:pPr>
            <a:r>
              <a:rPr sz="1450" b="0" i="0">
                <a:solidFill>
                  <a:srgbClr val="2C3C40"/>
                </a:solidFill>
                <a:latin typeface="Calibri"/>
              </a:rPr>
              <a:t>For the two full-cohort arms the columns agree to four decimals — same patients, so the subtraction was always clean. For all three record-level arms they disagree </a:t>
            </a:r>
            <a:r>
              <a:rPr sz="1450" b="1" i="1">
                <a:solidFill>
                  <a:srgbClr val="0E1618"/>
                </a:solidFill>
                <a:latin typeface="Calibri"/>
              </a:rPr>
              <a:t>in sign</a:t>
            </a:r>
            <a:r>
              <a:rPr sz="1450" b="0" i="0">
                <a:solidFill>
                  <a:srgbClr val="2C3C40"/>
                </a:solidFill>
                <a:latin typeface="Calibri"/>
              </a:rPr>
              <a:t>.</a:t>
            </a:r>
          </a:p>
          <a:p>
            <a:pPr algn="l">
              <a:lnSpc>
                <a:spcPct val="130000"/>
              </a:lnSpc>
              <a:spcAft>
                <a:spcPts val="1100"/>
              </a:spcAft>
            </a:pPr>
            <a:r>
              <a:rPr sz="1450" b="0" i="0">
                <a:solidFill>
                  <a:srgbClr val="2C3C40"/>
                </a:solidFill>
                <a:latin typeface="Calibri"/>
              </a:rPr>
              <a:t>High-invalid-data is the extreme case. On the </a:t>
            </a:r>
            <a:r>
              <a:rPr sz="1450" b="1" i="0">
                <a:solidFill>
                  <a:srgbClr val="2C3C40"/>
                </a:solidFill>
                <a:latin typeface="Consolas"/>
              </a:rPr>
              <a:t>1,369</a:t>
            </a:r>
            <a:r>
              <a:rPr sz="1450" b="0" i="0">
                <a:solidFill>
                  <a:srgbClr val="2C3C40"/>
                </a:solidFill>
                <a:latin typeface="Calibri"/>
              </a:rPr>
              <a:t> patients it kept it beats the baseline by </a:t>
            </a:r>
            <a:r>
              <a:rPr sz="1450" b="1" i="0">
                <a:solidFill>
                  <a:srgbClr val="3D7A52"/>
                </a:solidFill>
                <a:latin typeface="Consolas"/>
              </a:rPr>
              <a:t>+0.1980</a:t>
            </a:r>
            <a:r>
              <a:rPr sz="1450" b="0" i="0">
                <a:solidFill>
                  <a:srgbClr val="2C3C40"/>
                </a:solidFill>
                <a:latin typeface="Calibri"/>
              </a:rPr>
              <a:t> — but those are patients the baseline finds hard, scoring </a:t>
            </a:r>
            <a:r>
              <a:rPr sz="1450" b="1" i="0">
                <a:solidFill>
                  <a:srgbClr val="2C3C40"/>
                </a:solidFill>
                <a:latin typeface="Consolas"/>
              </a:rPr>
              <a:t>0.5106</a:t>
            </a:r>
            <a:r>
              <a:rPr sz="1450" b="0" i="0">
                <a:solidFill>
                  <a:srgbClr val="2C3C40"/>
                </a:solidFill>
                <a:latin typeface="Calibri"/>
              </a:rPr>
              <a:t> on them against </a:t>
            </a:r>
            <a:r>
              <a:rPr sz="1450" b="1" i="0">
                <a:solidFill>
                  <a:srgbClr val="2C3C40"/>
                </a:solidFill>
                <a:latin typeface="Consolas"/>
              </a:rPr>
              <a:t>0.6868</a:t>
            </a:r>
            <a:r>
              <a:rPr sz="1450" b="0" i="0">
                <a:solidFill>
                  <a:srgbClr val="2C3C40"/>
                </a:solidFill>
                <a:latin typeface="Calibri"/>
              </a:rPr>
              <a:t> overall.</a:t>
            </a:r>
          </a:p>
          <a:p>
            <a:pPr algn="l">
              <a:lnSpc>
                <a:spcPct val="130000"/>
              </a:lnSpc>
              <a:spcAft>
                <a:spcPts val="0"/>
              </a:spcAft>
            </a:pPr>
            <a:r>
              <a:rPr sz="1450" b="1" i="0">
                <a:solidFill>
                  <a:srgbClr val="0E1618"/>
                </a:solidFill>
                <a:latin typeface="Calibri"/>
              </a:rPr>
              <a:t>The plotted </a:t>
            </a:r>
            <a:r>
              <a:rPr sz="1450" b="1" i="0">
                <a:solidFill>
                  <a:srgbClr val="0E1618"/>
                </a:solidFill>
                <a:latin typeface="Consolas"/>
              </a:rPr>
              <a:t>+0.0009</a:t>
            </a:r>
            <a:r>
              <a:rPr sz="1450" b="1" i="0">
                <a:solidFill>
                  <a:srgbClr val="0E1618"/>
                </a:solidFill>
                <a:latin typeface="Calibri"/>
              </a:rPr>
              <a:t> is those two effects cancelling. It is a fact about which patients ended up in the denominator, not about what the filter did to the model.</a:t>
            </a:r>
          </a:p>
        </p:txBody>
      </p:sp>
      <p:sp>
        <p:nvSpPr>
          <p:cNvPr id="7" name="Rectangle 6"/>
          <p:cNvSpPr/>
          <p:nvPr/>
        </p:nvSpPr>
        <p:spPr>
          <a:xfrm>
            <a:off x="8549640" y="1938528"/>
            <a:ext cx="2980944" cy="402336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87384" y="2157984"/>
            <a:ext cx="2505456" cy="3657600"/>
          </a:xfrm>
          <a:prstGeom prst="rect">
            <a:avLst/>
          </a:prstGeom>
          <a:noFill/>
        </p:spPr>
        <p:txBody>
          <a:bodyPr wrap="square" anchor="t" lIns="0" rIns="0" tIns="0" bIns="0">
            <a:spAutoFit/>
          </a:bodyPr>
          <a:lstStyle/>
          <a:p>
            <a:pPr algn="l">
              <a:lnSpc>
                <a:spcPct val="124000"/>
              </a:lnSpc>
              <a:spcAft>
                <a:spcPts val="1100"/>
              </a:spcAft>
            </a:pPr>
            <a:r>
              <a:rPr sz="1600" b="1" i="0">
                <a:solidFill>
                  <a:srgbClr val="0E1618"/>
                </a:solidFill>
                <a:latin typeface="Georgia"/>
              </a:rPr>
              <a:t>What to do instead</a:t>
            </a:r>
          </a:p>
          <a:p>
            <a:pPr algn="l">
              <a:lnSpc>
                <a:spcPct val="126000"/>
              </a:lnSpc>
              <a:spcAft>
                <a:spcPts val="1000"/>
              </a:spcAft>
            </a:pPr>
            <a:r>
              <a:rPr sz="1250" b="1" i="0">
                <a:solidFill>
                  <a:srgbClr val="0D6B6B"/>
                </a:solidFill>
                <a:latin typeface="Calibri"/>
              </a:rPr>
              <a:t>• </a:t>
            </a:r>
            <a:r>
              <a:rPr sz="1250" b="0" i="0">
                <a:solidFill>
                  <a:srgbClr val="2C3C40"/>
                </a:solidFill>
                <a:latin typeface="Calibri"/>
              </a:rPr>
              <a:t>Report the surviving n, and its class prevalence, beside every metric.</a:t>
            </a:r>
          </a:p>
          <a:p>
            <a:pPr algn="l">
              <a:lnSpc>
                <a:spcPct val="126000"/>
              </a:lnSpc>
              <a:spcAft>
                <a:spcPts val="1000"/>
              </a:spcAft>
            </a:pPr>
            <a:r>
              <a:rPr sz="1250" b="1" i="0">
                <a:solidFill>
                  <a:srgbClr val="0D6B6B"/>
                </a:solidFill>
                <a:latin typeface="Calibri"/>
              </a:rPr>
              <a:t>• </a:t>
            </a:r>
            <a:r>
              <a:rPr sz="1250" b="0" i="0">
                <a:solidFill>
                  <a:srgbClr val="2C3C40"/>
                </a:solidFill>
                <a:latin typeface="Calibri"/>
              </a:rPr>
              <a:t>For a record-level filter, score the baseline on the same survivors before subtracting anything.</a:t>
            </a:r>
          </a:p>
          <a:p>
            <a:pPr algn="l">
              <a:lnSpc>
                <a:spcPct val="126000"/>
              </a:lnSpc>
              <a:spcAft>
                <a:spcPts val="1000"/>
              </a:spcAft>
            </a:pPr>
            <a:r>
              <a:rPr sz="1250" b="1" i="0">
                <a:solidFill>
                  <a:srgbClr val="0D6B6B"/>
                </a:solidFill>
                <a:latin typeface="Calibri"/>
              </a:rPr>
              <a:t>• </a:t>
            </a:r>
            <a:r>
              <a:rPr sz="1250" b="0" i="0">
                <a:solidFill>
                  <a:srgbClr val="2C3C40"/>
                </a:solidFill>
                <a:latin typeface="Calibri"/>
              </a:rPr>
              <a:t>Treat macro F1 with care: it averages per-class F1, so doubling the positive rate moves it whatever the model does.</a:t>
            </a:r>
          </a:p>
          <a:p>
            <a:pPr algn="l">
              <a:lnSpc>
                <a:spcPct val="126000"/>
              </a:lnSpc>
              <a:spcAft>
                <a:spcPts val="1000"/>
              </a:spcAft>
            </a:pPr>
            <a:r>
              <a:rPr sz="1250" b="1" i="0">
                <a:solidFill>
                  <a:srgbClr val="0D6B6B"/>
                </a:solidFill>
                <a:latin typeface="Calibri"/>
              </a:rPr>
              <a:t>• </a:t>
            </a:r>
            <a:r>
              <a:rPr sz="1250" b="0" i="0">
                <a:solidFill>
                  <a:srgbClr val="2C3C40"/>
                </a:solidFill>
                <a:latin typeface="Calibri"/>
              </a:rPr>
              <a:t>Prefer threshold-free metrics when the cohort moves under you.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THE DIAGNOSTIC</a:t>
            </a:r>
          </a:p>
          <a:p>
            <a:pPr algn="l">
              <a:lnSpc>
                <a:spcPct val="102000"/>
              </a:lnSpc>
              <a:spcAft>
                <a:spcPts val="0"/>
              </a:spcAft>
            </a:pPr>
            <a:r>
              <a:rPr sz="3000" b="1" i="0">
                <a:solidFill>
                  <a:srgbClr val="0E1618"/>
                </a:solidFill>
                <a:latin typeface="Georgia"/>
              </a:rPr>
              <a:t>McNemar: did the prediction pattern change?</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A paired test on the records both models scored. Bars are −log₁₀(p) against the unfiltered baseline; in-hospital mortality.</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cnemar_mortality_mean_baseline_threshold_plain.png"/>
          <p:cNvPicPr>
            <a:picLocks noChangeAspect="1"/>
          </p:cNvPicPr>
          <p:nvPr/>
        </p:nvPicPr>
        <p:blipFill>
          <a:blip r:embed="rId2"/>
          <a:stretch>
            <a:fillRect/>
          </a:stretch>
        </p:blipFill>
        <p:spPr>
          <a:xfrm>
            <a:off x="658368" y="1897627"/>
            <a:ext cx="6949440" cy="3455937"/>
          </a:xfrm>
          <a:prstGeom prst="rect">
            <a:avLst/>
          </a:prstGeom>
        </p:spPr>
      </p:pic>
      <p:sp>
        <p:nvSpPr>
          <p:cNvPr id="6" name="Rectangle 5"/>
          <p:cNvSpPr/>
          <p:nvPr/>
        </p:nvSpPr>
        <p:spPr>
          <a:xfrm>
            <a:off x="7818120" y="1865376"/>
            <a:ext cx="3712463" cy="352044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55864" y="2084832"/>
            <a:ext cx="3236976" cy="3200400"/>
          </a:xfrm>
          <a:prstGeom prst="rect">
            <a:avLst/>
          </a:prstGeom>
          <a:noFill/>
        </p:spPr>
        <p:txBody>
          <a:bodyPr wrap="square" anchor="t" lIns="0" rIns="0" tIns="0" bIns="0">
            <a:spAutoFit/>
          </a:bodyPr>
          <a:lstStyle/>
          <a:p>
            <a:pPr algn="l">
              <a:lnSpc>
                <a:spcPct val="124000"/>
              </a:lnSpc>
              <a:spcAft>
                <a:spcPts val="1000"/>
              </a:spcAft>
            </a:pPr>
            <a:r>
              <a:rPr sz="1600" b="1" i="0">
                <a:solidFill>
                  <a:srgbClr val="0E1618"/>
                </a:solidFill>
                <a:latin typeface="Georgia"/>
              </a:rPr>
              <a:t>The test in one paragraph</a:t>
            </a:r>
          </a:p>
          <a:p>
            <a:pPr algn="l">
              <a:lnSpc>
                <a:spcPct val="128000"/>
              </a:lnSpc>
              <a:spcAft>
                <a:spcPts val="1000"/>
              </a:spcAft>
            </a:pPr>
            <a:r>
              <a:rPr sz="1300" b="0" i="0">
                <a:solidFill>
                  <a:srgbClr val="2C3C40"/>
                </a:solidFill>
                <a:latin typeface="Calibri"/>
              </a:rPr>
              <a:t>Take the records both models predicted. Count the ones the filter fixed (</a:t>
            </a:r>
            <a:r>
              <a:rPr sz="1300" b="1" i="0">
                <a:solidFill>
                  <a:srgbClr val="3D7A52"/>
                </a:solidFill>
                <a:latin typeface="Consolas"/>
              </a:rPr>
              <a:t>n₀₁</a:t>
            </a:r>
            <a:r>
              <a:rPr sz="1300" b="0" i="0">
                <a:solidFill>
                  <a:srgbClr val="2C3C40"/>
                </a:solidFill>
                <a:latin typeface="Calibri"/>
              </a:rPr>
              <a:t>) and the ones it broke (</a:t>
            </a:r>
            <a:r>
              <a:rPr sz="1300" b="1" i="0">
                <a:solidFill>
                  <a:srgbClr val="A4552B"/>
                </a:solidFill>
                <a:latin typeface="Consolas"/>
              </a:rPr>
              <a:t>n₁₀</a:t>
            </a:r>
            <a:r>
              <a:rPr sz="1300" b="0" i="0">
                <a:solidFill>
                  <a:srgbClr val="2C3C40"/>
                </a:solidFill>
                <a:latin typeface="Calibri"/>
              </a:rPr>
              <a:t>). Under the null they are exchangeable, so the p-value is an exact binomial test on </a:t>
            </a:r>
            <a:r>
              <a:rPr sz="1300" b="0" i="0">
                <a:solidFill>
                  <a:srgbClr val="2C3C40"/>
                </a:solidFill>
                <a:latin typeface="Consolas"/>
              </a:rPr>
              <a:t>n₀₁ / (n₀₁ + n₁₀)</a:t>
            </a:r>
            <a:r>
              <a:rPr sz="1300" b="0" i="0">
                <a:solidFill>
                  <a:srgbClr val="2C3C40"/>
                </a:solidFill>
                <a:latin typeface="Calibri"/>
              </a:rPr>
              <a:t> against ½.</a:t>
            </a:r>
          </a:p>
          <a:p>
            <a:pPr algn="l">
              <a:lnSpc>
                <a:spcPct val="128000"/>
              </a:lnSpc>
              <a:spcAft>
                <a:spcPts val="1000"/>
              </a:spcAft>
            </a:pPr>
            <a:r>
              <a:rPr sz="1300" b="0" i="0">
                <a:solidFill>
                  <a:srgbClr val="0E1618"/>
                </a:solidFill>
                <a:latin typeface="Calibri"/>
              </a:rPr>
              <a:t>Agreements are ignored entirely. The test sees only the disagreements — which is what makes it powerful, and what makes it fragile when the paired sample shrinks.</a:t>
            </a:r>
          </a:p>
          <a:p>
            <a:pPr algn="l">
              <a:lnSpc>
                <a:spcPct val="126000"/>
              </a:lnSpc>
              <a:spcAft>
                <a:spcPts val="0"/>
              </a:spcAft>
            </a:pPr>
            <a:r>
              <a:rPr sz="1250" b="0" i="1">
                <a:solidFill>
                  <a:srgbClr val="61767A"/>
                </a:solidFill>
                <a:latin typeface="Calibri"/>
              </a:rPr>
              <a:t>Every arm here is scored at the baseline's threshold, so the comparison isolates the filter rather than the operating point.</a:t>
            </a:r>
          </a:p>
        </p:txBody>
      </p:sp>
      <p:sp>
        <p:nvSpPr>
          <p:cNvPr id="8" name="TextBox 7"/>
          <p:cNvSpPr txBox="1"/>
          <p:nvPr/>
        </p:nvSpPr>
        <p:spPr>
          <a:xfrm>
            <a:off x="658368" y="5532120"/>
            <a:ext cx="10874959" cy="1005840"/>
          </a:xfrm>
          <a:prstGeom prst="rect">
            <a:avLst/>
          </a:prstGeom>
          <a:noFill/>
        </p:spPr>
        <p:txBody>
          <a:bodyPr wrap="square" anchor="t" lIns="0" rIns="0" tIns="0" bIns="0">
            <a:spAutoFit/>
          </a:bodyPr>
          <a:lstStyle/>
          <a:p>
            <a:pPr algn="l">
              <a:lnSpc>
                <a:spcPct val="132000"/>
              </a:lnSpc>
              <a:spcAft>
                <a:spcPts val="0"/>
              </a:spcAft>
            </a:pPr>
            <a:r>
              <a:rPr sz="1500" b="0" i="0">
                <a:solidFill>
                  <a:srgbClr val="2C3C40"/>
                </a:solidFill>
                <a:latin typeface="Calibri"/>
              </a:rPr>
              <a:t>The dashed lines are </a:t>
            </a:r>
            <a:r>
              <a:rPr sz="1500" b="1" i="0">
                <a:solidFill>
                  <a:srgbClr val="2C3C40"/>
                </a:solidFill>
                <a:latin typeface="Consolas"/>
              </a:rPr>
              <a:t>p = 0.05</a:t>
            </a:r>
            <a:r>
              <a:rPr sz="1500" b="0" i="0">
                <a:solidFill>
                  <a:srgbClr val="2C3C40"/>
                </a:solidFill>
                <a:latin typeface="Calibri"/>
              </a:rPr>
              <a:t> and </a:t>
            </a:r>
            <a:r>
              <a:rPr sz="1500" b="1" i="0">
                <a:solidFill>
                  <a:srgbClr val="2C3C40"/>
                </a:solidFill>
                <a:latin typeface="Consolas"/>
              </a:rPr>
              <a:t>p = 0.0001</a:t>
            </a:r>
            <a:r>
              <a:rPr sz="1500" b="0" i="0">
                <a:solidFill>
                  <a:srgbClr val="2C3C40"/>
                </a:solidFill>
                <a:latin typeface="Calibri"/>
              </a:rPr>
              <a:t>. Between them, a filter is worth investigating; below the second, it has changed the model's behaviour so much that it is hard to argue the problem survived intact.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THE PART THAT DID NOT FIT</a:t>
            </a:r>
          </a:p>
          <a:p>
            <a:pPr algn="l">
              <a:lnSpc>
                <a:spcPct val="102000"/>
              </a:lnSpc>
              <a:spcAft>
                <a:spcPts val="0"/>
              </a:spcAft>
            </a:pPr>
            <a:r>
              <a:rPr sz="3000" b="1" i="0">
                <a:solidFill>
                  <a:srgbClr val="0E1618"/>
                </a:solidFill>
                <a:latin typeface="Georgia"/>
              </a:rPr>
              <a:t>McNemar only ever sees the survivors</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The paired sample is the intersection of the two arms — so a record-level filter shrinks the test at the same time as it changes the data.</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938528"/>
          <a:ext cx="7772398" cy="2194560"/>
        </p:xfrm>
        <a:graphic>
          <a:graphicData uri="http://schemas.openxmlformats.org/drawingml/2006/table">
            <a:tbl>
              <a:tblPr firstRow="1">
                <a:tableStyleId>{5C22544A-7EE6-4342-B048-85BDC9FD1C3A}</a:tableStyleId>
              </a:tblPr>
              <a:tblGrid>
                <a:gridCol w="2037885"/>
                <a:gridCol w="1090031"/>
                <a:gridCol w="1042639"/>
                <a:gridCol w="1042639"/>
                <a:gridCol w="1279602"/>
                <a:gridCol w="1279602"/>
              </a:tblGrid>
              <a:tr h="365760">
                <a:tc>
                  <a:txBody>
                    <a:bodyPr wrap="square"/>
                    <a:lstStyle/>
                    <a:p>
                      <a:pPr algn="l"/>
                      <a:r>
                        <a:rPr sz="1200" b="1">
                          <a:solidFill>
                            <a:srgbClr val="61767A"/>
                          </a:solidFill>
                          <a:latin typeface="Calibri"/>
                        </a:rPr>
                        <a:t>Arm</a:t>
                      </a:r>
                    </a:p>
                  </a:txBody>
                  <a:tcPr marL="82296" marR="82296" marT="27432" marB="27432" anchor="ctr">
                    <a:solidFill>
                      <a:srgbClr val="E4EAEA"/>
                    </a:solidFill>
                  </a:tcPr>
                </a:tc>
                <a:tc>
                  <a:txBody>
                    <a:bodyPr wrap="square"/>
                    <a:lstStyle/>
                    <a:p>
                      <a:pPr algn="r"/>
                      <a:r>
                        <a:rPr sz="1200" b="1">
                          <a:solidFill>
                            <a:srgbClr val="61767A"/>
                          </a:solidFill>
                          <a:latin typeface="Consolas"/>
                        </a:rPr>
                        <a:t>Paired n</a:t>
                      </a:r>
                    </a:p>
                  </a:txBody>
                  <a:tcPr marL="82296" marR="82296" marT="27432" marB="27432" anchor="ctr">
                    <a:solidFill>
                      <a:srgbClr val="E4EAEA"/>
                    </a:solidFill>
                  </a:tcPr>
                </a:tc>
                <a:tc>
                  <a:txBody>
                    <a:bodyPr wrap="square"/>
                    <a:lstStyle/>
                    <a:p>
                      <a:pPr algn="r"/>
                      <a:r>
                        <a:rPr sz="1200" b="1">
                          <a:solidFill>
                            <a:srgbClr val="61767A"/>
                          </a:solidFill>
                          <a:latin typeface="Consolas"/>
                        </a:rPr>
                        <a:t>n₀₁ fixed</a:t>
                      </a:r>
                    </a:p>
                  </a:txBody>
                  <a:tcPr marL="82296" marR="82296" marT="27432" marB="27432" anchor="ctr">
                    <a:solidFill>
                      <a:srgbClr val="E4EAEA"/>
                    </a:solidFill>
                  </a:tcPr>
                </a:tc>
                <a:tc>
                  <a:txBody>
                    <a:bodyPr wrap="square"/>
                    <a:lstStyle/>
                    <a:p>
                      <a:pPr algn="r"/>
                      <a:r>
                        <a:rPr sz="1200" b="1">
                          <a:solidFill>
                            <a:srgbClr val="61767A"/>
                          </a:solidFill>
                          <a:latin typeface="Consolas"/>
                        </a:rPr>
                        <a:t>n₁₀ broke</a:t>
                      </a:r>
                    </a:p>
                  </a:txBody>
                  <a:tcPr marL="82296" marR="82296" marT="27432" marB="27432" anchor="ctr">
                    <a:solidFill>
                      <a:srgbClr val="E4EAEA"/>
                    </a:solidFill>
                  </a:tcPr>
                </a:tc>
                <a:tc>
                  <a:txBody>
                    <a:bodyPr wrap="square"/>
                    <a:lstStyle/>
                    <a:p>
                      <a:pPr algn="r"/>
                      <a:r>
                        <a:rPr sz="1200" b="1">
                          <a:solidFill>
                            <a:srgbClr val="61767A"/>
                          </a:solidFill>
                          <a:latin typeface="Consolas"/>
                        </a:rPr>
                        <a:t>p (mortality)</a:t>
                      </a:r>
                    </a:p>
                  </a:txBody>
                  <a:tcPr marL="82296" marR="82296" marT="27432" marB="27432" anchor="ctr">
                    <a:solidFill>
                      <a:srgbClr val="E4EAEA"/>
                    </a:solidFill>
                  </a:tcPr>
                </a:tc>
                <a:tc>
                  <a:txBody>
                    <a:bodyPr wrap="square"/>
                    <a:lstStyle/>
                    <a:p>
                      <a:pPr algn="r"/>
                      <a:r>
                        <a:rPr sz="1200" b="1">
                          <a:solidFill>
                            <a:srgbClr val="61767A"/>
                          </a:solidFill>
                          <a:latin typeface="Consolas"/>
                        </a:rPr>
                        <a:t>p (ICU stay)</a:t>
                      </a:r>
                    </a:p>
                  </a:txBody>
                  <a:tcPr marL="82296" marR="82296" marT="27432" marB="27432" anchor="ctr">
                    <a:solidFill>
                      <a:srgbClr val="E4EAEA"/>
                    </a:solidFill>
                  </a:tcPr>
                </a:tc>
              </a:tr>
              <a:tr h="365760">
                <a:tc>
                  <a:txBody>
                    <a:bodyPr wrap="square"/>
                    <a:lstStyle/>
                    <a:p>
                      <a:pPr algn="l"/>
                      <a:r>
                        <a:rPr sz="1200" b="0">
                          <a:solidFill>
                            <a:srgbClr val="2C3C40"/>
                          </a:solidFill>
                          <a:latin typeface="Calibri"/>
                        </a:rPr>
                        <a:t>all vitals</a:t>
                      </a:r>
                    </a:p>
                  </a:txBody>
                  <a:tcPr marL="82296" marR="82296" marT="27432" marB="27432" anchor="ctr">
                    <a:solidFill>
                      <a:srgbClr val="FFFFFF"/>
                    </a:solidFill>
                  </a:tcPr>
                </a:tc>
                <a:tc>
                  <a:txBody>
                    <a:bodyPr wrap="square"/>
                    <a:lstStyle/>
                    <a:p>
                      <a:pPr algn="r"/>
                      <a:r>
                        <a:rPr sz="1200" b="0">
                          <a:solidFill>
                            <a:srgbClr val="0D6B6B"/>
                          </a:solidFill>
                          <a:latin typeface="Consolas"/>
                        </a:rPr>
                        <a:t>46,032</a:t>
                      </a:r>
                    </a:p>
                  </a:txBody>
                  <a:tcPr marL="82296" marR="82296" marT="27432" marB="27432" anchor="ctr">
                    <a:solidFill>
                      <a:srgbClr val="FFFFFF"/>
                    </a:solidFill>
                  </a:tcPr>
                </a:tc>
                <a:tc>
                  <a:txBody>
                    <a:bodyPr wrap="square"/>
                    <a:lstStyle/>
                    <a:p>
                      <a:pPr algn="r"/>
                      <a:r>
                        <a:rPr sz="1200" b="0">
                          <a:solidFill>
                            <a:srgbClr val="3D7A52"/>
                          </a:solidFill>
                          <a:latin typeface="Consolas"/>
                        </a:rPr>
                        <a:t>818</a:t>
                      </a:r>
                    </a:p>
                  </a:txBody>
                  <a:tcPr marL="82296" marR="82296" marT="27432" marB="27432" anchor="ctr">
                    <a:solidFill>
                      <a:srgbClr val="FFFFFF"/>
                    </a:solidFill>
                  </a:tcPr>
                </a:tc>
                <a:tc>
                  <a:txBody>
                    <a:bodyPr wrap="square"/>
                    <a:lstStyle/>
                    <a:p>
                      <a:pPr algn="r"/>
                      <a:r>
                        <a:rPr sz="1200" b="0">
                          <a:solidFill>
                            <a:srgbClr val="A4552B"/>
                          </a:solidFill>
                          <a:latin typeface="Consolas"/>
                        </a:rPr>
                        <a:t>836</a:t>
                      </a:r>
                    </a:p>
                  </a:txBody>
                  <a:tcPr marL="82296" marR="82296" marT="27432" marB="27432" anchor="ctr">
                    <a:solidFill>
                      <a:srgbClr val="FFFFFF"/>
                    </a:solidFill>
                  </a:tcPr>
                </a:tc>
                <a:tc>
                  <a:txBody>
                    <a:bodyPr wrap="square"/>
                    <a:lstStyle/>
                    <a:p>
                      <a:pPr algn="r"/>
                      <a:r>
                        <a:rPr sz="1200" b="0">
                          <a:solidFill>
                            <a:srgbClr val="2C3C40"/>
                          </a:solidFill>
                          <a:latin typeface="Consolas"/>
                        </a:rPr>
                        <a:t>0.676</a:t>
                      </a:r>
                    </a:p>
                  </a:txBody>
                  <a:tcPr marL="82296" marR="82296" marT="27432" marB="27432" anchor="ctr">
                    <a:solidFill>
                      <a:srgbClr val="FFFFFF"/>
                    </a:solidFill>
                  </a:tcPr>
                </a:tc>
                <a:tc>
                  <a:txBody>
                    <a:bodyPr wrap="square"/>
                    <a:lstStyle/>
                    <a:p>
                      <a:pPr algn="r"/>
                      <a:r>
                        <a:rPr sz="1200" b="0">
                          <a:solidFill>
                            <a:srgbClr val="2C3C40"/>
                          </a:solidFill>
                          <a:latin typeface="Consolas"/>
                        </a:rPr>
                        <a:t>0.810</a:t>
                      </a:r>
                    </a:p>
                  </a:txBody>
                  <a:tcPr marL="82296" marR="82296" marT="27432" marB="27432" anchor="ctr">
                    <a:solidFill>
                      <a:srgbClr val="FFFFFF"/>
                    </a:solidFill>
                  </a:tcPr>
                </a:tc>
              </a:tr>
              <a:tr h="365760">
                <a:tc>
                  <a:txBody>
                    <a:bodyPr wrap="square"/>
                    <a:lstStyle/>
                    <a:p>
                      <a:pPr algn="l"/>
                      <a:r>
                        <a:rPr sz="1200" b="0">
                          <a:solidFill>
                            <a:srgbClr val="2C3C40"/>
                          </a:solidFill>
                          <a:latin typeface="Calibri"/>
                        </a:rPr>
                        <a:t>fill missing data</a:t>
                      </a:r>
                    </a:p>
                  </a:txBody>
                  <a:tcPr marL="82296" marR="82296" marT="27432" marB="27432" anchor="ctr">
                    <a:solidFill>
                      <a:srgbClr val="FFFFFF"/>
                    </a:solidFill>
                  </a:tcPr>
                </a:tc>
                <a:tc>
                  <a:txBody>
                    <a:bodyPr wrap="square"/>
                    <a:lstStyle/>
                    <a:p>
                      <a:pPr algn="r"/>
                      <a:r>
                        <a:rPr sz="1200" b="0">
                          <a:solidFill>
                            <a:srgbClr val="0D6B6B"/>
                          </a:solidFill>
                          <a:latin typeface="Consolas"/>
                        </a:rPr>
                        <a:t>46,032</a:t>
                      </a:r>
                    </a:p>
                  </a:txBody>
                  <a:tcPr marL="82296" marR="82296" marT="27432" marB="27432" anchor="ctr">
                    <a:solidFill>
                      <a:srgbClr val="FFFFFF"/>
                    </a:solidFill>
                  </a:tcPr>
                </a:tc>
                <a:tc>
                  <a:txBody>
                    <a:bodyPr wrap="square"/>
                    <a:lstStyle/>
                    <a:p>
                      <a:pPr algn="r"/>
                      <a:r>
                        <a:rPr sz="1200" b="0">
                          <a:solidFill>
                            <a:srgbClr val="3D7A52"/>
                          </a:solidFill>
                          <a:latin typeface="Consolas"/>
                        </a:rPr>
                        <a:t>4,635</a:t>
                      </a:r>
                    </a:p>
                  </a:txBody>
                  <a:tcPr marL="82296" marR="82296" marT="27432" marB="27432" anchor="ctr">
                    <a:solidFill>
                      <a:srgbClr val="FFFFFF"/>
                    </a:solidFill>
                  </a:tcPr>
                </a:tc>
                <a:tc>
                  <a:txBody>
                    <a:bodyPr wrap="square"/>
                    <a:lstStyle/>
                    <a:p>
                      <a:pPr algn="r"/>
                      <a:r>
                        <a:rPr sz="1200" b="0">
                          <a:solidFill>
                            <a:srgbClr val="A4552B"/>
                          </a:solidFill>
                          <a:latin typeface="Consolas"/>
                        </a:rPr>
                        <a:t>2,944</a:t>
                      </a:r>
                    </a:p>
                  </a:txBody>
                  <a:tcPr marL="82296" marR="82296" marT="27432" marB="27432" anchor="ctr">
                    <a:solidFill>
                      <a:srgbClr val="FFFFFF"/>
                    </a:solidFill>
                  </a:tcPr>
                </a:tc>
                <a:tc>
                  <a:txBody>
                    <a:bodyPr wrap="square"/>
                    <a:lstStyle/>
                    <a:p>
                      <a:pPr algn="r"/>
                      <a:r>
                        <a:rPr sz="1200" b="0">
                          <a:solidFill>
                            <a:srgbClr val="2C3C40"/>
                          </a:solidFill>
                          <a:latin typeface="Consolas"/>
                        </a:rPr>
                        <a:t>1.2e-84</a:t>
                      </a:r>
                    </a:p>
                  </a:txBody>
                  <a:tcPr marL="82296" marR="82296" marT="27432" marB="27432" anchor="ctr">
                    <a:solidFill>
                      <a:srgbClr val="FFFFFF"/>
                    </a:solidFill>
                  </a:tcPr>
                </a:tc>
                <a:tc>
                  <a:txBody>
                    <a:bodyPr wrap="square"/>
                    <a:lstStyle/>
                    <a:p>
                      <a:pPr algn="r"/>
                      <a:r>
                        <a:rPr sz="1200" b="0">
                          <a:solidFill>
                            <a:srgbClr val="2C3C40"/>
                          </a:solidFill>
                          <a:latin typeface="Consolas"/>
                        </a:rPr>
                        <a:t>4.5e-11</a:t>
                      </a:r>
                    </a:p>
                  </a:txBody>
                  <a:tcPr marL="82296" marR="82296" marT="27432" marB="27432" anchor="ctr">
                    <a:solidFill>
                      <a:srgbClr val="FFFFFF"/>
                    </a:solidFill>
                  </a:tcPr>
                </a:tc>
              </a:tr>
              <a:tr h="365760">
                <a:tc>
                  <a:txBody>
                    <a:bodyPr wrap="square"/>
                    <a:lstStyle/>
                    <a:p>
                      <a:pPr algn="l"/>
                      <a:r>
                        <a:rPr sz="1200" b="1">
                          <a:solidFill>
                            <a:srgbClr val="2C3C40"/>
                          </a:solidFill>
                          <a:latin typeface="Calibri"/>
                        </a:rPr>
                        <a:t>long missing segment</a:t>
                      </a:r>
                    </a:p>
                  </a:txBody>
                  <a:tcPr marL="82296" marR="82296" marT="27432" marB="27432" anchor="ctr">
                    <a:solidFill>
                      <a:srgbClr val="FFFFFF"/>
                    </a:solidFill>
                  </a:tcPr>
                </a:tc>
                <a:tc>
                  <a:txBody>
                    <a:bodyPr wrap="square"/>
                    <a:lstStyle/>
                    <a:p>
                      <a:pPr algn="r"/>
                      <a:r>
                        <a:rPr sz="1200" b="1">
                          <a:solidFill>
                            <a:srgbClr val="A4552B"/>
                          </a:solidFill>
                          <a:latin typeface="Consolas"/>
                        </a:rPr>
                        <a:t>31,029</a:t>
                      </a:r>
                    </a:p>
                  </a:txBody>
                  <a:tcPr marL="82296" marR="82296" marT="27432" marB="27432" anchor="ctr">
                    <a:solidFill>
                      <a:srgbClr val="FFFFFF"/>
                    </a:solidFill>
                  </a:tcPr>
                </a:tc>
                <a:tc>
                  <a:txBody>
                    <a:bodyPr wrap="square"/>
                    <a:lstStyle/>
                    <a:p>
                      <a:pPr algn="r"/>
                      <a:r>
                        <a:rPr sz="1200" b="0">
                          <a:solidFill>
                            <a:srgbClr val="3D7A52"/>
                          </a:solidFill>
                          <a:latin typeface="Consolas"/>
                        </a:rPr>
                        <a:t>1,128</a:t>
                      </a:r>
                    </a:p>
                  </a:txBody>
                  <a:tcPr marL="82296" marR="82296" marT="27432" marB="27432" anchor="ctr">
                    <a:solidFill>
                      <a:srgbClr val="FFFFFF"/>
                    </a:solidFill>
                  </a:tcPr>
                </a:tc>
                <a:tc>
                  <a:txBody>
                    <a:bodyPr wrap="square"/>
                    <a:lstStyle/>
                    <a:p>
                      <a:pPr algn="r"/>
                      <a:r>
                        <a:rPr sz="1200" b="0">
                          <a:solidFill>
                            <a:srgbClr val="A4552B"/>
                          </a:solidFill>
                          <a:latin typeface="Consolas"/>
                        </a:rPr>
                        <a:t>725</a:t>
                      </a:r>
                    </a:p>
                  </a:txBody>
                  <a:tcPr marL="82296" marR="82296" marT="27432" marB="27432" anchor="ctr">
                    <a:solidFill>
                      <a:srgbClr val="FFFFFF"/>
                    </a:solidFill>
                  </a:tcPr>
                </a:tc>
                <a:tc>
                  <a:txBody>
                    <a:bodyPr wrap="square"/>
                    <a:lstStyle/>
                    <a:p>
                      <a:pPr algn="r"/>
                      <a:r>
                        <a:rPr sz="1200" b="0">
                          <a:solidFill>
                            <a:srgbClr val="2C3C40"/>
                          </a:solidFill>
                          <a:latin typeface="Consolas"/>
                        </a:rPr>
                        <a:t>6.9e-21</a:t>
                      </a:r>
                    </a:p>
                  </a:txBody>
                  <a:tcPr marL="82296" marR="82296" marT="27432" marB="27432" anchor="ctr">
                    <a:solidFill>
                      <a:srgbClr val="FFFFFF"/>
                    </a:solidFill>
                  </a:tcPr>
                </a:tc>
                <a:tc>
                  <a:txBody>
                    <a:bodyPr wrap="square"/>
                    <a:lstStyle/>
                    <a:p>
                      <a:pPr algn="r"/>
                      <a:r>
                        <a:rPr sz="1200" b="0">
                          <a:solidFill>
                            <a:srgbClr val="2C3C40"/>
                          </a:solidFill>
                          <a:latin typeface="Consolas"/>
                        </a:rPr>
                        <a:t>0.514</a:t>
                      </a:r>
                    </a:p>
                  </a:txBody>
                  <a:tcPr marL="82296" marR="82296" marT="27432" marB="27432" anchor="ctr">
                    <a:solidFill>
                      <a:srgbClr val="FFFFFF"/>
                    </a:solidFill>
                  </a:tcPr>
                </a:tc>
              </a:tr>
              <a:tr h="365760">
                <a:tc>
                  <a:txBody>
                    <a:bodyPr wrap="square"/>
                    <a:lstStyle/>
                    <a:p>
                      <a:pPr algn="l"/>
                      <a:r>
                        <a:rPr sz="1200" b="1">
                          <a:solidFill>
                            <a:srgbClr val="2C3C40"/>
                          </a:solidFill>
                          <a:latin typeface="Calibri"/>
                        </a:rPr>
                        <a:t>long gap</a:t>
                      </a:r>
                    </a:p>
                  </a:txBody>
                  <a:tcPr marL="82296" marR="82296" marT="27432" marB="27432" anchor="ctr">
                    <a:solidFill>
                      <a:srgbClr val="FFFFFF"/>
                    </a:solidFill>
                  </a:tcPr>
                </a:tc>
                <a:tc>
                  <a:txBody>
                    <a:bodyPr wrap="square"/>
                    <a:lstStyle/>
                    <a:p>
                      <a:pPr algn="r"/>
                      <a:r>
                        <a:rPr sz="1200" b="1">
                          <a:solidFill>
                            <a:srgbClr val="A4552B"/>
                          </a:solidFill>
                          <a:latin typeface="Consolas"/>
                        </a:rPr>
                        <a:t>20,323</a:t>
                      </a:r>
                    </a:p>
                  </a:txBody>
                  <a:tcPr marL="82296" marR="82296" marT="27432" marB="27432" anchor="ctr">
                    <a:solidFill>
                      <a:srgbClr val="FFFFFF"/>
                    </a:solidFill>
                  </a:tcPr>
                </a:tc>
                <a:tc>
                  <a:txBody>
                    <a:bodyPr wrap="square"/>
                    <a:lstStyle/>
                    <a:p>
                      <a:pPr algn="r"/>
                      <a:r>
                        <a:rPr sz="1200" b="0">
                          <a:solidFill>
                            <a:srgbClr val="3D7A52"/>
                          </a:solidFill>
                          <a:latin typeface="Consolas"/>
                        </a:rPr>
                        <a:t>352</a:t>
                      </a:r>
                    </a:p>
                  </a:txBody>
                  <a:tcPr marL="82296" marR="82296" marT="27432" marB="27432" anchor="ctr">
                    <a:solidFill>
                      <a:srgbClr val="FFFFFF"/>
                    </a:solidFill>
                  </a:tcPr>
                </a:tc>
                <a:tc>
                  <a:txBody>
                    <a:bodyPr wrap="square"/>
                    <a:lstStyle/>
                    <a:p>
                      <a:pPr algn="r"/>
                      <a:r>
                        <a:rPr sz="1200" b="0">
                          <a:solidFill>
                            <a:srgbClr val="A4552B"/>
                          </a:solidFill>
                          <a:latin typeface="Consolas"/>
                        </a:rPr>
                        <a:t>925</a:t>
                      </a:r>
                    </a:p>
                  </a:txBody>
                  <a:tcPr marL="82296" marR="82296" marT="27432" marB="27432" anchor="ctr">
                    <a:solidFill>
                      <a:srgbClr val="FFFFFF"/>
                    </a:solidFill>
                  </a:tcPr>
                </a:tc>
                <a:tc>
                  <a:txBody>
                    <a:bodyPr wrap="square"/>
                    <a:lstStyle/>
                    <a:p>
                      <a:pPr algn="r"/>
                      <a:r>
                        <a:rPr sz="1200" b="0">
                          <a:solidFill>
                            <a:srgbClr val="2C3C40"/>
                          </a:solidFill>
                          <a:latin typeface="Consolas"/>
                        </a:rPr>
                        <a:t>1.1e-59</a:t>
                      </a:r>
                    </a:p>
                  </a:txBody>
                  <a:tcPr marL="82296" marR="82296" marT="27432" marB="27432" anchor="ctr">
                    <a:solidFill>
                      <a:srgbClr val="FFFFFF"/>
                    </a:solidFill>
                  </a:tcPr>
                </a:tc>
                <a:tc>
                  <a:txBody>
                    <a:bodyPr wrap="square"/>
                    <a:lstStyle/>
                    <a:p>
                      <a:pPr algn="r"/>
                      <a:r>
                        <a:rPr sz="1200" b="0">
                          <a:solidFill>
                            <a:srgbClr val="2C3C40"/>
                          </a:solidFill>
                          <a:latin typeface="Consolas"/>
                        </a:rPr>
                        <a:t>0.600</a:t>
                      </a:r>
                    </a:p>
                  </a:txBody>
                  <a:tcPr marL="82296" marR="82296" marT="27432" marB="27432" anchor="ctr">
                    <a:solidFill>
                      <a:srgbClr val="FFFFFF"/>
                    </a:solidFill>
                  </a:tcPr>
                </a:tc>
              </a:tr>
              <a:tr h="365760">
                <a:tc>
                  <a:txBody>
                    <a:bodyPr wrap="square"/>
                    <a:lstStyle/>
                    <a:p>
                      <a:pPr algn="l"/>
                      <a:r>
                        <a:rPr sz="1200" b="1">
                          <a:solidFill>
                            <a:srgbClr val="2C3C40"/>
                          </a:solidFill>
                          <a:latin typeface="Calibri"/>
                        </a:rPr>
                        <a:t>high invalid data</a:t>
                      </a:r>
                    </a:p>
                  </a:txBody>
                  <a:tcPr marL="82296" marR="82296" marT="27432" marB="27432" anchor="ctr">
                    <a:solidFill>
                      <a:srgbClr val="FFFFFF"/>
                    </a:solidFill>
                  </a:tcPr>
                </a:tc>
                <a:tc>
                  <a:txBody>
                    <a:bodyPr wrap="square"/>
                    <a:lstStyle/>
                    <a:p>
                      <a:pPr algn="r"/>
                      <a:r>
                        <a:rPr sz="1200" b="1">
                          <a:solidFill>
                            <a:srgbClr val="A4552B"/>
                          </a:solidFill>
                          <a:latin typeface="Consolas"/>
                        </a:rPr>
                        <a:t>1,369</a:t>
                      </a:r>
                    </a:p>
                  </a:txBody>
                  <a:tcPr marL="82296" marR="82296" marT="27432" marB="27432" anchor="ctr">
                    <a:solidFill>
                      <a:srgbClr val="FFFFFF"/>
                    </a:solidFill>
                  </a:tcPr>
                </a:tc>
                <a:tc>
                  <a:txBody>
                    <a:bodyPr wrap="square"/>
                    <a:lstStyle/>
                    <a:p>
                      <a:pPr algn="r"/>
                      <a:r>
                        <a:rPr sz="1200" b="0">
                          <a:solidFill>
                            <a:srgbClr val="3D7A52"/>
                          </a:solidFill>
                          <a:latin typeface="Consolas"/>
                        </a:rPr>
                        <a:t>115</a:t>
                      </a:r>
                    </a:p>
                  </a:txBody>
                  <a:tcPr marL="82296" marR="82296" marT="27432" marB="27432" anchor="ctr">
                    <a:solidFill>
                      <a:srgbClr val="FFFFFF"/>
                    </a:solidFill>
                  </a:tcPr>
                </a:tc>
                <a:tc>
                  <a:txBody>
                    <a:bodyPr wrap="square"/>
                    <a:lstStyle/>
                    <a:p>
                      <a:pPr algn="r"/>
                      <a:r>
                        <a:rPr sz="1200" b="0">
                          <a:solidFill>
                            <a:srgbClr val="A4552B"/>
                          </a:solidFill>
                          <a:latin typeface="Consolas"/>
                        </a:rPr>
                        <a:t>173</a:t>
                      </a:r>
                    </a:p>
                  </a:txBody>
                  <a:tcPr marL="82296" marR="82296" marT="27432" marB="27432" anchor="ctr">
                    <a:solidFill>
                      <a:srgbClr val="FFFFFF"/>
                    </a:solidFill>
                  </a:tcPr>
                </a:tc>
                <a:tc>
                  <a:txBody>
                    <a:bodyPr wrap="square"/>
                    <a:lstStyle/>
                    <a:p>
                      <a:pPr algn="r"/>
                      <a:r>
                        <a:rPr sz="1200" b="0">
                          <a:solidFill>
                            <a:srgbClr val="2C3C40"/>
                          </a:solidFill>
                          <a:latin typeface="Consolas"/>
                        </a:rPr>
                        <a:t>7.5e-4</a:t>
                      </a:r>
                    </a:p>
                  </a:txBody>
                  <a:tcPr marL="82296" marR="82296" marT="27432" marB="27432" anchor="ctr">
                    <a:solidFill>
                      <a:srgbClr val="FFFFFF"/>
                    </a:solidFill>
                  </a:tcPr>
                </a:tc>
                <a:tc>
                  <a:txBody>
                    <a:bodyPr wrap="square"/>
                    <a:lstStyle/>
                    <a:p>
                      <a:pPr algn="r"/>
                      <a:r>
                        <a:rPr sz="1200" b="0">
                          <a:solidFill>
                            <a:srgbClr val="2C3C40"/>
                          </a:solidFill>
                          <a:latin typeface="Consolas"/>
                        </a:rPr>
                        <a:t>0.515</a:t>
                      </a:r>
                    </a:p>
                  </a:txBody>
                  <a:tcPr marL="82296" marR="82296" marT="27432" marB="27432" anchor="ctr">
                    <a:solidFill>
                      <a:srgbClr val="FFFFFF"/>
                    </a:solidFill>
                  </a:tcPr>
                </a:tc>
              </a:tr>
            </a:tbl>
          </a:graphicData>
        </a:graphic>
      </p:graphicFrame>
      <p:sp>
        <p:nvSpPr>
          <p:cNvPr id="6" name="TextBox 5"/>
          <p:cNvSpPr txBox="1"/>
          <p:nvPr/>
        </p:nvSpPr>
        <p:spPr>
          <a:xfrm>
            <a:off x="658368" y="4315968"/>
            <a:ext cx="7772400" cy="2286000"/>
          </a:xfrm>
          <a:prstGeom prst="rect">
            <a:avLst/>
          </a:prstGeom>
          <a:noFill/>
        </p:spPr>
        <p:txBody>
          <a:bodyPr wrap="square" anchor="t" lIns="0" rIns="0" tIns="0" bIns="0">
            <a:spAutoFit/>
          </a:bodyPr>
          <a:lstStyle/>
          <a:p>
            <a:pPr algn="l">
              <a:lnSpc>
                <a:spcPct val="130000"/>
              </a:lnSpc>
              <a:spcAft>
                <a:spcPts val="1200"/>
              </a:spcAft>
            </a:pPr>
            <a:r>
              <a:rPr sz="1500" b="1" i="0">
                <a:solidFill>
                  <a:srgbClr val="0E1618"/>
                </a:solidFill>
                <a:latin typeface="Calibri"/>
              </a:rPr>
              <a:t>High invalid data on prolonged icu stay: </a:t>
            </a:r>
            <a:r>
              <a:rPr sz="1500" b="1" i="0">
                <a:solidFill>
                  <a:srgbClr val="A4552B"/>
                </a:solidFill>
                <a:latin typeface="Consolas"/>
              </a:rPr>
              <a:t>accuracy -0.0776</a:t>
            </a:r>
            <a:r>
              <a:rPr sz="1500" b="0" i="0">
                <a:solidFill>
                  <a:srgbClr val="2C3C40"/>
                </a:solidFill>
                <a:latin typeface="Calibri"/>
              </a:rPr>
              <a:t>, and yet p = 0.515 — not significant. The test is run on the </a:t>
            </a:r>
            <a:r>
              <a:rPr sz="1500" b="1" i="0">
                <a:solidFill>
                  <a:srgbClr val="2C3C40"/>
                </a:solidFill>
                <a:latin typeface="Consolas"/>
              </a:rPr>
              <a:t>1,369</a:t>
            </a:r>
            <a:r>
              <a:rPr sz="1500" b="0" i="0">
                <a:solidFill>
                  <a:srgbClr val="2C3C40"/>
                </a:solidFill>
                <a:latin typeface="Calibri"/>
              </a:rPr>
              <a:t> patients that survived. The </a:t>
            </a:r>
            <a:r>
              <a:rPr sz="1500" b="1" i="0">
                <a:solidFill>
                  <a:srgbClr val="A4552B"/>
                </a:solidFill>
                <a:latin typeface="Consolas"/>
              </a:rPr>
              <a:t>44,663</a:t>
            </a:r>
            <a:r>
              <a:rPr sz="1500" b="0" i="0">
                <a:solidFill>
                  <a:srgbClr val="2C3C40"/>
                </a:solidFill>
                <a:latin typeface="Calibri"/>
              </a:rPr>
              <a:t> it deleted cannot disagree with anything.</a:t>
            </a:r>
          </a:p>
          <a:p>
            <a:pPr algn="l">
              <a:lnSpc>
                <a:spcPct val="130000"/>
              </a:lnSpc>
              <a:spcAft>
                <a:spcPts val="0"/>
              </a:spcAft>
            </a:pPr>
            <a:r>
              <a:rPr sz="1500" b="0" i="0">
                <a:solidFill>
                  <a:srgbClr val="2C3C40"/>
                </a:solidFill>
                <a:latin typeface="Calibri"/>
              </a:rPr>
              <a:t>That is the asymmetry to remember: a record-level filter is tested only on the records it approved of. Its most consequential act — deleting </a:t>
            </a:r>
            <a:r>
              <a:rPr sz="1500" b="1" i="0">
                <a:solidFill>
                  <a:srgbClr val="A4552B"/>
                </a:solidFill>
                <a:latin typeface="Consolas"/>
              </a:rPr>
              <a:t>44,663</a:t>
            </a:r>
            <a:r>
              <a:rPr sz="1500" b="0" i="0">
                <a:solidFill>
                  <a:srgbClr val="2C3C40"/>
                </a:solidFill>
                <a:latin typeface="Calibri"/>
              </a:rPr>
              <a:t> patients — is invisible to the test, and shrinking the sample costs the test the power to notice what is left.</a:t>
            </a:r>
          </a:p>
        </p:txBody>
      </p:sp>
      <p:sp>
        <p:nvSpPr>
          <p:cNvPr id="7" name="Rectangle 6"/>
          <p:cNvSpPr/>
          <p:nvPr/>
        </p:nvSpPr>
        <p:spPr>
          <a:xfrm>
            <a:off x="8549640" y="1938528"/>
            <a:ext cx="2980944" cy="420624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87384" y="2157984"/>
            <a:ext cx="2505456" cy="3840480"/>
          </a:xfrm>
          <a:prstGeom prst="rect">
            <a:avLst/>
          </a:prstGeom>
          <a:noFill/>
        </p:spPr>
        <p:txBody>
          <a:bodyPr wrap="square" anchor="t" lIns="0" rIns="0" tIns="0" bIns="0">
            <a:spAutoFit/>
          </a:bodyPr>
          <a:lstStyle/>
          <a:p>
            <a:pPr algn="l">
              <a:lnSpc>
                <a:spcPct val="110000"/>
              </a:lnSpc>
              <a:spcAft>
                <a:spcPts val="1100"/>
              </a:spcAft>
            </a:pPr>
            <a:r>
              <a:rPr sz="1600" b="1" i="0">
                <a:solidFill>
                  <a:srgbClr val="0E1618"/>
                </a:solidFill>
                <a:latin typeface="Georgia"/>
              </a:rPr>
              <a:t>Significance tracks the
sample, not the damage</a:t>
            </a:r>
          </a:p>
          <a:p>
            <a:pPr algn="l">
              <a:lnSpc>
                <a:spcPct val="124000"/>
              </a:lnSpc>
              <a:spcAft>
                <a:spcPts val="900"/>
              </a:spcAft>
            </a:pPr>
            <a:r>
              <a:rPr sz="1200" b="1" i="0">
                <a:solidFill>
                  <a:srgbClr val="A4552B"/>
                </a:solidFill>
                <a:latin typeface="Calibri"/>
              </a:rPr>
              <a:t>• </a:t>
            </a:r>
            <a:r>
              <a:rPr sz="1200" b="0" i="0">
                <a:solidFill>
                  <a:srgbClr val="2C3C40"/>
                </a:solidFill>
                <a:latin typeface="Calibri"/>
              </a:rPr>
              <a:t>Held at one threshold, none of the seven per-vital filters is significant on either task (p from 0.17 to 1.00). They edit values without changing behaviour.</a:t>
            </a:r>
          </a:p>
          <a:p>
            <a:pPr algn="l">
              <a:lnSpc>
                <a:spcPct val="124000"/>
              </a:lnSpc>
              <a:spcAft>
                <a:spcPts val="900"/>
              </a:spcAft>
            </a:pPr>
            <a:r>
              <a:rPr sz="1200" b="1" i="0">
                <a:solidFill>
                  <a:srgbClr val="A4552B"/>
                </a:solidFill>
                <a:latin typeface="Calibri"/>
              </a:rPr>
              <a:t>• </a:t>
            </a:r>
            <a:r>
              <a:rPr sz="1200" b="0" i="0">
                <a:solidFill>
                  <a:srgbClr val="2C3C40"/>
                </a:solidFill>
                <a:latin typeface="Calibri"/>
              </a:rPr>
              <a:t>Long-missing-segment deletes 15,003 stays and reaches p = 6.9e-21 on 31,029 pairs.</a:t>
            </a:r>
          </a:p>
          <a:p>
            <a:pPr algn="l">
              <a:lnSpc>
                <a:spcPct val="124000"/>
              </a:lnSpc>
              <a:spcAft>
                <a:spcPts val="900"/>
              </a:spcAft>
            </a:pPr>
            <a:r>
              <a:rPr sz="1200" b="1" i="0">
                <a:solidFill>
                  <a:srgbClr val="A4552B"/>
                </a:solidFill>
                <a:latin typeface="Calibri"/>
              </a:rPr>
              <a:t>• </a:t>
            </a:r>
            <a:r>
              <a:rPr sz="1200" b="0" i="0">
                <a:solidFill>
                  <a:srgbClr val="2C3C40"/>
                </a:solidFill>
                <a:latin typeface="Calibri"/>
              </a:rPr>
              <a:t>High-invalid-data deletes 44,663 — three times as many — and manages only p = 7.5e-4 on 1,369 pairs.</a:t>
            </a:r>
          </a:p>
          <a:p>
            <a:pPr algn="l">
              <a:lnSpc>
                <a:spcPct val="124000"/>
              </a:lnSpc>
              <a:spcAft>
                <a:spcPts val="900"/>
              </a:spcAft>
            </a:pPr>
            <a:r>
              <a:rPr sz="1200" b="1" i="0">
                <a:solidFill>
                  <a:srgbClr val="A4552B"/>
                </a:solidFill>
                <a:latin typeface="Calibri"/>
              </a:rPr>
              <a:t>• </a:t>
            </a:r>
            <a:r>
              <a:rPr sz="1200" b="0" i="0">
                <a:solidFill>
                  <a:srgbClr val="2C3C40"/>
                </a:solidFill>
                <a:latin typeface="Calibri"/>
              </a:rPr>
              <a:t>More damage, weaker evidence. The test rewards a large intersection, and deleting records is how you lose 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THE METHOD</a:t>
            </a:r>
          </a:p>
          <a:p>
            <a:pPr algn="l">
              <a:lnSpc>
                <a:spcPct val="102000"/>
              </a:lnSpc>
              <a:spcAft>
                <a:spcPts val="0"/>
              </a:spcAft>
            </a:pPr>
            <a:r>
              <a:rPr sz="3000" b="1" i="0">
                <a:solidFill>
                  <a:srgbClr val="0E1618"/>
                </a:solidFill>
                <a:latin typeface="Georgia"/>
              </a:rPr>
              <a:t>Three questions, asked together</a:t>
            </a:r>
          </a:p>
        </p:txBody>
      </p:sp>
      <p:sp>
        <p:nvSpPr>
          <p:cNvPr id="3" name="TextBox 2"/>
          <p:cNvSpPr txBox="1"/>
          <p:nvPr/>
        </p:nvSpPr>
        <p:spPr>
          <a:xfrm>
            <a:off x="658368" y="1389888"/>
            <a:ext cx="10874959" cy="457200"/>
          </a:xfrm>
          <a:prstGeom prst="rect">
            <a:avLst/>
          </a:prstGeom>
          <a:noFill/>
        </p:spPr>
        <p:txBody>
          <a:bodyPr wrap="square" anchor="t" lIns="0" rIns="0" tIns="0" bIns="0">
            <a:spAutoFit/>
          </a:bodyPr>
          <a:lstStyle/>
          <a:p>
            <a:pPr algn="l">
              <a:lnSpc>
                <a:spcPct val="124000"/>
              </a:lnSpc>
              <a:spcAft>
                <a:spcPts val="0"/>
              </a:spcAft>
            </a:pPr>
            <a:r>
              <a:rPr sz="1500" b="0" i="0">
                <a:solidFill>
                  <a:srgbClr val="61767A"/>
                </a:solidFill>
                <a:latin typeface="Calibri"/>
              </a:rPr>
              <a:t>No single one of these separates cleaning from distortion. Read side by side, they do.</a:t>
            </a:r>
          </a:p>
        </p:txBody>
      </p:sp>
      <p:sp>
        <p:nvSpPr>
          <p:cNvPr id="4" name="Rectangle 3"/>
          <p:cNvSpPr/>
          <p:nvPr/>
        </p:nvSpPr>
        <p:spPr>
          <a:xfrm>
            <a:off x="658368" y="1682496"/>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938528"/>
          <a:ext cx="10874957" cy="2359152"/>
        </p:xfrm>
        <a:graphic>
          <a:graphicData uri="http://schemas.openxmlformats.org/drawingml/2006/table">
            <a:tbl>
              <a:tblPr firstRow="1">
                <a:tableStyleId>{5C22544A-7EE6-4342-B048-85BDC9FD1C3A}</a:tableStyleId>
              </a:tblPr>
              <a:tblGrid>
                <a:gridCol w="1699212"/>
                <a:gridCol w="2945301"/>
                <a:gridCol w="2832020"/>
                <a:gridCol w="3398424"/>
              </a:tblGrid>
              <a:tr h="786384">
                <a:tc>
                  <a:txBody>
                    <a:bodyPr wrap="square"/>
                    <a:lstStyle/>
                    <a:p>
                      <a:pPr algn="l"/>
                      <a:r>
                        <a:rPr sz="1200" b="1">
                          <a:solidFill>
                            <a:srgbClr val="61767A"/>
                          </a:solidFill>
                          <a:latin typeface="Calibri"/>
                        </a:rPr>
                        <a:t/>
                      </a:r>
                    </a:p>
                  </a:txBody>
                  <a:tcPr marL="82296" marR="82296" marT="27432" marB="27432" anchor="ctr">
                    <a:solidFill>
                      <a:srgbClr val="E4EAEA"/>
                    </a:solidFill>
                  </a:tcPr>
                </a:tc>
                <a:tc>
                  <a:txBody>
                    <a:bodyPr wrap="square"/>
                    <a:lstStyle/>
                    <a:p>
                      <a:pPr algn="l"/>
                      <a:r>
                        <a:rPr sz="1200" b="1">
                          <a:solidFill>
                            <a:srgbClr val="61767A"/>
                          </a:solidFill>
                          <a:latin typeface="Calibri"/>
                        </a:rPr>
                        <a:t>Centroid shift</a:t>
                      </a:r>
                    </a:p>
                  </a:txBody>
                  <a:tcPr marL="82296" marR="82296" marT="27432" marB="27432" anchor="ctr">
                    <a:solidFill>
                      <a:srgbClr val="E4EAEA"/>
                    </a:solidFill>
                  </a:tcPr>
                </a:tc>
                <a:tc>
                  <a:txBody>
                    <a:bodyPr wrap="square"/>
                    <a:lstStyle/>
                    <a:p>
                      <a:pPr algn="l"/>
                      <a:r>
                        <a:rPr sz="1200" b="1">
                          <a:solidFill>
                            <a:srgbClr val="61767A"/>
                          </a:solidFill>
                          <a:latin typeface="Calibri"/>
                        </a:rPr>
                        <a:t>McNemar</a:t>
                      </a:r>
                    </a:p>
                  </a:txBody>
                  <a:tcPr marL="82296" marR="82296" marT="27432" marB="27432" anchor="ctr">
                    <a:solidFill>
                      <a:srgbClr val="E4EAEA"/>
                    </a:solidFill>
                  </a:tcPr>
                </a:tc>
                <a:tc>
                  <a:txBody>
                    <a:bodyPr wrap="square"/>
                    <a:lstStyle/>
                    <a:p>
                      <a:pPr algn="l"/>
                      <a:r>
                        <a:rPr sz="1200" b="1">
                          <a:solidFill>
                            <a:srgbClr val="61767A"/>
                          </a:solidFill>
                          <a:latin typeface="Calibri"/>
                        </a:rPr>
                        <a:t>Record accounting</a:t>
                      </a:r>
                    </a:p>
                  </a:txBody>
                  <a:tcPr marL="82296" marR="82296" marT="27432" marB="27432" anchor="ctr">
                    <a:solidFill>
                      <a:srgbClr val="E4EAEA"/>
                    </a:solidFill>
                  </a:tcPr>
                </a:tc>
              </a:tr>
              <a:tr h="786384">
                <a:tc>
                  <a:txBody>
                    <a:bodyPr wrap="square"/>
                    <a:lstStyle/>
                    <a:p>
                      <a:pPr algn="l"/>
                      <a:r>
                        <a:rPr sz="1200" b="1">
                          <a:solidFill>
                            <a:srgbClr val="0D6B6B"/>
                          </a:solidFill>
                          <a:latin typeface="Calibri"/>
                        </a:rPr>
                        <a:t>all vitals</a:t>
                      </a:r>
                    </a:p>
                  </a:txBody>
                  <a:tcPr marL="82296" marR="82296" marT="27432" marB="27432" anchor="ctr">
                    <a:solidFill>
                      <a:srgbClr val="FFFFFF"/>
                    </a:solidFill>
                  </a:tcPr>
                </a:tc>
                <a:tc>
                  <a:txBody>
                    <a:bodyPr wrap="square"/>
                    <a:lstStyle/>
                    <a:p>
                      <a:pPr algn="l"/>
                      <a:r>
                        <a:rPr sz="1200" b="0">
                          <a:solidFill>
                            <a:srgbClr val="2C3C40"/>
                          </a:solidFill>
                          <a:latin typeface="Calibri"/>
                        </a:rPr>
                        <a:t>moves; the one class-differential shift (heart rate) traces to removing extreme outliers</a:t>
                      </a:r>
                    </a:p>
                  </a:txBody>
                  <a:tcPr marL="82296" marR="82296" marT="27432" marB="27432" anchor="ctr">
                    <a:solidFill>
                      <a:srgbClr val="FFFFFF"/>
                    </a:solidFill>
                  </a:tcPr>
                </a:tc>
                <a:tc>
                  <a:txBody>
                    <a:bodyPr wrap="square"/>
                    <a:lstStyle/>
                    <a:p>
                      <a:pPr algn="l"/>
                      <a:r>
                        <a:rPr sz="1200" b="0">
                          <a:solidFill>
                            <a:srgbClr val="2C3C40"/>
                          </a:solidFill>
                          <a:latin typeface="Calibri"/>
                        </a:rPr>
                        <a:t>p = 0.676, on all 46,032 stays — not significant</a:t>
                      </a:r>
                    </a:p>
                  </a:txBody>
                  <a:tcPr marL="82296" marR="82296" marT="27432" marB="27432" anchor="ctr">
                    <a:solidFill>
                      <a:srgbClr val="FFFFFF"/>
                    </a:solidFill>
                  </a:tcPr>
                </a:tc>
                <a:tc>
                  <a:txBody>
                    <a:bodyPr wrap="square"/>
                    <a:lstStyle/>
                    <a:p>
                      <a:pPr algn="l"/>
                      <a:r>
                        <a:rPr sz="1200" b="0">
                          <a:solidFill>
                            <a:srgbClr val="0D6B6B"/>
                          </a:solidFill>
                          <a:latin typeface="Calibri"/>
                        </a:rPr>
                        <a:t>0 records removed; 21,930 readings edited</a:t>
                      </a:r>
                    </a:p>
                  </a:txBody>
                  <a:tcPr marL="82296" marR="82296" marT="27432" marB="27432" anchor="ctr">
                    <a:solidFill>
                      <a:srgbClr val="FFFFFF"/>
                    </a:solidFill>
                  </a:tcPr>
                </a:tc>
              </a:tr>
              <a:tr h="786384">
                <a:tc>
                  <a:txBody>
                    <a:bodyPr wrap="square"/>
                    <a:lstStyle/>
                    <a:p>
                      <a:pPr algn="l"/>
                      <a:r>
                        <a:rPr sz="1200" b="1">
                          <a:solidFill>
                            <a:srgbClr val="A4552B"/>
                          </a:solidFill>
                          <a:latin typeface="Calibri"/>
                        </a:rPr>
                        <a:t>high invalid data</a:t>
                      </a:r>
                    </a:p>
                  </a:txBody>
                  <a:tcPr marL="82296" marR="82296" marT="27432" marB="27432" anchor="ctr">
                    <a:solidFill>
                      <a:srgbClr val="FFFFFF"/>
                    </a:solidFill>
                  </a:tcPr>
                </a:tc>
                <a:tc>
                  <a:txBody>
                    <a:bodyPr wrap="square"/>
                    <a:lstStyle/>
                    <a:p>
                      <a:pPr algn="l"/>
                      <a:r>
                        <a:rPr sz="1200" b="0">
                          <a:solidFill>
                            <a:srgbClr val="2C3C40"/>
                          </a:solidFill>
                          <a:latin typeface="Calibri"/>
                        </a:rPr>
                        <a:t>large, and opposite in sign between the mortality classes</a:t>
                      </a:r>
                    </a:p>
                  </a:txBody>
                  <a:tcPr marL="82296" marR="82296" marT="27432" marB="27432" anchor="ctr">
                    <a:solidFill>
                      <a:srgbClr val="FFFFFF"/>
                    </a:solidFill>
                  </a:tcPr>
                </a:tc>
                <a:tc>
                  <a:txBody>
                    <a:bodyPr wrap="square"/>
                    <a:lstStyle/>
                    <a:p>
                      <a:pPr algn="l"/>
                      <a:r>
                        <a:rPr sz="1200" b="0">
                          <a:solidFill>
                            <a:srgbClr val="2C3C40"/>
                          </a:solidFill>
                          <a:latin typeface="Calibri"/>
                        </a:rPr>
                        <a:t>p = 7.5e-4, but on only 1,369 stays</a:t>
                      </a:r>
                    </a:p>
                  </a:txBody>
                  <a:tcPr marL="82296" marR="82296" marT="27432" marB="27432" anchor="ctr">
                    <a:solidFill>
                      <a:srgbClr val="FFFFFF"/>
                    </a:solidFill>
                  </a:tcPr>
                </a:tc>
                <a:tc>
                  <a:txBody>
                    <a:bodyPr wrap="square"/>
                    <a:lstStyle/>
                    <a:p>
                      <a:pPr algn="l"/>
                      <a:r>
                        <a:rPr sz="1200" b="0">
                          <a:solidFill>
                            <a:srgbClr val="A4552B"/>
                          </a:solidFill>
                          <a:latin typeface="Calibri"/>
                        </a:rPr>
                        <a:t>44,663 records removed; prevalence 38% → 61%</a:t>
                      </a:r>
                    </a:p>
                  </a:txBody>
                  <a:tcPr marL="82296" marR="82296" marT="27432" marB="27432" anchor="ctr">
                    <a:solidFill>
                      <a:srgbClr val="FFFFFF"/>
                    </a:solidFill>
                  </a:tcPr>
                </a:tc>
              </a:tr>
            </a:tbl>
          </a:graphicData>
        </a:graphic>
      </p:graphicFrame>
      <p:sp>
        <p:nvSpPr>
          <p:cNvPr id="6" name="TextBox 5"/>
          <p:cNvSpPr txBox="1"/>
          <p:nvPr/>
        </p:nvSpPr>
        <p:spPr>
          <a:xfrm>
            <a:off x="658368" y="4443984"/>
            <a:ext cx="10874959" cy="2011680"/>
          </a:xfrm>
          <a:prstGeom prst="rect">
            <a:avLst/>
          </a:prstGeom>
          <a:noFill/>
        </p:spPr>
        <p:txBody>
          <a:bodyPr wrap="square" anchor="t" lIns="0" rIns="0" tIns="0" bIns="0">
            <a:spAutoFit/>
          </a:bodyPr>
          <a:lstStyle/>
          <a:p>
            <a:pPr algn="l">
              <a:lnSpc>
                <a:spcPct val="130000"/>
              </a:lnSpc>
              <a:spcAft>
                <a:spcPts val="1200"/>
              </a:spcAft>
            </a:pPr>
            <a:r>
              <a:rPr sz="1500" b="0" i="0">
                <a:solidFill>
                  <a:srgbClr val="2C3C40"/>
                </a:solidFill>
                <a:latin typeface="Calibri"/>
              </a:rPr>
              <a:t>The first row is what artifact removal looks like: a distribution shift you can explain physiologically, no significant change in prediction pattern (p = 0.676), and a cohort that is untouched.</a:t>
            </a:r>
          </a:p>
          <a:p>
            <a:pPr algn="l">
              <a:lnSpc>
                <a:spcPct val="130000"/>
              </a:lnSpc>
              <a:spcAft>
                <a:spcPts val="1200"/>
              </a:spcAft>
            </a:pPr>
            <a:r>
              <a:rPr sz="1500" b="0" i="0">
                <a:solidFill>
                  <a:srgbClr val="2C3C40"/>
                </a:solidFill>
                <a:latin typeface="Calibri"/>
              </a:rPr>
              <a:t>The second row is what problem-alteration looks like: a class-dependent shift, a p-value computed on 3% of the data, and a cohort whose base rate has moved by tens of points.</a:t>
            </a:r>
          </a:p>
          <a:p>
            <a:pPr algn="l">
              <a:lnSpc>
                <a:spcPct val="130000"/>
              </a:lnSpc>
              <a:spcAft>
                <a:spcPts val="0"/>
              </a:spcAft>
            </a:pPr>
            <a:r>
              <a:rPr sz="1500" b="1" i="0">
                <a:solidFill>
                  <a:srgbClr val="0E1618"/>
                </a:solidFill>
                <a:latin typeface="Calibri"/>
              </a:rPr>
              <a:t>The paper published the first two columns. The third is free — it is a call to </a:t>
            </a:r>
            <a:r>
              <a:rPr sz="1500" b="1" i="0">
                <a:solidFill>
                  <a:srgbClr val="0E1618"/>
                </a:solidFill>
                <a:latin typeface="Consolas"/>
              </a:rPr>
              <a:t>len()</a:t>
            </a:r>
            <a:r>
              <a:rPr sz="1500" b="1" i="0">
                <a:solidFill>
                  <a:srgbClr val="0E1618"/>
                </a:solidFill>
                <a:latin typeface="Calibri"/>
              </a:rPr>
              <a:t> — and it is the one that explains the other two.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TextBox 1"/>
          <p:cNvSpPr txBox="1"/>
          <p:nvPr/>
        </p:nvSpPr>
        <p:spPr>
          <a:xfrm>
            <a:off x="658368" y="384048"/>
            <a:ext cx="10874959" cy="822960"/>
          </a:xfrm>
          <a:prstGeom prst="rect">
            <a:avLst/>
          </a:prstGeom>
          <a:noFill/>
        </p:spPr>
        <p:txBody>
          <a:bodyPr wrap="square" anchor="t" lIns="0" rIns="0" tIns="0" bIns="0">
            <a:spAutoFit/>
          </a:bodyPr>
          <a:lstStyle/>
          <a:p>
            <a:pPr algn="l">
              <a:lnSpc>
                <a:spcPct val="124000"/>
              </a:lnSpc>
              <a:spcAft>
                <a:spcPts val="500"/>
              </a:spcAft>
            </a:pPr>
            <a:r>
              <a:rPr sz="1050" b="0" i="0">
                <a:solidFill>
                  <a:srgbClr val="61767A"/>
                </a:solidFill>
                <a:latin typeface="Consolas"/>
              </a:rPr>
              <a:t>IMPLICATIONS</a:t>
            </a:r>
          </a:p>
          <a:p>
            <a:pPr algn="l">
              <a:lnSpc>
                <a:spcPct val="102000"/>
              </a:lnSpc>
              <a:spcAft>
                <a:spcPts val="0"/>
              </a:spcAft>
            </a:pPr>
            <a:r>
              <a:rPr sz="3000" b="1" i="0">
                <a:solidFill>
                  <a:srgbClr val="0E1618"/>
                </a:solidFill>
                <a:latin typeface="Georgia"/>
              </a:rPr>
              <a:t>What this means if you are comparing models</a:t>
            </a:r>
          </a:p>
        </p:txBody>
      </p:sp>
      <p:sp>
        <p:nvSpPr>
          <p:cNvPr id="3" name="Rectangle 2"/>
          <p:cNvSpPr/>
          <p:nvPr/>
        </p:nvSpPr>
        <p:spPr>
          <a:xfrm>
            <a:off x="658368" y="1243584"/>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36192"/>
            <a:ext cx="5309463" cy="278892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536192"/>
            <a:ext cx="5309463" cy="38100"/>
          </a:xfrm>
          <a:prstGeom prst="rect">
            <a:avLst/>
          </a:prstGeom>
          <a:solidFill>
            <a:srgbClr val="0D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92224"/>
            <a:ext cx="4797399" cy="2468880"/>
          </a:xfrm>
          <a:prstGeom prst="rect">
            <a:avLst/>
          </a:prstGeom>
          <a:noFill/>
        </p:spPr>
        <p:txBody>
          <a:bodyPr wrap="square" anchor="t" lIns="0" rIns="0" tIns="0" bIns="0">
            <a:spAutoFit/>
          </a:bodyPr>
          <a:lstStyle/>
          <a:p>
            <a:pPr algn="l">
              <a:lnSpc>
                <a:spcPct val="108000"/>
              </a:lnSpc>
              <a:spcAft>
                <a:spcPts val="1100"/>
              </a:spcAft>
            </a:pPr>
            <a:r>
              <a:rPr sz="1800" b="1" i="0">
                <a:solidFill>
                  <a:srgbClr val="0E1618"/>
                </a:solidFill>
                <a:latin typeface="Georgia"/>
              </a:rPr>
              <a:t>For algorithm comparison</a:t>
            </a:r>
          </a:p>
          <a:p>
            <a:pPr algn="l">
              <a:lnSpc>
                <a:spcPct val="128000"/>
              </a:lnSpc>
              <a:spcAft>
                <a:spcPts val="800"/>
              </a:spcAft>
            </a:pPr>
            <a:r>
              <a:rPr sz="1350" b="1" i="0">
                <a:solidFill>
                  <a:srgbClr val="0D6B6B"/>
                </a:solidFill>
                <a:latin typeface="Calibri"/>
              </a:rPr>
              <a:t>• </a:t>
            </a:r>
            <a:r>
              <a:rPr sz="1350" b="0" i="0">
                <a:solidFill>
                  <a:srgbClr val="2C3C40"/>
                </a:solidFill>
                <a:latin typeface="Calibri"/>
              </a:rPr>
              <a:t>Two studies with different filters may be solving problems of different difficulty on the same database.</a:t>
            </a:r>
          </a:p>
          <a:p>
            <a:pPr algn="l">
              <a:lnSpc>
                <a:spcPct val="128000"/>
              </a:lnSpc>
              <a:spcAft>
                <a:spcPts val="800"/>
              </a:spcAft>
            </a:pPr>
            <a:r>
              <a:rPr sz="1350" b="1" i="0">
                <a:solidFill>
                  <a:srgbClr val="0D6B6B"/>
                </a:solidFill>
                <a:latin typeface="Calibri"/>
              </a:rPr>
              <a:t>• </a:t>
            </a:r>
            <a:r>
              <a:rPr sz="1350" b="0" i="0">
                <a:solidFill>
                  <a:srgbClr val="2C3C40"/>
                </a:solidFill>
                <a:latin typeface="Calibri"/>
              </a:rPr>
              <a:t>A reported gap can be preprocessing rather than model quality.</a:t>
            </a:r>
          </a:p>
          <a:p>
            <a:pPr algn="l">
              <a:lnSpc>
                <a:spcPct val="128000"/>
              </a:lnSpc>
              <a:spcAft>
                <a:spcPts val="800"/>
              </a:spcAft>
            </a:pPr>
            <a:r>
              <a:rPr sz="1350" b="1" i="0">
                <a:solidFill>
                  <a:srgbClr val="0D6B6B"/>
                </a:solidFill>
                <a:latin typeface="Calibri"/>
              </a:rPr>
              <a:t>• </a:t>
            </a:r>
            <a:r>
              <a:rPr sz="1350" b="0" i="0">
                <a:solidFill>
                  <a:srgbClr val="2C3C40"/>
                </a:solidFill>
                <a:latin typeface="Calibri"/>
              </a:rPr>
              <a:t>Filtering choices belong in the comparison, not just the model card.</a:t>
            </a:r>
          </a:p>
        </p:txBody>
      </p:sp>
      <p:sp>
        <p:nvSpPr>
          <p:cNvPr id="7" name="Rectangle 6"/>
          <p:cNvSpPr/>
          <p:nvPr/>
        </p:nvSpPr>
        <p:spPr>
          <a:xfrm>
            <a:off x="6223863" y="1536192"/>
            <a:ext cx="5309463" cy="2788920"/>
          </a:xfrm>
          <a:prstGeom prst="rect">
            <a:avLst/>
          </a:prstGeom>
          <a:solidFill>
            <a:srgbClr val="FFFFFF"/>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23863" y="1536192"/>
            <a:ext cx="5309463" cy="38100"/>
          </a:xfrm>
          <a:prstGeom prst="rect">
            <a:avLst/>
          </a:prstGeom>
          <a:solidFill>
            <a:srgbClr val="A45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9895" y="1792224"/>
            <a:ext cx="4797399" cy="2468880"/>
          </a:xfrm>
          <a:prstGeom prst="rect">
            <a:avLst/>
          </a:prstGeom>
          <a:noFill/>
        </p:spPr>
        <p:txBody>
          <a:bodyPr wrap="square" anchor="t" lIns="0" rIns="0" tIns="0" bIns="0">
            <a:spAutoFit/>
          </a:bodyPr>
          <a:lstStyle/>
          <a:p>
            <a:pPr algn="l">
              <a:lnSpc>
                <a:spcPct val="108000"/>
              </a:lnSpc>
              <a:spcAft>
                <a:spcPts val="1100"/>
              </a:spcAft>
            </a:pPr>
            <a:r>
              <a:rPr sz="1800" b="1" i="0">
                <a:solidFill>
                  <a:srgbClr val="0E1618"/>
                </a:solidFill>
                <a:latin typeface="Georgia"/>
              </a:rPr>
              <a:t>For clinical usefulness</a:t>
            </a:r>
          </a:p>
          <a:p>
            <a:pPr algn="l">
              <a:lnSpc>
                <a:spcPct val="128000"/>
              </a:lnSpc>
              <a:spcAft>
                <a:spcPts val="800"/>
              </a:spcAft>
            </a:pPr>
            <a:r>
              <a:rPr sz="1350" b="1" i="0">
                <a:solidFill>
                  <a:srgbClr val="A4552B"/>
                </a:solidFill>
                <a:latin typeface="Calibri"/>
              </a:rPr>
              <a:t>• </a:t>
            </a:r>
            <a:r>
              <a:rPr sz="1350" b="0" i="0">
                <a:solidFill>
                  <a:srgbClr val="2C3C40"/>
                </a:solidFill>
                <a:latin typeface="Calibri"/>
              </a:rPr>
              <a:t>Missingness in an EHR is informative — absence reflects clinical decisions and patient acuity.</a:t>
            </a:r>
          </a:p>
          <a:p>
            <a:pPr algn="l">
              <a:lnSpc>
                <a:spcPct val="128000"/>
              </a:lnSpc>
              <a:spcAft>
                <a:spcPts val="800"/>
              </a:spcAft>
            </a:pPr>
            <a:r>
              <a:rPr sz="1350" b="1" i="0">
                <a:solidFill>
                  <a:srgbClr val="A4552B"/>
                </a:solidFill>
                <a:latin typeface="Calibri"/>
              </a:rPr>
              <a:t>• </a:t>
            </a:r>
            <a:r>
              <a:rPr sz="1350" b="0" i="0">
                <a:solidFill>
                  <a:srgbClr val="2C3C40"/>
                </a:solidFill>
                <a:latin typeface="Calibri"/>
              </a:rPr>
              <a:t>Complete-case filtering therefore selects on acuity, and quietly excludes intermittently monitored patients.</a:t>
            </a:r>
          </a:p>
          <a:p>
            <a:pPr algn="l">
              <a:lnSpc>
                <a:spcPct val="128000"/>
              </a:lnSpc>
              <a:spcAft>
                <a:spcPts val="800"/>
              </a:spcAft>
            </a:pPr>
            <a:r>
              <a:rPr sz="1350" b="1" i="0">
                <a:solidFill>
                  <a:srgbClr val="A4552B"/>
                </a:solidFill>
                <a:latin typeface="Calibri"/>
              </a:rPr>
              <a:t>• </a:t>
            </a:r>
            <a:r>
              <a:rPr sz="1350" b="0" i="0">
                <a:solidFill>
                  <a:srgbClr val="2C3C40"/>
                </a:solidFill>
                <a:latin typeface="Calibri"/>
              </a:rPr>
              <a:t>High benchmark numbers on a heavily filtered cohort do not imply readiness on the ward.</a:t>
            </a:r>
          </a:p>
        </p:txBody>
      </p:sp>
      <p:sp>
        <p:nvSpPr>
          <p:cNvPr id="10" name="Rectangle 9"/>
          <p:cNvSpPr/>
          <p:nvPr/>
        </p:nvSpPr>
        <p:spPr>
          <a:xfrm>
            <a:off x="658368" y="4754880"/>
            <a:ext cx="10874959" cy="1234440"/>
          </a:xfrm>
          <a:prstGeom prst="rect">
            <a:avLst/>
          </a:prstGeom>
          <a:solidFill>
            <a:srgbClr val="E4EAEA"/>
          </a:solidFill>
          <a:ln w="9525">
            <a:solidFill>
              <a:srgbClr val="CDD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956048"/>
            <a:ext cx="10424160" cy="914400"/>
          </a:xfrm>
          <a:prstGeom prst="rect">
            <a:avLst/>
          </a:prstGeom>
          <a:noFill/>
        </p:spPr>
        <p:txBody>
          <a:bodyPr wrap="square" anchor="t" lIns="0" rIns="0" tIns="0" bIns="0">
            <a:spAutoFit/>
          </a:bodyPr>
          <a:lstStyle/>
          <a:p>
            <a:pPr algn="l">
              <a:lnSpc>
                <a:spcPct val="130000"/>
              </a:lnSpc>
              <a:spcAft>
                <a:spcPts val="0"/>
              </a:spcAft>
            </a:pPr>
            <a:r>
              <a:rPr sz="1600" b="1" i="0">
                <a:solidFill>
                  <a:srgbClr val="0E1618"/>
                </a:solidFill>
                <a:latin typeface="Calibri"/>
              </a:rPr>
              <a:t>Our recommendation: </a:t>
            </a:r>
            <a:r>
              <a:rPr sz="1600" b="0" i="0">
                <a:solidFill>
                  <a:srgbClr val="2C3C40"/>
                </a:solidFill>
                <a:latin typeface="Calibri"/>
              </a:rPr>
              <a:t>prefer filters justified by physiology over filters justified by tidiness, and report the cohort you were left with as carefully as you report the metric you got on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F2F2"/>
        </a:solidFill>
        <a:effectLst/>
      </p:bgPr>
    </p:bg>
    <p:spTree>
      <p:nvGrpSpPr>
        <p:cNvPr id="1" name=""/>
        <p:cNvGrpSpPr/>
        <p:nvPr/>
      </p:nvGrpSpPr>
      <p:grpSpPr/>
      <p:sp>
        <p:nvSpPr>
          <p:cNvPr id="2" name="Rectangle 1"/>
          <p:cNvSpPr/>
          <p:nvPr/>
        </p:nvSpPr>
        <p:spPr>
          <a:xfrm>
            <a:off x="658368" y="960120"/>
            <a:ext cx="1371600" cy="38100"/>
          </a:xfrm>
          <a:prstGeom prst="rect">
            <a:avLst/>
          </a:prstGeom>
          <a:solidFill>
            <a:srgbClr val="0D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234440"/>
            <a:ext cx="10058400" cy="822960"/>
          </a:xfrm>
          <a:prstGeom prst="rect">
            <a:avLst/>
          </a:prstGeom>
          <a:noFill/>
        </p:spPr>
        <p:txBody>
          <a:bodyPr wrap="square" anchor="t" lIns="0" rIns="0" tIns="0" bIns="0">
            <a:spAutoFit/>
          </a:bodyPr>
          <a:lstStyle/>
          <a:p>
            <a:pPr algn="l">
              <a:lnSpc>
                <a:spcPct val="102000"/>
              </a:lnSpc>
              <a:spcAft>
                <a:spcPts val="0"/>
              </a:spcAft>
            </a:pPr>
            <a:r>
              <a:rPr sz="3400" b="1" i="0">
                <a:solidFill>
                  <a:srgbClr val="0E1618"/>
                </a:solidFill>
                <a:latin typeface="Georgia"/>
              </a:rPr>
              <a:t>Three things to take away</a:t>
            </a:r>
          </a:p>
        </p:txBody>
      </p:sp>
      <p:sp>
        <p:nvSpPr>
          <p:cNvPr id="4" name="TextBox 3"/>
          <p:cNvSpPr txBox="1"/>
          <p:nvPr/>
        </p:nvSpPr>
        <p:spPr>
          <a:xfrm>
            <a:off x="658368" y="2331720"/>
            <a:ext cx="10607040" cy="1097280"/>
          </a:xfrm>
          <a:prstGeom prst="rect">
            <a:avLst/>
          </a:prstGeom>
          <a:noFill/>
        </p:spPr>
        <p:txBody>
          <a:bodyPr wrap="square" anchor="t" lIns="0" rIns="0" tIns="0" bIns="0">
            <a:spAutoFit/>
          </a:bodyPr>
          <a:lstStyle/>
          <a:p>
            <a:pPr algn="l">
              <a:lnSpc>
                <a:spcPct val="105000"/>
              </a:lnSpc>
              <a:spcAft>
                <a:spcPts val="600"/>
              </a:spcAft>
            </a:pPr>
            <a:r>
              <a:rPr sz="2100" b="1" i="0">
                <a:solidFill>
                  <a:srgbClr val="0D6B6B"/>
                </a:solidFill>
                <a:latin typeface="Consolas"/>
              </a:rPr>
              <a:t>1   </a:t>
            </a:r>
            <a:r>
              <a:rPr sz="2100" b="1" i="0">
                <a:solidFill>
                  <a:srgbClr val="0E1618"/>
                </a:solidFill>
                <a:latin typeface="Georgia"/>
              </a:rPr>
              <a:t>Filtering is a modelling choice.</a:t>
            </a:r>
          </a:p>
          <a:p>
            <a:pPr algn="l">
              <a:lnSpc>
                <a:spcPct val="128000"/>
              </a:lnSpc>
              <a:spcAft>
                <a:spcPts val="0"/>
              </a:spcAft>
            </a:pPr>
            <a:r>
              <a:rPr sz="1450" b="0" i="0">
                <a:solidFill>
                  <a:srgbClr val="2C3C40"/>
                </a:solidFill>
                <a:latin typeface="Calibri"/>
              </a:rPr>
              <a:t>      It changes the distribution, the difficulty, and — as we saw — the population. Treat it as part of the method, not as housekeeping.</a:t>
            </a:r>
          </a:p>
        </p:txBody>
      </p:sp>
      <p:sp>
        <p:nvSpPr>
          <p:cNvPr id="5" name="TextBox 4"/>
          <p:cNvSpPr txBox="1"/>
          <p:nvPr/>
        </p:nvSpPr>
        <p:spPr>
          <a:xfrm>
            <a:off x="658368" y="3520440"/>
            <a:ext cx="10607040" cy="1097280"/>
          </a:xfrm>
          <a:prstGeom prst="rect">
            <a:avLst/>
          </a:prstGeom>
          <a:noFill/>
        </p:spPr>
        <p:txBody>
          <a:bodyPr wrap="square" anchor="t" lIns="0" rIns="0" tIns="0" bIns="0">
            <a:spAutoFit/>
          </a:bodyPr>
          <a:lstStyle/>
          <a:p>
            <a:pPr algn="l">
              <a:lnSpc>
                <a:spcPct val="105000"/>
              </a:lnSpc>
              <a:spcAft>
                <a:spcPts val="600"/>
              </a:spcAft>
            </a:pPr>
            <a:r>
              <a:rPr sz="2100" b="1" i="0">
                <a:solidFill>
                  <a:srgbClr val="0D6B6B"/>
                </a:solidFill>
                <a:latin typeface="Consolas"/>
              </a:rPr>
              <a:t>2   </a:t>
            </a:r>
            <a:r>
              <a:rPr sz="2100" b="1" i="0">
                <a:solidFill>
                  <a:srgbClr val="0E1618"/>
                </a:solidFill>
                <a:latin typeface="Georgia"/>
              </a:rPr>
              <a:t>Level matters more than threshold.</a:t>
            </a:r>
          </a:p>
          <a:p>
            <a:pPr algn="l">
              <a:lnSpc>
                <a:spcPct val="128000"/>
              </a:lnSpc>
              <a:spcAft>
                <a:spcPts val="0"/>
              </a:spcAft>
            </a:pPr>
            <a:r>
              <a:rPr sz="1450" b="0" i="0">
                <a:solidFill>
                  <a:srgbClr val="2C3C40"/>
                </a:solidFill>
                <a:latin typeface="Calibri"/>
              </a:rPr>
              <a:t>      The seven value-level filters edited 0.33% of readings and removed no patients. One record-level filter removed 44,663 of 46,032.</a:t>
            </a:r>
          </a:p>
        </p:txBody>
      </p:sp>
      <p:sp>
        <p:nvSpPr>
          <p:cNvPr id="6" name="TextBox 5"/>
          <p:cNvSpPr txBox="1"/>
          <p:nvPr/>
        </p:nvSpPr>
        <p:spPr>
          <a:xfrm>
            <a:off x="658368" y="4709160"/>
            <a:ext cx="10607040" cy="1097280"/>
          </a:xfrm>
          <a:prstGeom prst="rect">
            <a:avLst/>
          </a:prstGeom>
          <a:noFill/>
        </p:spPr>
        <p:txBody>
          <a:bodyPr wrap="square" anchor="t" lIns="0" rIns="0" tIns="0" bIns="0">
            <a:spAutoFit/>
          </a:bodyPr>
          <a:lstStyle/>
          <a:p>
            <a:pPr algn="l">
              <a:lnSpc>
                <a:spcPct val="105000"/>
              </a:lnSpc>
              <a:spcAft>
                <a:spcPts val="600"/>
              </a:spcAft>
            </a:pPr>
            <a:r>
              <a:rPr sz="2100" b="1" i="0">
                <a:solidFill>
                  <a:srgbClr val="0D6B6B"/>
                </a:solidFill>
                <a:latin typeface="Consolas"/>
              </a:rPr>
              <a:t>3   </a:t>
            </a:r>
            <a:r>
              <a:rPr sz="2100" b="1" i="0">
                <a:solidFill>
                  <a:srgbClr val="0E1618"/>
                </a:solidFill>
                <a:latin typeface="Georgia"/>
              </a:rPr>
              <a:t>Count what you removed.</a:t>
            </a:r>
          </a:p>
          <a:p>
            <a:pPr algn="l">
              <a:lnSpc>
                <a:spcPct val="128000"/>
              </a:lnSpc>
              <a:spcAft>
                <a:spcPts val="0"/>
              </a:spcAft>
            </a:pPr>
            <a:r>
              <a:rPr sz="1450" b="0" i="0">
                <a:solidFill>
                  <a:srgbClr val="2C3C40"/>
                </a:solidFill>
                <a:latin typeface="Calibri"/>
              </a:rPr>
              <a:t>      Report the surviving n and its class prevalence beside every metric. It costs nothing, and it explains results that the distribution and significance diagnostics leave mysterious.</a:t>
            </a:r>
          </a:p>
        </p:txBody>
      </p:sp>
      <p:sp>
        <p:nvSpPr>
          <p:cNvPr id="7" name="Rectangle 6"/>
          <p:cNvSpPr/>
          <p:nvPr/>
        </p:nvSpPr>
        <p:spPr>
          <a:xfrm>
            <a:off x="658368" y="5870448"/>
            <a:ext cx="10874959" cy="12700"/>
          </a:xfrm>
          <a:prstGeom prst="rect">
            <a:avLst/>
          </a:prstGeom>
          <a:solidFill>
            <a:srgbClr val="CDD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016752"/>
            <a:ext cx="10874959" cy="548640"/>
          </a:xfrm>
          <a:prstGeom prst="rect">
            <a:avLst/>
          </a:prstGeom>
          <a:noFill/>
        </p:spPr>
        <p:txBody>
          <a:bodyPr wrap="square" anchor="t" lIns="0" rIns="0" tIns="0" bIns="0">
            <a:spAutoFit/>
          </a:bodyPr>
          <a:lstStyle/>
          <a:p>
            <a:pPr algn="l">
              <a:lnSpc>
                <a:spcPct val="124000"/>
              </a:lnSpc>
              <a:spcAft>
                <a:spcPts val="0"/>
              </a:spcAft>
            </a:pPr>
            <a:r>
              <a:rPr sz="1350" b="0" i="0">
                <a:solidFill>
                  <a:srgbClr val="61767A"/>
                </a:solidFill>
                <a:latin typeface="Calibri"/>
              </a:rPr>
              <a:t>Toolbox, figures and every number in this talk are open source.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